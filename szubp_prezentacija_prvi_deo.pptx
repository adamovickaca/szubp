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  <p:embeddedFont>
      <p:font typeface="Courier New" charset="1" panose="02070309020205020404"/>
      <p:regular r:id="rId27"/>
    </p:embeddedFont>
    <p:embeddedFont>
      <p:font typeface="Noto Sans" charset="1" panose="020B0502040504020204"/>
      <p:regular r:id="rId28"/>
    </p:embeddedFont>
    <p:embeddedFont>
      <p:font typeface="Courier New Bold" charset="1" panose="020706090202050204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456181" cy="10413997"/>
            <a:chOff x="0" y="0"/>
            <a:chExt cx="456184" cy="1041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29184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329184">
                  <a:moveTo>
                    <a:pt x="0" y="0"/>
                  </a:moveTo>
                  <a:lnTo>
                    <a:pt x="0" y="10287000"/>
                  </a:lnTo>
                  <a:lnTo>
                    <a:pt x="329184" y="10287000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29184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329184">
                  <a:moveTo>
                    <a:pt x="0" y="10287000"/>
                  </a:moveTo>
                  <a:lnTo>
                    <a:pt x="329184" y="10287000"/>
                  </a:lnTo>
                  <a:lnTo>
                    <a:pt x="329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9457" y="6117841"/>
            <a:ext cx="8356597" cy="2778757"/>
            <a:chOff x="0" y="0"/>
            <a:chExt cx="8356600" cy="2778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2296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229600">
                  <a:moveTo>
                    <a:pt x="0" y="0"/>
                  </a:moveTo>
                  <a:lnTo>
                    <a:pt x="0" y="2651760"/>
                  </a:lnTo>
                  <a:lnTo>
                    <a:pt x="8229600" y="265176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2296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229600">
                  <a:moveTo>
                    <a:pt x="0" y="2651760"/>
                  </a:moveTo>
                  <a:lnTo>
                    <a:pt x="8229600" y="2651760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103857" y="302257"/>
            <a:ext cx="5247637" cy="7990837"/>
          </a:xfrm>
          <a:custGeom>
            <a:avLst/>
            <a:gdLst/>
            <a:ahLst/>
            <a:cxnLst/>
            <a:rect r="r" b="b" t="t" l="l"/>
            <a:pathLst>
              <a:path h="7990837" w="5247637">
                <a:moveTo>
                  <a:pt x="0" y="0"/>
                </a:moveTo>
                <a:lnTo>
                  <a:pt x="5247637" y="0"/>
                </a:lnTo>
                <a:lnTo>
                  <a:pt x="5247637" y="7990837"/>
                </a:lnTo>
                <a:lnTo>
                  <a:pt x="0" y="7990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2960" y="1449886"/>
            <a:ext cx="10422884" cy="440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9"/>
              </a:lnSpc>
            </a:pPr>
            <a:r>
              <a:rPr lang="en-US" b="true" sz="9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Buffer Pool i </a:t>
            </a:r>
            <a:r>
              <a:rPr lang="en-US" b="true" sz="99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mehanizmi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Praktično testiranje u PostgreSQL-u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720" y="6769989"/>
            <a:ext cx="6360766" cy="14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Student: 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Katarina Adamović | br. ind. 2173 </a:t>
            </a: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Predmet: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Sistemi za upravljanje bazama podataka</a:t>
            </a: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Modul: 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Bezbednost računarskih sistema</a:t>
            </a:r>
          </a:p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Mentor: 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Prof. dr Aleksandar Stanimirović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9525343"/>
            <a:ext cx="1146296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maj 2026.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1590037"/>
            <a:chOff x="0" y="0"/>
            <a:chExt cx="8630920" cy="1590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0"/>
                  </a:moveTo>
                  <a:lnTo>
                    <a:pt x="0" y="1463040"/>
                  </a:lnTo>
                  <a:lnTo>
                    <a:pt x="8503920" y="146304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1463040"/>
                  </a:moveTo>
                  <a:lnTo>
                    <a:pt x="8503920" y="1463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3697" y="3191761"/>
            <a:ext cx="8630917" cy="1590037"/>
            <a:chOff x="0" y="0"/>
            <a:chExt cx="8630920" cy="1590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0"/>
                  </a:moveTo>
                  <a:lnTo>
                    <a:pt x="0" y="1463040"/>
                  </a:lnTo>
                  <a:lnTo>
                    <a:pt x="8503920" y="146304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1463040"/>
                  </a:moveTo>
                  <a:lnTo>
                    <a:pt x="8503920" y="1463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93697" y="4892545"/>
            <a:ext cx="8630917" cy="1590037"/>
            <a:chOff x="0" y="0"/>
            <a:chExt cx="8630920" cy="1590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0"/>
                  </a:moveTo>
                  <a:lnTo>
                    <a:pt x="0" y="1463040"/>
                  </a:lnTo>
                  <a:lnTo>
                    <a:pt x="8503920" y="146304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1463040"/>
                  </a:moveTo>
                  <a:lnTo>
                    <a:pt x="8503920" y="1463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3697" y="6593329"/>
            <a:ext cx="8630917" cy="1590037"/>
            <a:chOff x="0" y="0"/>
            <a:chExt cx="8630920" cy="1590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0"/>
                  </a:moveTo>
                  <a:lnTo>
                    <a:pt x="0" y="1463040"/>
                  </a:lnTo>
                  <a:lnTo>
                    <a:pt x="8503920" y="146304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1463040"/>
                  </a:moveTo>
                  <a:lnTo>
                    <a:pt x="8503920" y="1463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3697" y="8294113"/>
            <a:ext cx="8630917" cy="1590037"/>
            <a:chOff x="0" y="0"/>
            <a:chExt cx="8630920" cy="1590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0"/>
                  </a:moveTo>
                  <a:lnTo>
                    <a:pt x="0" y="1463040"/>
                  </a:lnTo>
                  <a:lnTo>
                    <a:pt x="8503920" y="146304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850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20">
                  <a:moveTo>
                    <a:pt x="0" y="1463040"/>
                  </a:moveTo>
                  <a:lnTo>
                    <a:pt x="8503920" y="1463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09681" y="1490977"/>
            <a:ext cx="8630917" cy="1590037"/>
            <a:chOff x="0" y="0"/>
            <a:chExt cx="8630920" cy="1590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0"/>
                  </a:moveTo>
                  <a:lnTo>
                    <a:pt x="0" y="1463040"/>
                  </a:lnTo>
                  <a:lnTo>
                    <a:pt x="8503919" y="1463040"/>
                  </a:lnTo>
                  <a:lnTo>
                    <a:pt x="850391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1463040"/>
                  </a:moveTo>
                  <a:lnTo>
                    <a:pt x="8503919" y="1463040"/>
                  </a:lnTo>
                  <a:lnTo>
                    <a:pt x="8503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09681" y="3191761"/>
            <a:ext cx="8630917" cy="1590037"/>
            <a:chOff x="0" y="0"/>
            <a:chExt cx="8630920" cy="159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0"/>
                  </a:moveTo>
                  <a:lnTo>
                    <a:pt x="0" y="1463040"/>
                  </a:lnTo>
                  <a:lnTo>
                    <a:pt x="8503919" y="1463040"/>
                  </a:lnTo>
                  <a:lnTo>
                    <a:pt x="850391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1463040"/>
                  </a:moveTo>
                  <a:lnTo>
                    <a:pt x="8503919" y="1463040"/>
                  </a:lnTo>
                  <a:lnTo>
                    <a:pt x="8503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09681" y="4892545"/>
            <a:ext cx="8630917" cy="1590037"/>
            <a:chOff x="0" y="0"/>
            <a:chExt cx="8630920" cy="1590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0"/>
                  </a:moveTo>
                  <a:lnTo>
                    <a:pt x="8503919" y="0"/>
                  </a:lnTo>
                  <a:lnTo>
                    <a:pt x="85039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1463040"/>
                  </a:moveTo>
                  <a:lnTo>
                    <a:pt x="8503919" y="1463040"/>
                  </a:lnTo>
                  <a:lnTo>
                    <a:pt x="8503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09681" y="6593329"/>
            <a:ext cx="8630917" cy="1590037"/>
            <a:chOff x="0" y="0"/>
            <a:chExt cx="8630920" cy="1590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0"/>
                  </a:moveTo>
                  <a:lnTo>
                    <a:pt x="0" y="1463040"/>
                  </a:lnTo>
                  <a:lnTo>
                    <a:pt x="8503919" y="1463040"/>
                  </a:lnTo>
                  <a:lnTo>
                    <a:pt x="850391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0" y="1463040"/>
                  </a:lnTo>
                  <a:lnTo>
                    <a:pt x="128016" y="146304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3500" y="63500"/>
              <a:ext cx="85039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03919">
                  <a:moveTo>
                    <a:pt x="0" y="1463040"/>
                  </a:moveTo>
                  <a:lnTo>
                    <a:pt x="8503919" y="1463040"/>
                  </a:lnTo>
                  <a:lnTo>
                    <a:pt x="8503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3500" y="6350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1463040"/>
                  </a:moveTo>
                  <a:lnTo>
                    <a:pt x="128016" y="14630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31520" y="205930"/>
            <a:ext cx="4745450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Sadržaj prezentacije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1520" y="1570806"/>
            <a:ext cx="4339333" cy="104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Uvod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1520" y="3271590"/>
            <a:ext cx="3601869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 Engine i arhitektura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31520" y="4972374"/>
            <a:ext cx="1451258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Buffer Pool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1520" y="6673158"/>
            <a:ext cx="2779243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Životni ciklus stranice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1520" y="8373942"/>
            <a:ext cx="2592524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Coldvs Warm cache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95133" y="8913609"/>
            <a:ext cx="7028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47504" y="1570806"/>
            <a:ext cx="2501589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mehanizmi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47504" y="3271590"/>
            <a:ext cx="3662134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Testno okruzenje + Rezultati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47504" y="4972374"/>
            <a:ext cx="4273763" cy="9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Velicina tabele vs shared_buffers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47504" y="6673158"/>
            <a:ext cx="1206694" cy="134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Zaključak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Pitanja?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04480" y="5930951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02379" y="9332519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55608" y="7631735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00366" y="4230167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44876" y="2529383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87085" y="2529383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33741" y="4230167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56053" y="5930951"/>
            <a:ext cx="5856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1520" y="2529383"/>
            <a:ext cx="2953998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Razlika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brzini: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RAM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vs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disk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1520" y="9332519"/>
            <a:ext cx="3189075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LRU,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DISCARD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ALL,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stanje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keša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31520" y="4230167"/>
            <a:ext cx="3918718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Slojevi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DBMS-a,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heap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model,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31520" y="7631735"/>
            <a:ext cx="3817144" cy="38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Cachelookup, pin, dirtypage, eviction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41045" y="5930951"/>
            <a:ext cx="4956572" cy="38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Koncepti, cache hit/miss, memorijska hijerarhija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747504" y="5930951"/>
            <a:ext cx="4084244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Kada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buffer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pool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postaje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kljucan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faktor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747504" y="4230167"/>
            <a:ext cx="5011638" cy="38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Mala i velika baza, SeqScan, Bitmap, selektivnost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747504" y="2529383"/>
            <a:ext cx="5239345" cy="38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Hijerarhija, PlanCache, pg_prewarm, OLTP vs OLAP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137" y="8129521"/>
            <a:ext cx="9636757" cy="1260853"/>
            <a:chOff x="0" y="0"/>
            <a:chExt cx="9636760" cy="1260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9509379" cy="1133856"/>
            </a:xfrm>
            <a:custGeom>
              <a:avLst/>
              <a:gdLst/>
              <a:ahLst/>
              <a:cxnLst/>
              <a:rect r="r" b="b" t="t" l="l"/>
              <a:pathLst>
                <a:path h="1133856" w="9509379">
                  <a:moveTo>
                    <a:pt x="0" y="0"/>
                  </a:moveTo>
                  <a:lnTo>
                    <a:pt x="0" y="1133856"/>
                  </a:lnTo>
                  <a:lnTo>
                    <a:pt x="9509379" y="1133856"/>
                  </a:lnTo>
                  <a:lnTo>
                    <a:pt x="9509379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95097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509760">
                  <a:moveTo>
                    <a:pt x="0" y="1133856"/>
                  </a:moveTo>
                  <a:lnTo>
                    <a:pt x="9509760" y="1133856"/>
                  </a:lnTo>
                  <a:lnTo>
                    <a:pt x="95097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137" y="6629905"/>
            <a:ext cx="8173717" cy="1260853"/>
            <a:chOff x="0" y="0"/>
            <a:chExt cx="8173720" cy="1260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046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046720">
                  <a:moveTo>
                    <a:pt x="0" y="0"/>
                  </a:moveTo>
                  <a:lnTo>
                    <a:pt x="0" y="1133856"/>
                  </a:lnTo>
                  <a:lnTo>
                    <a:pt x="8046720" y="1133856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046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046720">
                  <a:moveTo>
                    <a:pt x="0" y="1133856"/>
                  </a:moveTo>
                  <a:lnTo>
                    <a:pt x="8046720" y="1133856"/>
                  </a:lnTo>
                  <a:lnTo>
                    <a:pt x="80467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5137" y="5130289"/>
            <a:ext cx="6710677" cy="1260853"/>
            <a:chOff x="0" y="0"/>
            <a:chExt cx="6710680" cy="1260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6581647" cy="1133856"/>
            </a:xfrm>
            <a:custGeom>
              <a:avLst/>
              <a:gdLst/>
              <a:ahLst/>
              <a:cxnLst/>
              <a:rect r="r" b="b" t="t" l="l"/>
              <a:pathLst>
                <a:path h="1133856" w="6581647">
                  <a:moveTo>
                    <a:pt x="0" y="0"/>
                  </a:moveTo>
                  <a:lnTo>
                    <a:pt x="0" y="1133856"/>
                  </a:lnTo>
                  <a:lnTo>
                    <a:pt x="6581647" y="1133856"/>
                  </a:lnTo>
                  <a:lnTo>
                    <a:pt x="6581647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65836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583680">
                  <a:moveTo>
                    <a:pt x="0" y="1133856"/>
                  </a:moveTo>
                  <a:lnTo>
                    <a:pt x="6583680" y="1133856"/>
                  </a:lnTo>
                  <a:lnTo>
                    <a:pt x="65836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5137" y="3630673"/>
            <a:ext cx="5247637" cy="1260853"/>
            <a:chOff x="0" y="0"/>
            <a:chExt cx="5247640" cy="12608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5120005" cy="1133855"/>
            </a:xfrm>
            <a:custGeom>
              <a:avLst/>
              <a:gdLst/>
              <a:ahLst/>
              <a:cxnLst/>
              <a:rect r="r" b="b" t="t" l="l"/>
              <a:pathLst>
                <a:path h="1133855" w="5120005">
                  <a:moveTo>
                    <a:pt x="0" y="0"/>
                  </a:moveTo>
                  <a:lnTo>
                    <a:pt x="5120005" y="0"/>
                  </a:lnTo>
                  <a:lnTo>
                    <a:pt x="5120005" y="1133855"/>
                  </a:lnTo>
                  <a:lnTo>
                    <a:pt x="0" y="1133855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5120640" cy="1133855"/>
            </a:xfrm>
            <a:custGeom>
              <a:avLst/>
              <a:gdLst/>
              <a:ahLst/>
              <a:cxnLst/>
              <a:rect r="r" b="b" t="t" l="l"/>
              <a:pathLst>
                <a:path h="1133855" w="5120640">
                  <a:moveTo>
                    <a:pt x="0" y="1133855"/>
                  </a:moveTo>
                  <a:lnTo>
                    <a:pt x="5120640" y="1133855"/>
                  </a:lnTo>
                  <a:lnTo>
                    <a:pt x="51206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40817" y="2899153"/>
            <a:ext cx="6162037" cy="2138677"/>
            <a:chOff x="0" y="0"/>
            <a:chExt cx="6162040" cy="2138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0817" y="5240017"/>
            <a:ext cx="6162037" cy="2138677"/>
            <a:chOff x="0" y="0"/>
            <a:chExt cx="6162040" cy="2138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40817" y="7580881"/>
            <a:ext cx="6162037" cy="2138677"/>
            <a:chOff x="0" y="0"/>
            <a:chExt cx="6162040" cy="2138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31520" y="205930"/>
            <a:ext cx="8264033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Uvod — Zašto je disk I/O problem?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8640" y="1743189"/>
            <a:ext cx="17481604" cy="81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5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Sistemi baza podataka se suočavaju sa fundamentalnom razlikom u brzini između RAM-a i diska. Svaki upit koji ne nađe podatke</a:t>
            </a:r>
          </a:p>
          <a:p>
            <a:pPr algn="l">
              <a:lnSpc>
                <a:spcPts val="3075"/>
              </a:lnSpc>
            </a:pPr>
            <a:r>
              <a:rPr lang="en-US" sz="25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u memoriji mora posegnuti za diskom — a to je skupa operacija.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2970667"/>
            <a:ext cx="3981926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Latencija po nivou memorije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096" y="5293347"/>
            <a:ext cx="3735162" cy="88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RAM memorija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~100 ns | 1.000× brže od HDD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8096" y="6792963"/>
            <a:ext cx="3381375" cy="88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SSD disk (NVMe)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~100 µs | 10× brže od HDD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8096" y="3793731"/>
            <a:ext cx="3590687" cy="88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CPU Keš (L1/L2/L3)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~1 ns | 10.000× brže od HDD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8096" y="8292579"/>
            <a:ext cx="4227557" cy="88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HDD disk (magnetni)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~10 ms | 1× (osnova) brže od HDD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73483" y="8776297"/>
            <a:ext cx="1934604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najskuplji deo izvršavanja upita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60349" y="6435433"/>
            <a:ext cx="2573350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veličina jedne stranice — uvek se čita cela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98832" y="7650194"/>
            <a:ext cx="106681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I/O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20533" y="5309330"/>
            <a:ext cx="143037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 KB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71630" y="3482816"/>
            <a:ext cx="2958294" cy="118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60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100.000×</a:t>
            </a:r>
          </a:p>
          <a:p>
            <a:pPr algn="ctr">
              <a:lnSpc>
                <a:spcPts val="549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brži RAM od HDD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137" y="2131057"/>
            <a:ext cx="8356597" cy="1077973"/>
            <a:chOff x="0" y="0"/>
            <a:chExt cx="8356600" cy="1077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8228203" y="0"/>
                  </a:lnTo>
                  <a:lnTo>
                    <a:pt x="8228203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137" y="3319777"/>
            <a:ext cx="8356597" cy="1077973"/>
            <a:chOff x="0" y="0"/>
            <a:chExt cx="8356600" cy="1077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0" y="950976"/>
                  </a:lnTo>
                  <a:lnTo>
                    <a:pt x="8228203" y="950976"/>
                  </a:lnTo>
                  <a:lnTo>
                    <a:pt x="8228203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5137" y="4508497"/>
            <a:ext cx="8356597" cy="1077973"/>
            <a:chOff x="0" y="0"/>
            <a:chExt cx="8356600" cy="1077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8228203" y="0"/>
                  </a:lnTo>
                  <a:lnTo>
                    <a:pt x="8228203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5137" y="5697217"/>
            <a:ext cx="8356597" cy="1077973"/>
            <a:chOff x="0" y="0"/>
            <a:chExt cx="8356600" cy="10779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8228203" y="0"/>
                  </a:lnTo>
                  <a:lnTo>
                    <a:pt x="8228203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0096B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5137" y="6885937"/>
            <a:ext cx="8356597" cy="1077973"/>
            <a:chOff x="0" y="0"/>
            <a:chExt cx="8356600" cy="1077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0" y="950976"/>
                  </a:lnTo>
                  <a:lnTo>
                    <a:pt x="8228203" y="950976"/>
                  </a:lnTo>
                  <a:lnTo>
                    <a:pt x="8228203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5137" y="8074657"/>
            <a:ext cx="8356597" cy="1077973"/>
            <a:chOff x="0" y="0"/>
            <a:chExt cx="8356600" cy="10779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8228203" cy="950976"/>
            </a:xfrm>
            <a:custGeom>
              <a:avLst/>
              <a:gdLst/>
              <a:ahLst/>
              <a:cxnLst/>
              <a:rect r="r" b="b" t="t" l="l"/>
              <a:pathLst>
                <a:path h="950976" w="8228203">
                  <a:moveTo>
                    <a:pt x="0" y="0"/>
                  </a:moveTo>
                  <a:lnTo>
                    <a:pt x="8228203" y="0"/>
                  </a:lnTo>
                  <a:lnTo>
                    <a:pt x="8228203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8BA8B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8229600" cy="950976"/>
            </a:xfrm>
            <a:custGeom>
              <a:avLst/>
              <a:gdLst/>
              <a:ahLst/>
              <a:cxnLst/>
              <a:rect r="r" b="b" t="t" l="l"/>
              <a:pathLst>
                <a:path h="950976" w="8229600">
                  <a:moveTo>
                    <a:pt x="0" y="950976"/>
                  </a:moveTo>
                  <a:lnTo>
                    <a:pt x="8229600" y="950976"/>
                  </a:lnTo>
                  <a:lnTo>
                    <a:pt x="8229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80497" y="2131057"/>
            <a:ext cx="8722357" cy="1132837"/>
            <a:chOff x="0" y="0"/>
            <a:chExt cx="8722360" cy="113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8595359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59">
                  <a:moveTo>
                    <a:pt x="0" y="0"/>
                  </a:moveTo>
                  <a:lnTo>
                    <a:pt x="0" y="1005840"/>
                  </a:lnTo>
                  <a:lnTo>
                    <a:pt x="8595359" y="1005840"/>
                  </a:lnTo>
                  <a:lnTo>
                    <a:pt x="859535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8595359" cy="1005840"/>
            </a:xfrm>
            <a:custGeom>
              <a:avLst/>
              <a:gdLst/>
              <a:ahLst/>
              <a:cxnLst/>
              <a:rect r="r" b="b" t="t" l="l"/>
              <a:pathLst>
                <a:path h="1005840" w="8595359">
                  <a:moveTo>
                    <a:pt x="0" y="1005840"/>
                  </a:moveTo>
                  <a:lnTo>
                    <a:pt x="8595359" y="1005840"/>
                  </a:lnTo>
                  <a:lnTo>
                    <a:pt x="85953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80497" y="3996433"/>
            <a:ext cx="8722357" cy="1224277"/>
            <a:chOff x="0" y="0"/>
            <a:chExt cx="8722360" cy="1224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402336" cy="1097026"/>
            </a:xfrm>
            <a:custGeom>
              <a:avLst/>
              <a:gdLst/>
              <a:ahLst/>
              <a:cxnLst/>
              <a:rect r="r" b="b" t="t" l="l"/>
              <a:pathLst>
                <a:path h="109702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1097026"/>
                  </a:lnTo>
                  <a:lnTo>
                    <a:pt x="0" y="1097026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0"/>
                  </a:moveTo>
                  <a:lnTo>
                    <a:pt x="0" y="1097280"/>
                  </a:lnTo>
                  <a:lnTo>
                    <a:pt x="8156447" y="1097280"/>
                  </a:lnTo>
                  <a:lnTo>
                    <a:pt x="8156447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4023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">
                  <a:moveTo>
                    <a:pt x="0" y="1097280"/>
                  </a:moveTo>
                  <a:lnTo>
                    <a:pt x="402336" y="1097280"/>
                  </a:lnTo>
                  <a:lnTo>
                    <a:pt x="4023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1097280"/>
                  </a:moveTo>
                  <a:lnTo>
                    <a:pt x="8156447" y="1097280"/>
                  </a:lnTo>
                  <a:lnTo>
                    <a:pt x="81564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080497" y="5368033"/>
            <a:ext cx="8722357" cy="1224277"/>
            <a:chOff x="0" y="0"/>
            <a:chExt cx="8722360" cy="1224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0" y="63500"/>
              <a:ext cx="402336" cy="1097026"/>
            </a:xfrm>
            <a:custGeom>
              <a:avLst/>
              <a:gdLst/>
              <a:ahLst/>
              <a:cxnLst/>
              <a:rect r="r" b="b" t="t" l="l"/>
              <a:pathLst>
                <a:path h="109702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1097026"/>
                  </a:lnTo>
                  <a:lnTo>
                    <a:pt x="0" y="1097026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0"/>
                  </a:moveTo>
                  <a:lnTo>
                    <a:pt x="0" y="1097280"/>
                  </a:lnTo>
                  <a:lnTo>
                    <a:pt x="8156447" y="1097280"/>
                  </a:lnTo>
                  <a:lnTo>
                    <a:pt x="8156447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4023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">
                  <a:moveTo>
                    <a:pt x="0" y="1097280"/>
                  </a:moveTo>
                  <a:lnTo>
                    <a:pt x="402336" y="1097280"/>
                  </a:lnTo>
                  <a:lnTo>
                    <a:pt x="4023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1097280"/>
                  </a:moveTo>
                  <a:lnTo>
                    <a:pt x="8156447" y="1097280"/>
                  </a:lnTo>
                  <a:lnTo>
                    <a:pt x="81564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080497" y="6739633"/>
            <a:ext cx="8722357" cy="1224277"/>
            <a:chOff x="0" y="0"/>
            <a:chExt cx="8722360" cy="1224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402336" cy="1097026"/>
            </a:xfrm>
            <a:custGeom>
              <a:avLst/>
              <a:gdLst/>
              <a:ahLst/>
              <a:cxnLst/>
              <a:rect r="r" b="b" t="t" l="l"/>
              <a:pathLst>
                <a:path h="109702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1097026"/>
                  </a:lnTo>
                  <a:lnTo>
                    <a:pt x="0" y="1097026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0"/>
                  </a:moveTo>
                  <a:lnTo>
                    <a:pt x="0" y="1097280"/>
                  </a:lnTo>
                  <a:lnTo>
                    <a:pt x="8156447" y="1097280"/>
                  </a:lnTo>
                  <a:lnTo>
                    <a:pt x="8156447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63500"/>
              <a:ext cx="4023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">
                  <a:moveTo>
                    <a:pt x="0" y="1097280"/>
                  </a:moveTo>
                  <a:lnTo>
                    <a:pt x="402336" y="1097280"/>
                  </a:lnTo>
                  <a:lnTo>
                    <a:pt x="4023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1097280"/>
                  </a:moveTo>
                  <a:lnTo>
                    <a:pt x="8156447" y="1097280"/>
                  </a:lnTo>
                  <a:lnTo>
                    <a:pt x="81564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080497" y="8111233"/>
            <a:ext cx="8722357" cy="1224277"/>
            <a:chOff x="0" y="0"/>
            <a:chExt cx="8722360" cy="1224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0" y="63500"/>
              <a:ext cx="402336" cy="1097026"/>
            </a:xfrm>
            <a:custGeom>
              <a:avLst/>
              <a:gdLst/>
              <a:ahLst/>
              <a:cxnLst/>
              <a:rect r="r" b="b" t="t" l="l"/>
              <a:pathLst>
                <a:path h="109702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1097026"/>
                  </a:lnTo>
                  <a:lnTo>
                    <a:pt x="0" y="1097026"/>
                  </a:lnTo>
                  <a:close/>
                </a:path>
              </a:pathLst>
            </a:custGeom>
            <a:solidFill>
              <a:srgbClr val="8BA8B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0"/>
                  </a:moveTo>
                  <a:lnTo>
                    <a:pt x="0" y="1097280"/>
                  </a:lnTo>
                  <a:lnTo>
                    <a:pt x="8156447" y="1097280"/>
                  </a:lnTo>
                  <a:lnTo>
                    <a:pt x="8156447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0" y="63500"/>
              <a:ext cx="4023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">
                  <a:moveTo>
                    <a:pt x="0" y="1097280"/>
                  </a:moveTo>
                  <a:lnTo>
                    <a:pt x="402336" y="1097280"/>
                  </a:lnTo>
                  <a:lnTo>
                    <a:pt x="4023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02412" y="63500"/>
              <a:ext cx="8156447" cy="1097280"/>
            </a:xfrm>
            <a:custGeom>
              <a:avLst/>
              <a:gdLst/>
              <a:ahLst/>
              <a:cxnLst/>
              <a:rect r="r" b="b" t="t" l="l"/>
              <a:pathLst>
                <a:path h="1097280" w="8156447">
                  <a:moveTo>
                    <a:pt x="0" y="1097280"/>
                  </a:moveTo>
                  <a:lnTo>
                    <a:pt x="8156447" y="1097280"/>
                  </a:lnTo>
                  <a:lnTo>
                    <a:pt x="81564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31520" y="205930"/>
            <a:ext cx="10717444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 Engine i fizička organizacija podataka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82020" y="1507627"/>
            <a:ext cx="281809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Arhitektura DBMS-a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0" y="1507627"/>
            <a:ext cx="5273821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Heap Storage Model + Stranica (Page)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83085" y="2287143"/>
            <a:ext cx="4855931" cy="652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4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SQL / Korisnički sloj</a:t>
            </a:r>
          </a:p>
          <a:p>
            <a:pPr algn="ctr">
              <a:lnSpc>
                <a:spcPts val="4864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4123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Query Parser → Optimizer → Executor</a:t>
            </a:r>
          </a:p>
          <a:p>
            <a:pPr algn="ctr">
              <a:lnSpc>
                <a:spcPts val="5608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337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 Engine</a:t>
            </a:r>
          </a:p>
          <a:p>
            <a:pPr algn="ctr">
              <a:lnSpc>
                <a:spcPts val="6000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2988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Buffer Manager (Buffer Pool)</a:t>
            </a:r>
          </a:p>
          <a:p>
            <a:pPr algn="ctr">
              <a:lnSpc>
                <a:spcPts val="6000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2988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Log Manager (WAL)</a:t>
            </a:r>
          </a:p>
          <a:p>
            <a:pPr algn="ctr">
              <a:lnSpc>
                <a:spcPts val="6000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↓</a:t>
            </a:r>
          </a:p>
          <a:p>
            <a:pPr algn="ctr">
              <a:lnSpc>
                <a:spcPts val="2988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Disk / Fajl sistem (OS layer)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65792" y="5512041"/>
            <a:ext cx="3085624" cy="86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ItemId niz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Pokazivači na pozicije torki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65792" y="6883641"/>
            <a:ext cx="2754078" cy="86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Torke (Tuples)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Stvarni redovi podataka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65792" y="8255241"/>
            <a:ext cx="3107750" cy="86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8BA8B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Slobodan prostor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Rezervisano za nove unose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3464547"/>
            <a:ext cx="415990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Anatomija jedne stranice (8 KB):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65792" y="4140441"/>
            <a:ext cx="2512133" cy="86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Header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Metapodaci o stranici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8640" y="9427483"/>
            <a:ext cx="1494767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i="true">
                <a:solidFill>
                  <a:srgbClr val="8BA8B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Svaki disk pristup učitava celu stranicu (8 KB) — nikad manji deo. Zbog toga I/O trošak se meri brojem stranica, ne brojem redova.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248592" y="2205292"/>
            <a:ext cx="7777629" cy="10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Heap storage: redovi se smeštaju u prvi slobodan prostor, bez sortiranja. 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Brzo umetanje, ali potrebni indeksi za efikasnu pretragu.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137" y="2771137"/>
            <a:ext cx="10185397" cy="1626613"/>
            <a:chOff x="0" y="0"/>
            <a:chExt cx="10185400" cy="1626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058019" cy="1499615"/>
            </a:xfrm>
            <a:custGeom>
              <a:avLst/>
              <a:gdLst/>
              <a:ahLst/>
              <a:cxnLst/>
              <a:rect r="r" b="b" t="t" l="l"/>
              <a:pathLst>
                <a:path h="1499615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5"/>
                  </a:lnTo>
                  <a:lnTo>
                    <a:pt x="0" y="1499615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28016" cy="1499615"/>
            </a:xfrm>
            <a:custGeom>
              <a:avLst/>
              <a:gdLst/>
              <a:ahLst/>
              <a:cxnLst/>
              <a:rect r="r" b="b" t="t" l="l"/>
              <a:pathLst>
                <a:path h="1499615" w="128016">
                  <a:moveTo>
                    <a:pt x="0" y="0"/>
                  </a:moveTo>
                  <a:lnTo>
                    <a:pt x="0" y="1499615"/>
                  </a:lnTo>
                  <a:lnTo>
                    <a:pt x="128016" y="1499615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0058400" cy="1499615"/>
            </a:xfrm>
            <a:custGeom>
              <a:avLst/>
              <a:gdLst/>
              <a:ahLst/>
              <a:cxnLst/>
              <a:rect r="r" b="b" t="t" l="l"/>
              <a:pathLst>
                <a:path h="1499615" w="10058400">
                  <a:moveTo>
                    <a:pt x="0" y="1499615"/>
                  </a:moveTo>
                  <a:lnTo>
                    <a:pt x="10058400" y="1499615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28016" cy="1499615"/>
            </a:xfrm>
            <a:custGeom>
              <a:avLst/>
              <a:gdLst/>
              <a:ahLst/>
              <a:cxnLst/>
              <a:rect r="r" b="b" t="t" l="l"/>
              <a:pathLst>
                <a:path h="1499615" w="128016">
                  <a:moveTo>
                    <a:pt x="0" y="1499615"/>
                  </a:moveTo>
                  <a:lnTo>
                    <a:pt x="128016" y="1499615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5137" y="4508497"/>
            <a:ext cx="10185397" cy="1626613"/>
            <a:chOff x="0" y="0"/>
            <a:chExt cx="10185400" cy="1626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5137" y="6245857"/>
            <a:ext cx="10185397" cy="1626613"/>
            <a:chOff x="0" y="0"/>
            <a:chExt cx="10185400" cy="1626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5137" y="7983217"/>
            <a:ext cx="10185397" cy="1626613"/>
            <a:chOff x="0" y="0"/>
            <a:chExt cx="10185400" cy="1626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0" y="1499616"/>
                  </a:lnTo>
                  <a:lnTo>
                    <a:pt x="10058019" y="1499616"/>
                  </a:lnTo>
                  <a:lnTo>
                    <a:pt x="1005801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1092177" y="3319777"/>
            <a:ext cx="6710677" cy="3053077"/>
          </a:xfrm>
          <a:custGeom>
            <a:avLst/>
            <a:gdLst/>
            <a:ahLst/>
            <a:cxnLst/>
            <a:rect r="r" b="b" t="t" l="l"/>
            <a:pathLst>
              <a:path h="3053077" w="6710677">
                <a:moveTo>
                  <a:pt x="0" y="0"/>
                </a:moveTo>
                <a:lnTo>
                  <a:pt x="6710677" y="0"/>
                </a:lnTo>
                <a:lnTo>
                  <a:pt x="6710677" y="3053077"/>
                </a:lnTo>
                <a:lnTo>
                  <a:pt x="0" y="305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566897" y="6538465"/>
            <a:ext cx="3235957" cy="1443733"/>
            <a:chOff x="0" y="0"/>
            <a:chExt cx="3235960" cy="14437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106673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6673">
                  <a:moveTo>
                    <a:pt x="0" y="0"/>
                  </a:moveTo>
                  <a:lnTo>
                    <a:pt x="0" y="1316736"/>
                  </a:lnTo>
                  <a:lnTo>
                    <a:pt x="3106673" y="1316736"/>
                  </a:lnTo>
                  <a:lnTo>
                    <a:pt x="3106673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3108959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59">
                  <a:moveTo>
                    <a:pt x="0" y="1316736"/>
                  </a:moveTo>
                  <a:lnTo>
                    <a:pt x="3108959" y="1316736"/>
                  </a:lnTo>
                  <a:lnTo>
                    <a:pt x="31089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566897" y="8147809"/>
            <a:ext cx="3235957" cy="1443733"/>
            <a:chOff x="0" y="0"/>
            <a:chExt cx="3235960" cy="14437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0" y="63500"/>
              <a:ext cx="3106673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6673">
                  <a:moveTo>
                    <a:pt x="0" y="0"/>
                  </a:moveTo>
                  <a:lnTo>
                    <a:pt x="0" y="1316736"/>
                  </a:lnTo>
                  <a:lnTo>
                    <a:pt x="3106673" y="1316736"/>
                  </a:lnTo>
                  <a:lnTo>
                    <a:pt x="3106673" y="0"/>
                  </a:lnTo>
                  <a:close/>
                </a:path>
              </a:pathLst>
            </a:custGeom>
            <a:solidFill>
              <a:srgbClr val="0A152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3108959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59">
                  <a:moveTo>
                    <a:pt x="0" y="1316736"/>
                  </a:moveTo>
                  <a:lnTo>
                    <a:pt x="3108959" y="1316736"/>
                  </a:lnTo>
                  <a:lnTo>
                    <a:pt x="31089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31520" y="205930"/>
            <a:ext cx="11517725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Buffer Pool — osnovna memorijska komponenta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8640" y="1638414"/>
            <a:ext cx="17187805" cy="81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5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Buffer pool (shared_buffers) je memorijski prostor u kome PostgreSQL čuva kopije disk stranica. Sve operacije čitanja i pisanja prolaze kroz ovaj sloj pre nego što dospeju do diska.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91932" y="2751211"/>
            <a:ext cx="276515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 organizacija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34166" y="2989821"/>
            <a:ext cx="7028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77824" y="6464541"/>
            <a:ext cx="6769913" cy="104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Dirty Page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Izmenjena stranica u memoriji koja još nije upisana na disk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7824" y="8201901"/>
            <a:ext cx="6999065" cy="104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Buffer Hit Ratio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shared_hit / (shared_hit + shared_read) × 100% — cilj &gt; 95%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77824" y="2989821"/>
            <a:ext cx="278546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</a:t>
            </a: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Hit</a:t>
            </a: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(shared</a:t>
            </a: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hit)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77824" y="4727181"/>
            <a:ext cx="6886232" cy="104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 Miss (shared read)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Stranica nije u RAM-u → učitava se sa diska, ~100 µs–10 ms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7824" y="3621367"/>
            <a:ext cx="6614512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Stranica je u RAM-u → čitanje ~100 ns, bez disk operacije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80938" y="3428143"/>
            <a:ext cx="1283341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Table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47120" y="4152138"/>
            <a:ext cx="2098891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BA8BE"/>
                </a:solidFill>
                <a:latin typeface="Courier New"/>
                <a:ea typeface="Courier New"/>
                <a:cs typeface="Courier New"/>
                <a:sym typeface="Courier New"/>
              </a:rPr>
              <a:t>Page ID → Frame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47120" y="4700778"/>
            <a:ext cx="2238813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customers/0 → F3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47120" y="5249418"/>
            <a:ext cx="1819037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orders/0 → F1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47120" y="5798058"/>
            <a:ext cx="1958969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orders/1 → F12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21840" y="8795004"/>
            <a:ext cx="559708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BA8BE"/>
                </a:solidFill>
                <a:latin typeface="Courier New"/>
                <a:ea typeface="Courier New"/>
                <a:cs typeface="Courier New"/>
                <a:sym typeface="Courier New"/>
              </a:rPr>
              <a:t>FREE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21840" y="3966972"/>
            <a:ext cx="1119407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orders/0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21840" y="7185660"/>
            <a:ext cx="1119407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orders/1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268004" y="7447483"/>
            <a:ext cx="159258" cy="31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21840" y="5576316"/>
            <a:ext cx="1539183" cy="31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customers/0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268004" y="5838139"/>
            <a:ext cx="159258" cy="31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721840" y="3472129"/>
            <a:ext cx="869642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 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721840" y="5081473"/>
            <a:ext cx="869642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 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721840" y="6690817"/>
            <a:ext cx="1000906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 12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721840" y="8300161"/>
            <a:ext cx="1000906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8BA8B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 15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21840" y="4229672"/>
            <a:ext cx="690229" cy="39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dirty=✗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721840" y="5839016"/>
            <a:ext cx="55708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dirty=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721840" y="7448360"/>
            <a:ext cx="557089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dirty=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398563" y="4229672"/>
            <a:ext cx="63833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pin=2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424156" y="5839016"/>
            <a:ext cx="63833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 pin=1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424156" y="7448360"/>
            <a:ext cx="63833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 pin=3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6428737"/>
            <a:ext cx="4296661" cy="3327397"/>
            <a:chOff x="0" y="0"/>
            <a:chExt cx="4296664" cy="332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169664" cy="3198621"/>
            </a:xfrm>
            <a:custGeom>
              <a:avLst/>
              <a:gdLst/>
              <a:ahLst/>
              <a:cxnLst/>
              <a:rect r="r" b="b" t="t" l="l"/>
              <a:pathLst>
                <a:path h="3198621" w="4169664">
                  <a:moveTo>
                    <a:pt x="0" y="0"/>
                  </a:moveTo>
                  <a:lnTo>
                    <a:pt x="0" y="3198621"/>
                  </a:lnTo>
                  <a:lnTo>
                    <a:pt x="4169664" y="3198621"/>
                  </a:lnTo>
                  <a:lnTo>
                    <a:pt x="4169664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4169664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4169664" cy="3200400"/>
            </a:xfrm>
            <a:custGeom>
              <a:avLst/>
              <a:gdLst/>
              <a:ahLst/>
              <a:cxnLst/>
              <a:rect r="r" b="b" t="t" l="l"/>
              <a:pathLst>
                <a:path h="3200400" w="4169664">
                  <a:moveTo>
                    <a:pt x="0" y="3200400"/>
                  </a:moveTo>
                  <a:lnTo>
                    <a:pt x="4169664" y="3200400"/>
                  </a:lnTo>
                  <a:lnTo>
                    <a:pt x="41696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4169664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4">
                  <a:moveTo>
                    <a:pt x="0" y="109728"/>
                  </a:moveTo>
                  <a:lnTo>
                    <a:pt x="4169664" y="109728"/>
                  </a:lnTo>
                  <a:lnTo>
                    <a:pt x="41696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19393" y="6428737"/>
            <a:ext cx="4296661" cy="3327397"/>
            <a:chOff x="0" y="0"/>
            <a:chExt cx="4296664" cy="332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4169663" cy="3198621"/>
            </a:xfrm>
            <a:custGeom>
              <a:avLst/>
              <a:gdLst/>
              <a:ahLst/>
              <a:cxnLst/>
              <a:rect r="r" b="b" t="t" l="l"/>
              <a:pathLst>
                <a:path h="3198621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3198621"/>
                  </a:lnTo>
                  <a:lnTo>
                    <a:pt x="0" y="3198621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4169663" cy="3200400"/>
            </a:xfrm>
            <a:custGeom>
              <a:avLst/>
              <a:gdLst/>
              <a:ahLst/>
              <a:cxnLst/>
              <a:rect r="r" b="b" t="t" l="l"/>
              <a:pathLst>
                <a:path h="3200400" w="4169663">
                  <a:moveTo>
                    <a:pt x="0" y="3200400"/>
                  </a:moveTo>
                  <a:lnTo>
                    <a:pt x="4169663" y="3200400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109728"/>
                  </a:moveTo>
                  <a:lnTo>
                    <a:pt x="4169663" y="109728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45089" y="6428737"/>
            <a:ext cx="4296661" cy="3327397"/>
            <a:chOff x="0" y="0"/>
            <a:chExt cx="4296664" cy="3327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4169663" cy="3198621"/>
            </a:xfrm>
            <a:custGeom>
              <a:avLst/>
              <a:gdLst/>
              <a:ahLst/>
              <a:cxnLst/>
              <a:rect r="r" b="b" t="t" l="l"/>
              <a:pathLst>
                <a:path h="3198621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3198621"/>
                  </a:lnTo>
                  <a:lnTo>
                    <a:pt x="0" y="3198621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4169663" cy="3200400"/>
            </a:xfrm>
            <a:custGeom>
              <a:avLst/>
              <a:gdLst/>
              <a:ahLst/>
              <a:cxnLst/>
              <a:rect r="r" b="b" t="t" l="l"/>
              <a:pathLst>
                <a:path h="3200400" w="4169663">
                  <a:moveTo>
                    <a:pt x="0" y="3200400"/>
                  </a:moveTo>
                  <a:lnTo>
                    <a:pt x="4169663" y="3200400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109728"/>
                  </a:moveTo>
                  <a:lnTo>
                    <a:pt x="4169663" y="109728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70785" y="6428737"/>
            <a:ext cx="4296661" cy="3327397"/>
            <a:chOff x="0" y="0"/>
            <a:chExt cx="4296664" cy="3327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4169663" cy="3198621"/>
            </a:xfrm>
            <a:custGeom>
              <a:avLst/>
              <a:gdLst/>
              <a:ahLst/>
              <a:cxnLst/>
              <a:rect r="r" b="b" t="t" l="l"/>
              <a:pathLst>
                <a:path h="3198621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3198621"/>
                  </a:lnTo>
                  <a:lnTo>
                    <a:pt x="0" y="3198621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0"/>
                  </a:moveTo>
                  <a:lnTo>
                    <a:pt x="4169663" y="0"/>
                  </a:lnTo>
                  <a:lnTo>
                    <a:pt x="4169663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4169663" cy="3200400"/>
            </a:xfrm>
            <a:custGeom>
              <a:avLst/>
              <a:gdLst/>
              <a:ahLst/>
              <a:cxnLst/>
              <a:rect r="r" b="b" t="t" l="l"/>
              <a:pathLst>
                <a:path h="3200400" w="4169663">
                  <a:moveTo>
                    <a:pt x="0" y="3200400"/>
                  </a:moveTo>
                  <a:lnTo>
                    <a:pt x="4169663" y="3200400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4169663" cy="109728"/>
            </a:xfrm>
            <a:custGeom>
              <a:avLst/>
              <a:gdLst/>
              <a:ahLst/>
              <a:cxnLst/>
              <a:rect r="r" b="b" t="t" l="l"/>
              <a:pathLst>
                <a:path h="109728" w="4169663">
                  <a:moveTo>
                    <a:pt x="0" y="109728"/>
                  </a:moveTo>
                  <a:lnTo>
                    <a:pt x="4169663" y="109728"/>
                  </a:lnTo>
                  <a:lnTo>
                    <a:pt x="4169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-63503" y="-63503"/>
            <a:ext cx="18414997" cy="6070597"/>
          </a:xfrm>
          <a:custGeom>
            <a:avLst/>
            <a:gdLst/>
            <a:ahLst/>
            <a:cxnLst/>
            <a:rect r="r" b="b" t="t" l="l"/>
            <a:pathLst>
              <a:path h="6070597" w="18414997">
                <a:moveTo>
                  <a:pt x="0" y="0"/>
                </a:moveTo>
                <a:lnTo>
                  <a:pt x="18414997" y="0"/>
                </a:lnTo>
                <a:lnTo>
                  <a:pt x="18414997" y="6070597"/>
                </a:lnTo>
                <a:lnTo>
                  <a:pt x="0" y="6070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31520" y="205930"/>
            <a:ext cx="8798300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Životni ciklus stranice u Buffer Pool-u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7696" y="3306013"/>
            <a:ext cx="1363208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Zahtev</a:t>
            </a:r>
          </a:p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 stranicom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16542" y="3153613"/>
            <a:ext cx="1290476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 lookup (page table)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55280" y="2110435"/>
            <a:ext cx="360664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63840" y="4322902"/>
            <a:ext cx="540229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54414" y="4616653"/>
            <a:ext cx="1319565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 MISS Učitavanje sa diska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1910" y="2062429"/>
            <a:ext cx="1773669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CACHE HIT Čitanje iz RAM-a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19462" y="3306013"/>
            <a:ext cx="1065524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Pinovanje stranice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65575" y="2043379"/>
            <a:ext cx="1114082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Korišćenje u upitu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0080" y="6739623"/>
            <a:ext cx="178370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Dirty Marking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65776" y="6739623"/>
            <a:ext cx="165027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Unpinovanje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1472" y="6739623"/>
            <a:ext cx="173710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Evikcija (LRU)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17168" y="6739623"/>
            <a:ext cx="184290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WAL garancija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0080" y="8062684"/>
            <a:ext cx="3881447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Ako je stranica izmenjena → dirty flag = true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65776" y="8062684"/>
            <a:ext cx="3909127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pin counter - kada executor završi sa stranicom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91472" y="8062684"/>
            <a:ext cx="3859882" cy="10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Stranica ostaje ili se uklanja; 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dirty → flush na disk pre uklanjanja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17168" y="8062684"/>
            <a:ext cx="3286392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Pre upisa dirty page → zapis mora biti u Write-Ahead Log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6710677"/>
            <a:chOff x="0" y="0"/>
            <a:chExt cx="8630920" cy="6710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0"/>
                  </a:moveTo>
                  <a:lnTo>
                    <a:pt x="0" y="6583680"/>
                  </a:lnTo>
                  <a:lnTo>
                    <a:pt x="8503920" y="658368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502142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2142">
                  <a:moveTo>
                    <a:pt x="0" y="0"/>
                  </a:moveTo>
                  <a:lnTo>
                    <a:pt x="0" y="1060704"/>
                  </a:lnTo>
                  <a:lnTo>
                    <a:pt x="8502142" y="1060704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6583680"/>
                  </a:moveTo>
                  <a:lnTo>
                    <a:pt x="8503920" y="658368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503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3920">
                  <a:moveTo>
                    <a:pt x="0" y="1060704"/>
                  </a:moveTo>
                  <a:lnTo>
                    <a:pt x="8503920" y="1060704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8312401"/>
            <a:ext cx="17500597" cy="1626613"/>
            <a:chOff x="0" y="0"/>
            <a:chExt cx="17500600" cy="1626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73736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0">
                  <a:moveTo>
                    <a:pt x="0" y="0"/>
                  </a:moveTo>
                  <a:lnTo>
                    <a:pt x="0" y="1499616"/>
                  </a:lnTo>
                  <a:lnTo>
                    <a:pt x="17373600" y="1499616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73736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0">
                  <a:moveTo>
                    <a:pt x="0" y="1499616"/>
                  </a:moveTo>
                  <a:lnTo>
                    <a:pt x="17373600" y="1499616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54817" y="1490977"/>
            <a:ext cx="8630917" cy="6710677"/>
            <a:chOff x="0" y="0"/>
            <a:chExt cx="8630920" cy="6710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0"/>
                  </a:moveTo>
                  <a:lnTo>
                    <a:pt x="0" y="6583680"/>
                  </a:lnTo>
                  <a:lnTo>
                    <a:pt x="8503920" y="658368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8502142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2142">
                  <a:moveTo>
                    <a:pt x="0" y="0"/>
                  </a:moveTo>
                  <a:lnTo>
                    <a:pt x="0" y="1060704"/>
                  </a:lnTo>
                  <a:lnTo>
                    <a:pt x="8502142" y="1060704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6583680"/>
                  </a:moveTo>
                  <a:lnTo>
                    <a:pt x="8503920" y="658368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8503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3920">
                  <a:moveTo>
                    <a:pt x="0" y="1060704"/>
                  </a:moveTo>
                  <a:lnTo>
                    <a:pt x="8503920" y="1060704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31520" y="205930"/>
            <a:ext cx="6358242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Cold Cache vs Warm Cache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520" y="1722444"/>
            <a:ext cx="2370725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COLD CACHE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2640" y="1722444"/>
            <a:ext cx="2656856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WARM CACHE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6384" y="6206395"/>
            <a:ext cx="74879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Efekat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6384" y="6947878"/>
            <a:ext cx="5646029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Visoko vreme izvršavanja, intenzivan disk pristup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384" y="2879503"/>
            <a:ext cx="7460837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Kada se javlja?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Nakon DISCARD ALL, prvog pokretanja sistema, ili prvog pristupa novim podacima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6384" y="4561999"/>
            <a:ext cx="7782087" cy="134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Šta se dešava?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Svaki zahtev generiše shared read (disk I/O) — stranice se učitavaju sa diska jedna po jedna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47504" y="6206395"/>
            <a:ext cx="74879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Efekat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47504" y="6947878"/>
            <a:ext cx="6369501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Minimalno vreme izvršavanja — čisto CPU procesiranje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7504" y="4561999"/>
            <a:ext cx="7498680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Šta se dešava?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Zahtevi se opslužuju kao shared hit — direktno iz RAM-a bez disk operacije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9031567"/>
            <a:ext cx="16938631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Kada se buffer pool popuni, PostgreSQL izbacuje stranicu koja se najduže nije koristila. Na većim bazama (&gt; shared_buffers) ovo postaje kritično — stranice koje su upravo učitane mogu biti izbačene pre nego što se ponovo koriste (cache pollution pri seq scan).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47504" y="2879503"/>
            <a:ext cx="7735481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Kada se javlja?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Nakon što su relevantne stranice učitane u buffer pool prethodnim upitima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8475459"/>
            <a:ext cx="466966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LRU algoritam (Least Recently Used)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5974773"/>
            <a:chOff x="0" y="0"/>
            <a:chExt cx="8630920" cy="5974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56536"/>
              <a:ext cx="8503920" cy="5861703"/>
            </a:xfrm>
            <a:custGeom>
              <a:avLst/>
              <a:gdLst/>
              <a:ahLst/>
              <a:cxnLst/>
              <a:rect r="r" b="b" t="t" l="l"/>
              <a:pathLst>
                <a:path h="5861703" w="8503920">
                  <a:moveTo>
                    <a:pt x="0" y="0"/>
                  </a:moveTo>
                  <a:lnTo>
                    <a:pt x="0" y="5861703"/>
                  </a:lnTo>
                  <a:lnTo>
                    <a:pt x="8503920" y="5861703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56536"/>
              <a:ext cx="8502142" cy="944385"/>
            </a:xfrm>
            <a:custGeom>
              <a:avLst/>
              <a:gdLst/>
              <a:ahLst/>
              <a:cxnLst/>
              <a:rect r="r" b="b" t="t" l="l"/>
              <a:pathLst>
                <a:path h="944385" w="8502142">
                  <a:moveTo>
                    <a:pt x="0" y="0"/>
                  </a:moveTo>
                  <a:lnTo>
                    <a:pt x="0" y="944386"/>
                  </a:lnTo>
                  <a:lnTo>
                    <a:pt x="8502142" y="944386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56536"/>
              <a:ext cx="8503920" cy="5861703"/>
            </a:xfrm>
            <a:custGeom>
              <a:avLst/>
              <a:gdLst/>
              <a:ahLst/>
              <a:cxnLst/>
              <a:rect r="r" b="b" t="t" l="l"/>
              <a:pathLst>
                <a:path h="5861703" w="8503920">
                  <a:moveTo>
                    <a:pt x="0" y="5861703"/>
                  </a:moveTo>
                  <a:lnTo>
                    <a:pt x="8503920" y="5861703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56536"/>
              <a:ext cx="8503920" cy="944385"/>
            </a:xfrm>
            <a:custGeom>
              <a:avLst/>
              <a:gdLst/>
              <a:ahLst/>
              <a:cxnLst/>
              <a:rect r="r" b="b" t="t" l="l"/>
              <a:pathLst>
                <a:path h="944385" w="8503920">
                  <a:moveTo>
                    <a:pt x="0" y="944386"/>
                  </a:moveTo>
                  <a:lnTo>
                    <a:pt x="8503920" y="94438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7703875"/>
            <a:ext cx="17500597" cy="2235139"/>
            <a:chOff x="0" y="0"/>
            <a:chExt cx="17500600" cy="2235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87256"/>
              <a:ext cx="17373600" cy="2060632"/>
            </a:xfrm>
            <a:custGeom>
              <a:avLst/>
              <a:gdLst/>
              <a:ahLst/>
              <a:cxnLst/>
              <a:rect r="r" b="b" t="t" l="l"/>
              <a:pathLst>
                <a:path h="2060632" w="17373600">
                  <a:moveTo>
                    <a:pt x="0" y="0"/>
                  </a:moveTo>
                  <a:lnTo>
                    <a:pt x="0" y="2060632"/>
                  </a:lnTo>
                  <a:lnTo>
                    <a:pt x="17373600" y="2060632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87256"/>
              <a:ext cx="128016" cy="2060632"/>
            </a:xfrm>
            <a:custGeom>
              <a:avLst/>
              <a:gdLst/>
              <a:ahLst/>
              <a:cxnLst/>
              <a:rect r="r" b="b" t="t" l="l"/>
              <a:pathLst>
                <a:path h="2060632" w="128016">
                  <a:moveTo>
                    <a:pt x="0" y="0"/>
                  </a:moveTo>
                  <a:lnTo>
                    <a:pt x="0" y="2060632"/>
                  </a:lnTo>
                  <a:lnTo>
                    <a:pt x="128016" y="206063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87256"/>
              <a:ext cx="17373600" cy="2060632"/>
            </a:xfrm>
            <a:custGeom>
              <a:avLst/>
              <a:gdLst/>
              <a:ahLst/>
              <a:cxnLst/>
              <a:rect r="r" b="b" t="t" l="l"/>
              <a:pathLst>
                <a:path h="2060632" w="17373600">
                  <a:moveTo>
                    <a:pt x="0" y="2060632"/>
                  </a:moveTo>
                  <a:lnTo>
                    <a:pt x="17373600" y="2060632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87256"/>
              <a:ext cx="128016" cy="2060632"/>
            </a:xfrm>
            <a:custGeom>
              <a:avLst/>
              <a:gdLst/>
              <a:ahLst/>
              <a:cxnLst/>
              <a:rect r="r" b="b" t="t" l="l"/>
              <a:pathLst>
                <a:path h="2060632" w="128016">
                  <a:moveTo>
                    <a:pt x="0" y="2060632"/>
                  </a:moveTo>
                  <a:lnTo>
                    <a:pt x="128016" y="2060632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54817" y="1490977"/>
            <a:ext cx="8630917" cy="5974773"/>
            <a:chOff x="0" y="0"/>
            <a:chExt cx="8630920" cy="59747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56536"/>
              <a:ext cx="8503920" cy="5861703"/>
            </a:xfrm>
            <a:custGeom>
              <a:avLst/>
              <a:gdLst/>
              <a:ahLst/>
              <a:cxnLst/>
              <a:rect r="r" b="b" t="t" l="l"/>
              <a:pathLst>
                <a:path h="5861703" w="8503920">
                  <a:moveTo>
                    <a:pt x="0" y="0"/>
                  </a:moveTo>
                  <a:lnTo>
                    <a:pt x="0" y="5861703"/>
                  </a:lnTo>
                  <a:lnTo>
                    <a:pt x="8503920" y="5861703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56536"/>
              <a:ext cx="8502142" cy="944385"/>
            </a:xfrm>
            <a:custGeom>
              <a:avLst/>
              <a:gdLst/>
              <a:ahLst/>
              <a:cxnLst/>
              <a:rect r="r" b="b" t="t" l="l"/>
              <a:pathLst>
                <a:path h="944385" w="8502142">
                  <a:moveTo>
                    <a:pt x="0" y="0"/>
                  </a:moveTo>
                  <a:lnTo>
                    <a:pt x="0" y="944386"/>
                  </a:lnTo>
                  <a:lnTo>
                    <a:pt x="8502142" y="944386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56536"/>
              <a:ext cx="8503920" cy="5861703"/>
            </a:xfrm>
            <a:custGeom>
              <a:avLst/>
              <a:gdLst/>
              <a:ahLst/>
              <a:cxnLst/>
              <a:rect r="r" b="b" t="t" l="l"/>
              <a:pathLst>
                <a:path h="5861703" w="8503920">
                  <a:moveTo>
                    <a:pt x="0" y="5861703"/>
                  </a:moveTo>
                  <a:lnTo>
                    <a:pt x="8503920" y="5861703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56536"/>
              <a:ext cx="8503920" cy="944385"/>
            </a:xfrm>
            <a:custGeom>
              <a:avLst/>
              <a:gdLst/>
              <a:ahLst/>
              <a:cxnLst/>
              <a:rect r="r" b="b" t="t" l="l"/>
              <a:pathLst>
                <a:path h="944385" w="8503920">
                  <a:moveTo>
                    <a:pt x="0" y="944386"/>
                  </a:moveTo>
                  <a:lnTo>
                    <a:pt x="8503920" y="94438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31520" y="205930"/>
            <a:ext cx="12881191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mehanizmi — Slojevita memorijska hijerarhija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520" y="1722444"/>
            <a:ext cx="3581629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DBMS sloj keširanja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2640" y="1722444"/>
            <a:ext cx="2763393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Fizički medijumi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6384" y="4219718"/>
            <a:ext cx="6522549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shared_buffers (Buffer Pool)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Primarni PostgreSQL keš stranica (8 KB). Konfiguriše se u postgresql.conf. Preporuka: ~25% RAM-a.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6384" y="2751706"/>
            <a:ext cx="7253668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CPU keš (L1/L2/L3)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Hardverski upravljan, nevidljiv za DBMS. Latencija ~1 ns. Kešira instrukcije i indeksne cvorove.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384" y="5796201"/>
            <a:ext cx="7382237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 Page Cache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Kernel-level keš disk blokova. PostgreSQL ga koristi posredno — rizik dupliranja stranica u memoriji.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47504" y="2751706"/>
            <a:ext cx="7274538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SSD / NVMe disk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Latencija ~100 µs. PostgreSQL može koristiti tablespace-ove na SSD-u za vruće tabele i indekse.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1624" y="5739051"/>
            <a:ext cx="7486298" cy="149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3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Princip rada</a:t>
            </a:r>
          </a:p>
          <a:p>
            <a:pPr algn="l">
              <a:lnSpc>
                <a:spcPts val="3293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Nijedan sloj ne funkcioniše nezavisno — podatak prolazi kroz sve</a:t>
            </a:r>
          </a:p>
          <a:p>
            <a:pPr algn="l">
              <a:lnSpc>
                <a:spcPts val="1955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nivoe. Svaki sloj koji ga uhvati (kešira) sprečava ponavljanje</a:t>
            </a:r>
          </a:p>
          <a:p>
            <a:pPr algn="l">
              <a:lnSpc>
                <a:spcPts val="3293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putovanja ka disku pri sledecem pristupu.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423" y="8187745"/>
            <a:ext cx="16790487" cy="167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1"/>
              </a:lnSpc>
            </a:pPr>
            <a:r>
              <a:rPr lang="en-US" sz="2215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Stranica u shared_buffers → DBMS je opsluži direktno (najbrže). </a:t>
            </a:r>
          </a:p>
          <a:p>
            <a:pPr algn="l">
              <a:lnSpc>
                <a:spcPts val="4431"/>
              </a:lnSpc>
            </a:pPr>
            <a:r>
              <a:rPr lang="en-US" sz="2215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Stranica samo u OS cache → OS je prosledi, ali PostgreSQL mora da je smesti i u shared_buffers. </a:t>
            </a:r>
          </a:p>
          <a:p>
            <a:pPr algn="l">
              <a:lnSpc>
                <a:spcPts val="4431"/>
              </a:lnSpc>
            </a:pPr>
            <a:r>
              <a:rPr lang="en-US" sz="2215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Nije ni u jednom kešu → fizički disk pristup (najsporije).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92640" y="4219718"/>
            <a:ext cx="7607056" cy="134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HDD disk (magnetni)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Najsporiji nivo, latencija ~10 ms. Sekvencijalni pristup znatno bolji od nasumicnog zbog mehaničkih ograničenja.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1520" y="7856275"/>
            <a:ext cx="457418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Dvoslojno keširanje u PostgreSQL-u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137" y="2771137"/>
            <a:ext cx="10185397" cy="1626613"/>
            <a:chOff x="0" y="0"/>
            <a:chExt cx="10185400" cy="1626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058019" cy="1499615"/>
            </a:xfrm>
            <a:custGeom>
              <a:avLst/>
              <a:gdLst/>
              <a:ahLst/>
              <a:cxnLst/>
              <a:rect r="r" b="b" t="t" l="l"/>
              <a:pathLst>
                <a:path h="1499615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5"/>
                  </a:lnTo>
                  <a:lnTo>
                    <a:pt x="0" y="1499615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28016" cy="1499615"/>
            </a:xfrm>
            <a:custGeom>
              <a:avLst/>
              <a:gdLst/>
              <a:ahLst/>
              <a:cxnLst/>
              <a:rect r="r" b="b" t="t" l="l"/>
              <a:pathLst>
                <a:path h="1499615" w="128016">
                  <a:moveTo>
                    <a:pt x="0" y="0"/>
                  </a:moveTo>
                  <a:lnTo>
                    <a:pt x="0" y="1499615"/>
                  </a:lnTo>
                  <a:lnTo>
                    <a:pt x="128016" y="1499615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0058400" cy="1499615"/>
            </a:xfrm>
            <a:custGeom>
              <a:avLst/>
              <a:gdLst/>
              <a:ahLst/>
              <a:cxnLst/>
              <a:rect r="r" b="b" t="t" l="l"/>
              <a:pathLst>
                <a:path h="1499615" w="10058400">
                  <a:moveTo>
                    <a:pt x="0" y="1499615"/>
                  </a:moveTo>
                  <a:lnTo>
                    <a:pt x="10058400" y="1499615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28016" cy="1499615"/>
            </a:xfrm>
            <a:custGeom>
              <a:avLst/>
              <a:gdLst/>
              <a:ahLst/>
              <a:cxnLst/>
              <a:rect r="r" b="b" t="t" l="l"/>
              <a:pathLst>
                <a:path h="1499615" w="128016">
                  <a:moveTo>
                    <a:pt x="0" y="1499615"/>
                  </a:moveTo>
                  <a:lnTo>
                    <a:pt x="128016" y="1499615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5137" y="4508497"/>
            <a:ext cx="10185397" cy="1626613"/>
            <a:chOff x="0" y="0"/>
            <a:chExt cx="10185400" cy="1626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5137" y="6245857"/>
            <a:ext cx="10185397" cy="1626613"/>
            <a:chOff x="0" y="0"/>
            <a:chExt cx="10185400" cy="1626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10058019" y="0"/>
                  </a:lnTo>
                  <a:lnTo>
                    <a:pt x="10058019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45289" y="3154423"/>
            <a:ext cx="6957565" cy="3345685"/>
            <a:chOff x="0" y="0"/>
            <a:chExt cx="6957568" cy="33456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3417189" cy="3218688"/>
            </a:xfrm>
            <a:custGeom>
              <a:avLst/>
              <a:gdLst/>
              <a:ahLst/>
              <a:cxnLst/>
              <a:rect r="r" b="b" t="t" l="l"/>
              <a:pathLst>
                <a:path h="3218688" w="3417189">
                  <a:moveTo>
                    <a:pt x="0" y="0"/>
                  </a:moveTo>
                  <a:lnTo>
                    <a:pt x="3417189" y="0"/>
                  </a:lnTo>
                  <a:lnTo>
                    <a:pt x="3417189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3050" y="1122172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8BA8B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3050" y="2188972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8BA8B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785107" y="228854"/>
              <a:ext cx="3106674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6674">
                  <a:moveTo>
                    <a:pt x="0" y="0"/>
                  </a:moveTo>
                  <a:lnTo>
                    <a:pt x="0" y="1316736"/>
                  </a:lnTo>
                  <a:lnTo>
                    <a:pt x="3106674" y="1316736"/>
                  </a:lnTo>
                  <a:lnTo>
                    <a:pt x="3106674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785107" y="1838198"/>
              <a:ext cx="3106674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6674">
                  <a:moveTo>
                    <a:pt x="0" y="0"/>
                  </a:moveTo>
                  <a:lnTo>
                    <a:pt x="0" y="1316736"/>
                  </a:lnTo>
                  <a:lnTo>
                    <a:pt x="3106674" y="1316736"/>
                  </a:lnTo>
                  <a:lnTo>
                    <a:pt x="3106674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19347" y="1672844"/>
              <a:ext cx="365759" cy="38100"/>
            </a:xfrm>
            <a:custGeom>
              <a:avLst/>
              <a:gdLst/>
              <a:ahLst/>
              <a:cxnLst/>
              <a:rect r="r" b="b" t="t" l="l"/>
              <a:pathLst>
                <a:path h="38100" w="365759">
                  <a:moveTo>
                    <a:pt x="0" y="0"/>
                  </a:moveTo>
                  <a:lnTo>
                    <a:pt x="0" y="38100"/>
                  </a:lnTo>
                  <a:lnTo>
                    <a:pt x="365760" y="38100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419856" cy="3218688"/>
            </a:xfrm>
            <a:custGeom>
              <a:avLst/>
              <a:gdLst/>
              <a:ahLst/>
              <a:cxnLst/>
              <a:rect r="r" b="b" t="t" l="l"/>
              <a:pathLst>
                <a:path h="3218688" w="3419856">
                  <a:moveTo>
                    <a:pt x="0" y="3218688"/>
                  </a:moveTo>
                  <a:lnTo>
                    <a:pt x="3419856" y="3218688"/>
                  </a:lnTo>
                  <a:lnTo>
                    <a:pt x="3419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785107" y="228854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316736"/>
                  </a:moveTo>
                  <a:lnTo>
                    <a:pt x="3108961" y="1316736"/>
                  </a:lnTo>
                  <a:lnTo>
                    <a:pt x="3108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400297" y="1672844"/>
              <a:ext cx="403859" cy="38100"/>
            </a:xfrm>
            <a:custGeom>
              <a:avLst/>
              <a:gdLst/>
              <a:ahLst/>
              <a:cxnLst/>
              <a:rect r="r" b="b" t="t" l="l"/>
              <a:pathLst>
                <a:path h="38100" w="403859">
                  <a:moveTo>
                    <a:pt x="0" y="38100"/>
                  </a:moveTo>
                  <a:lnTo>
                    <a:pt x="403860" y="38100"/>
                  </a:lnTo>
                  <a:lnTo>
                    <a:pt x="403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785107" y="1838198"/>
              <a:ext cx="31089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0">
                  <a:moveTo>
                    <a:pt x="0" y="1316736"/>
                  </a:moveTo>
                  <a:lnTo>
                    <a:pt x="3108961" y="1316736"/>
                  </a:lnTo>
                  <a:lnTo>
                    <a:pt x="3108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93697" y="7983217"/>
            <a:ext cx="17409157" cy="2367277"/>
            <a:chOff x="0" y="0"/>
            <a:chExt cx="17409160" cy="236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54940" y="63500"/>
              <a:ext cx="10058019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019">
                  <a:moveTo>
                    <a:pt x="0" y="0"/>
                  </a:moveTo>
                  <a:lnTo>
                    <a:pt x="0" y="1499616"/>
                  </a:lnTo>
                  <a:lnTo>
                    <a:pt x="10058019" y="1499616"/>
                  </a:lnTo>
                  <a:lnTo>
                    <a:pt x="1005801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494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4236700" y="228092"/>
              <a:ext cx="3106674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6674">
                  <a:moveTo>
                    <a:pt x="0" y="0"/>
                  </a:moveTo>
                  <a:lnTo>
                    <a:pt x="0" y="1316736"/>
                  </a:lnTo>
                  <a:lnTo>
                    <a:pt x="3106674" y="1316736"/>
                  </a:lnTo>
                  <a:lnTo>
                    <a:pt x="3106674" y="0"/>
                  </a:lnTo>
                  <a:close/>
                </a:path>
              </a:pathLst>
            </a:custGeom>
            <a:solidFill>
              <a:srgbClr val="0A152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54940" y="63500"/>
              <a:ext cx="100584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0058400">
                  <a:moveTo>
                    <a:pt x="0" y="1499616"/>
                  </a:moveTo>
                  <a:lnTo>
                    <a:pt x="10058400" y="1499616"/>
                  </a:lnTo>
                  <a:lnTo>
                    <a:pt x="10058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494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4236700" y="228092"/>
              <a:ext cx="31089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3108961">
                  <a:moveTo>
                    <a:pt x="0" y="1316736"/>
                  </a:moveTo>
                  <a:lnTo>
                    <a:pt x="3108961" y="1316736"/>
                  </a:lnTo>
                  <a:lnTo>
                    <a:pt x="31089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1663700"/>
              <a:ext cx="17190720" cy="640080"/>
            </a:xfrm>
            <a:custGeom>
              <a:avLst/>
              <a:gdLst/>
              <a:ahLst/>
              <a:cxnLst/>
              <a:rect r="r" b="b" t="t" l="l"/>
              <a:pathLst>
                <a:path h="640080" w="17190720">
                  <a:moveTo>
                    <a:pt x="0" y="0"/>
                  </a:moveTo>
                  <a:lnTo>
                    <a:pt x="0" y="640080"/>
                  </a:lnTo>
                  <a:lnTo>
                    <a:pt x="17190720" y="640080"/>
                  </a:lnTo>
                  <a:lnTo>
                    <a:pt x="171907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31520" y="205930"/>
            <a:ext cx="11357181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mehanizmi — Plan Cache i pg_prewarm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89243" y="2751211"/>
            <a:ext cx="2974619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Automatski prewarm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8640" y="1771764"/>
            <a:ext cx="17003011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Pored buffer pool-a, PostgreSQL koristi i dopunske mehanizme koji zajedno doprinose ukupnoj efikasnosti keširanje sistema.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7824" y="6512166"/>
            <a:ext cx="8950909" cy="122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pg_prewarm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Ekstenzija koja eksplicitno učitava stranice u buffer pool pre korisnickih upita. Rešava cold cache problem posle restarta.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7824" y="2974657"/>
            <a:ext cx="154446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Plan Cache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77824" y="8249526"/>
            <a:ext cx="6780828" cy="104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Primer korišćenja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pg_prewarm('customers'); -- cela tabela |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pg_prewarm('idx_value'); -- indeks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68299" y="4774806"/>
            <a:ext cx="8848373" cy="123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b="true" sz="24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Ogranicenje Plan Cache-a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Ne ažurira planove automatski kada se statistike promene (posle ANALYZE ili masovnih izmena).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77824" y="3554692"/>
            <a:ext cx="8737235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Čuva kompajlirane planove izvrsavanja upita (PREPARE/EXECUTE). Eliminiše planning time pri ponavljanju — iz testova: 1.5 ms → 0.1 ms.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966533" y="3370069"/>
            <a:ext cx="3389328" cy="35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pg_prewarm.autoprewarm = 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297383" y="4243397"/>
            <a:ext cx="2798521" cy="161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8BA8BE"/>
                </a:solidFill>
                <a:latin typeface="Courier New"/>
                <a:ea typeface="Courier New"/>
                <a:cs typeface="Courier New"/>
                <a:sym typeface="Courier New"/>
              </a:rPr>
              <a:t>Snima sadržaj buffer pool-a pri isključivanju servisa</a:t>
            </a:r>
          </a:p>
          <a:p>
            <a:pPr algn="l">
              <a:lnSpc>
                <a:spcPts val="2100"/>
              </a:lnSpc>
            </a:pPr>
            <a:r>
              <a:rPr lang="en-US" sz="1800">
                <a:solidFill>
                  <a:srgbClr val="8BA8BE"/>
                </a:solidFill>
                <a:latin typeface="Courier New"/>
                <a:ea typeface="Courier New"/>
                <a:cs typeface="Courier New"/>
                <a:sym typeface="Courier New"/>
              </a:rPr>
              <a:t>Restaurira ga pri sledećem pokretanju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21840" y="3729304"/>
            <a:ext cx="2640501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Bez pg_prewarm → Rani upiti sporiji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21840" y="5252923"/>
            <a:ext cx="2906325" cy="64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 pg_prewarm → Sistem starta u warm cache stanju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6710677"/>
            <a:chOff x="0" y="0"/>
            <a:chExt cx="8630920" cy="6710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0"/>
                  </a:moveTo>
                  <a:lnTo>
                    <a:pt x="0" y="6583680"/>
                  </a:lnTo>
                  <a:lnTo>
                    <a:pt x="8503920" y="658368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502142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2142">
                  <a:moveTo>
                    <a:pt x="0" y="0"/>
                  </a:moveTo>
                  <a:lnTo>
                    <a:pt x="0" y="1060704"/>
                  </a:lnTo>
                  <a:lnTo>
                    <a:pt x="8502142" y="1060704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6583680"/>
                  </a:moveTo>
                  <a:lnTo>
                    <a:pt x="8503920" y="658368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503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3920">
                  <a:moveTo>
                    <a:pt x="0" y="1060704"/>
                  </a:moveTo>
                  <a:lnTo>
                    <a:pt x="8503920" y="1060704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8312401"/>
            <a:ext cx="17500597" cy="1626613"/>
            <a:chOff x="0" y="0"/>
            <a:chExt cx="17500600" cy="1626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73736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0">
                  <a:moveTo>
                    <a:pt x="0" y="0"/>
                  </a:moveTo>
                  <a:lnTo>
                    <a:pt x="0" y="1499616"/>
                  </a:lnTo>
                  <a:lnTo>
                    <a:pt x="17373600" y="1499616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0"/>
                  </a:moveTo>
                  <a:lnTo>
                    <a:pt x="0" y="1499616"/>
                  </a:lnTo>
                  <a:lnTo>
                    <a:pt x="128016" y="149961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737360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7373600">
                  <a:moveTo>
                    <a:pt x="0" y="1499616"/>
                  </a:moveTo>
                  <a:lnTo>
                    <a:pt x="17373600" y="1499616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28016" cy="1499616"/>
            </a:xfrm>
            <a:custGeom>
              <a:avLst/>
              <a:gdLst/>
              <a:ahLst/>
              <a:cxnLst/>
              <a:rect r="r" b="b" t="t" l="l"/>
              <a:pathLst>
                <a:path h="1499616" w="128016">
                  <a:moveTo>
                    <a:pt x="0" y="1499616"/>
                  </a:moveTo>
                  <a:lnTo>
                    <a:pt x="128016" y="1499616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54817" y="1490977"/>
            <a:ext cx="8630917" cy="6710677"/>
            <a:chOff x="0" y="0"/>
            <a:chExt cx="8630920" cy="6710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0"/>
                  </a:moveTo>
                  <a:lnTo>
                    <a:pt x="0" y="6583680"/>
                  </a:lnTo>
                  <a:lnTo>
                    <a:pt x="8503920" y="658368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8502142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2142">
                  <a:moveTo>
                    <a:pt x="0" y="0"/>
                  </a:moveTo>
                  <a:lnTo>
                    <a:pt x="0" y="1060704"/>
                  </a:lnTo>
                  <a:lnTo>
                    <a:pt x="8502142" y="1060704"/>
                  </a:lnTo>
                  <a:lnTo>
                    <a:pt x="8502142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85039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503920">
                  <a:moveTo>
                    <a:pt x="0" y="6583680"/>
                  </a:moveTo>
                  <a:lnTo>
                    <a:pt x="8503920" y="658368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8503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8503920">
                  <a:moveTo>
                    <a:pt x="0" y="1060704"/>
                  </a:moveTo>
                  <a:lnTo>
                    <a:pt x="8503920" y="1060704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31520" y="205930"/>
            <a:ext cx="10969828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Caching mehanizmi — OLTP vs OLAP workload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520" y="1722444"/>
            <a:ext cx="5119126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OLTP — Transakcioni sistemi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2640" y="1722444"/>
            <a:ext cx="4595832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OLAP — Analitički sistemi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6384" y="4561999"/>
            <a:ext cx="7436348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Keširanje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Visok hit ratio lako dostižan — radni skup podataka je mali i lako staje u shared_buffers. LRU politika dobro funkcioniše.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6384" y="2879503"/>
            <a:ext cx="7645879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Karakteristike upita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Mali, česti upiti koji pristupaju istim redovima i stranicama. Visoka konkurentnost, kratke transakcije.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384" y="6244495"/>
            <a:ext cx="7816729" cy="166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Preporuka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shared_buffers = 25% RAM. 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Indeksi na svim kolonama koje se često pretražuju. </a:t>
            </a: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Cilj: hit rate &gt; 99%.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47504" y="4466749"/>
            <a:ext cx="7702639" cy="31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9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Keširanje</a:t>
            </a:r>
          </a:p>
          <a:p>
            <a:pPr algn="l">
              <a:lnSpc>
                <a:spcPts val="366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Teže postići visok hit ratio — radni skup moze biti veći od</a:t>
            </a:r>
          </a:p>
          <a:p>
            <a:pPr algn="l">
              <a:lnSpc>
                <a:spcPts val="1581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shared_buffers. Seq scan moze izazvati cache pollution i potisnuti</a:t>
            </a:r>
          </a:p>
          <a:p>
            <a:pPr algn="l">
              <a:lnSpc>
                <a:spcPts val="366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korisne stranice (LRU flooding).</a:t>
            </a:r>
          </a:p>
          <a:p>
            <a:pPr algn="l">
              <a:lnSpc>
                <a:spcPts val="3669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Preporuka</a:t>
            </a:r>
          </a:p>
          <a:p>
            <a:pPr algn="l">
              <a:lnSpc>
                <a:spcPts val="366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Povećati shared_buffers i effective_cache_size. Koristiti</a:t>
            </a:r>
          </a:p>
          <a:p>
            <a:pPr algn="l">
              <a:lnSpc>
                <a:spcPts val="1581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particionisanje tabela. PostgreSQL ring buffer strategija štiti keš od</a:t>
            </a:r>
          </a:p>
          <a:p>
            <a:pPr algn="l">
              <a:lnSpc>
                <a:spcPts val="3669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seq scan zagadjenja.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47504" y="2879503"/>
            <a:ext cx="7768866" cy="128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Karakteristike upita</a:t>
            </a:r>
          </a:p>
          <a:p>
            <a:pPr algn="l" rtl="true">
              <a:lnSpc>
                <a:spcPts val="2624"/>
              </a:lnSpc>
            </a:pPr>
          </a:p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Retki, obimni upiti koji skeniraju veliku količinu podataka. Full table scan je čest i nezaobilazan.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520" y="8864079"/>
            <a:ext cx="17027686" cy="102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4"/>
              </a:lnSpc>
            </a:pPr>
            <a:r>
              <a:rPr lang="en-US" sz="21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Kada PostgreSQL detektuje sekvencijalni sken velike tabele, koristi mali kružni bafer od svega 256 KB umesto celog buffer pool-a. Na taj način, stranice koje se čitaju tokom seq scan-a ne istiskuju aktivne stranice iz glavnog keša — OLTP i OLAP upiti mogu koegzistirati bez međusobnog zagađivanja keša.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8475459"/>
            <a:ext cx="446230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Ring Buffer strategija (PostgreSQL)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137" y="8129521"/>
            <a:ext cx="10113502" cy="1317698"/>
            <a:chOff x="0" y="0"/>
            <a:chExt cx="10113505" cy="1317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9986015" cy="1190755"/>
            </a:xfrm>
            <a:custGeom>
              <a:avLst/>
              <a:gdLst/>
              <a:ahLst/>
              <a:cxnLst/>
              <a:rect r="r" b="b" t="t" l="l"/>
              <a:pathLst>
                <a:path h="1190755" w="9986015">
                  <a:moveTo>
                    <a:pt x="0" y="0"/>
                  </a:moveTo>
                  <a:lnTo>
                    <a:pt x="0" y="1190755"/>
                  </a:lnTo>
                  <a:lnTo>
                    <a:pt x="9986015" y="1190755"/>
                  </a:lnTo>
                  <a:lnTo>
                    <a:pt x="9986015" y="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9986524" cy="1190755"/>
            </a:xfrm>
            <a:custGeom>
              <a:avLst/>
              <a:gdLst/>
              <a:ahLst/>
              <a:cxnLst/>
              <a:rect r="r" b="b" t="t" l="l"/>
              <a:pathLst>
                <a:path h="1190755" w="9986524">
                  <a:moveTo>
                    <a:pt x="0" y="1190755"/>
                  </a:moveTo>
                  <a:lnTo>
                    <a:pt x="9986524" y="1190755"/>
                  </a:lnTo>
                  <a:lnTo>
                    <a:pt x="9986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137" y="6575422"/>
            <a:ext cx="8560813" cy="1315336"/>
            <a:chOff x="0" y="0"/>
            <a:chExt cx="8560816" cy="13153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433436" cy="1188339"/>
            </a:xfrm>
            <a:custGeom>
              <a:avLst/>
              <a:gdLst/>
              <a:ahLst/>
              <a:cxnLst/>
              <a:rect r="r" b="b" t="t" l="l"/>
              <a:pathLst>
                <a:path h="1188339" w="8433436">
                  <a:moveTo>
                    <a:pt x="0" y="0"/>
                  </a:moveTo>
                  <a:lnTo>
                    <a:pt x="0" y="1188339"/>
                  </a:lnTo>
                  <a:lnTo>
                    <a:pt x="8433436" y="1188339"/>
                  </a:lnTo>
                  <a:lnTo>
                    <a:pt x="843343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433436" cy="1188339"/>
            </a:xfrm>
            <a:custGeom>
              <a:avLst/>
              <a:gdLst/>
              <a:ahLst/>
              <a:cxnLst/>
              <a:rect r="r" b="b" t="t" l="l"/>
              <a:pathLst>
                <a:path h="1188339" w="8433436">
                  <a:moveTo>
                    <a:pt x="0" y="1188339"/>
                  </a:moveTo>
                  <a:lnTo>
                    <a:pt x="8433436" y="1188339"/>
                  </a:lnTo>
                  <a:lnTo>
                    <a:pt x="8433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5137" y="4998415"/>
            <a:ext cx="7476439" cy="1392736"/>
            <a:chOff x="0" y="0"/>
            <a:chExt cx="7476439" cy="1392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7347209" cy="1265679"/>
            </a:xfrm>
            <a:custGeom>
              <a:avLst/>
              <a:gdLst/>
              <a:ahLst/>
              <a:cxnLst/>
              <a:rect r="r" b="b" t="t" l="l"/>
              <a:pathLst>
                <a:path h="1265679" w="7347209">
                  <a:moveTo>
                    <a:pt x="0" y="0"/>
                  </a:moveTo>
                  <a:lnTo>
                    <a:pt x="7347209" y="0"/>
                  </a:lnTo>
                  <a:lnTo>
                    <a:pt x="7347209" y="1265679"/>
                  </a:lnTo>
                  <a:lnTo>
                    <a:pt x="0" y="1265679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7349495" cy="1265679"/>
            </a:xfrm>
            <a:custGeom>
              <a:avLst/>
              <a:gdLst/>
              <a:ahLst/>
              <a:cxnLst/>
              <a:rect r="r" b="b" t="t" l="l"/>
              <a:pathLst>
                <a:path h="1265679" w="7349495">
                  <a:moveTo>
                    <a:pt x="0" y="1265679"/>
                  </a:moveTo>
                  <a:lnTo>
                    <a:pt x="7349495" y="1265679"/>
                  </a:lnTo>
                  <a:lnTo>
                    <a:pt x="73494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5137" y="3387319"/>
            <a:ext cx="6346688" cy="1504217"/>
            <a:chOff x="0" y="0"/>
            <a:chExt cx="6346685" cy="15042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6218937" cy="1377186"/>
            </a:xfrm>
            <a:custGeom>
              <a:avLst/>
              <a:gdLst/>
              <a:ahLst/>
              <a:cxnLst/>
              <a:rect r="r" b="b" t="t" l="l"/>
              <a:pathLst>
                <a:path h="1377186" w="6218937">
                  <a:moveTo>
                    <a:pt x="0" y="0"/>
                  </a:moveTo>
                  <a:lnTo>
                    <a:pt x="6218937" y="0"/>
                  </a:lnTo>
                  <a:lnTo>
                    <a:pt x="6218937" y="1377186"/>
                  </a:lnTo>
                  <a:lnTo>
                    <a:pt x="0" y="1377186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6219699" cy="1377186"/>
            </a:xfrm>
            <a:custGeom>
              <a:avLst/>
              <a:gdLst/>
              <a:ahLst/>
              <a:cxnLst/>
              <a:rect r="r" b="b" t="t" l="l"/>
              <a:pathLst>
                <a:path h="1377186" w="6219699">
                  <a:moveTo>
                    <a:pt x="0" y="1377186"/>
                  </a:moveTo>
                  <a:lnTo>
                    <a:pt x="6219699" y="1377186"/>
                  </a:lnTo>
                  <a:lnTo>
                    <a:pt x="6219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40817" y="2899153"/>
            <a:ext cx="6162037" cy="2138677"/>
            <a:chOff x="0" y="0"/>
            <a:chExt cx="6162040" cy="2138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0817" y="5240017"/>
            <a:ext cx="6162037" cy="2138677"/>
            <a:chOff x="0" y="0"/>
            <a:chExt cx="6162040" cy="2138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40817" y="7580881"/>
            <a:ext cx="6162037" cy="2138677"/>
            <a:chOff x="0" y="0"/>
            <a:chExt cx="6162040" cy="2138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0"/>
                  </a:moveTo>
                  <a:lnTo>
                    <a:pt x="0" y="2011680"/>
                  </a:lnTo>
                  <a:lnTo>
                    <a:pt x="6035039" y="2011680"/>
                  </a:lnTo>
                  <a:lnTo>
                    <a:pt x="6035039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6035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39">
                  <a:moveTo>
                    <a:pt x="0" y="2011680"/>
                  </a:moveTo>
                  <a:lnTo>
                    <a:pt x="6035039" y="2011680"/>
                  </a:lnTo>
                  <a:lnTo>
                    <a:pt x="6035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31520" y="205930"/>
            <a:ext cx="11726970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Velicina tabele vs shared_buffers — kljucni faktor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8640" y="1743189"/>
            <a:ext cx="16650538" cy="81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599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Kada tabela staje u shared_buffers, disk I/O je minimalan cak i pri prvom upitu. Kada tabela premašuje buffer pool, sistem postaje kriticki zavisan od stanja kesa.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2970667"/>
            <a:ext cx="3679908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Poređenje iz naših testova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5800" y="8215617"/>
            <a:ext cx="337567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shared_buffers preporuke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8696" y="8566747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800" y="6741528"/>
            <a:ext cx="356695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LRU evikcija postaje vidljiva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12219" y="7039061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8096" y="3630663"/>
            <a:ext cx="521798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Mala baza (67 MB &lt; 128 MB buffer pool)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8643" y="4062689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1520" y="5169903"/>
            <a:ext cx="551628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Velika baza (287 MB &gt; 128 MB buffer pool)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53429" y="5603272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1520" y="4100789"/>
            <a:ext cx="5829681" cy="69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diskread≈0 pri cold cache|warm lako dostižan | razlika minimalna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1520" y="5603272"/>
            <a:ext cx="6257627" cy="42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cold cache: 25.792 diskread,203ms|warm cache: 0 disk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1520" y="5936647"/>
            <a:ext cx="2711091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read, 3 ms | razlika 64×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5800" y="7039061"/>
            <a:ext cx="7001470" cy="42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Stranice učitane SeqScan-om mogu biti izbačene pre ponovne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5800" y="7372436"/>
            <a:ext cx="5659936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upotrebe — cache pollution pri velikim tabelama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5800" y="8566747"/>
            <a:ext cx="9410254" cy="42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Početna vrednost:25% RAM-a. Dedikovan server: do 40%. Promena zahteva restart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5800" y="8900122"/>
            <a:ext cx="1617669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PostgreSQL-a.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60837" y="8776297"/>
            <a:ext cx="1756239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shared_buffers konfiguracija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97426" y="4094569"/>
            <a:ext cx="2089737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brže warm vs cold (velika baza)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98900" y="6435433"/>
            <a:ext cx="2290496" cy="70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tabela &gt; buffer pool — pravi I/O vidljiv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45844" y="2968466"/>
            <a:ext cx="117496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64×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09755" y="5309330"/>
            <a:ext cx="247251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287 MB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509755" y="7650194"/>
            <a:ext cx="247251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128 MB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6162037"/>
            <a:chOff x="0" y="0"/>
            <a:chExt cx="8630920" cy="6162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0491" cy="6035040"/>
            </a:xfrm>
            <a:custGeom>
              <a:avLst/>
              <a:gdLst/>
              <a:ahLst/>
              <a:cxnLst/>
              <a:rect r="r" b="b" t="t" l="l"/>
              <a:pathLst>
                <a:path h="6035040" w="8500491">
                  <a:moveTo>
                    <a:pt x="0" y="0"/>
                  </a:moveTo>
                  <a:lnTo>
                    <a:pt x="0" y="6035040"/>
                  </a:lnTo>
                  <a:lnTo>
                    <a:pt x="8500491" y="6035040"/>
                  </a:lnTo>
                  <a:lnTo>
                    <a:pt x="8500491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0" y="914400"/>
                  </a:lnTo>
                  <a:lnTo>
                    <a:pt x="8503920" y="91440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7820" y="5092700"/>
              <a:ext cx="7954010" cy="768096"/>
            </a:xfrm>
            <a:custGeom>
              <a:avLst/>
              <a:gdLst/>
              <a:ahLst/>
              <a:cxnLst/>
              <a:rect r="r" b="b" t="t" l="l"/>
              <a:pathLst>
                <a:path h="768096" w="7954010">
                  <a:moveTo>
                    <a:pt x="0" y="0"/>
                  </a:moveTo>
                  <a:lnTo>
                    <a:pt x="0" y="768096"/>
                  </a:lnTo>
                  <a:lnTo>
                    <a:pt x="7954010" y="768096"/>
                  </a:lnTo>
                  <a:lnTo>
                    <a:pt x="795401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503920" cy="6035040"/>
            </a:xfrm>
            <a:custGeom>
              <a:avLst/>
              <a:gdLst/>
              <a:ahLst/>
              <a:cxnLst/>
              <a:rect r="r" b="b" t="t" l="l"/>
              <a:pathLst>
                <a:path h="6035040" w="8503920">
                  <a:moveTo>
                    <a:pt x="0" y="6035040"/>
                  </a:moveTo>
                  <a:lnTo>
                    <a:pt x="8503920" y="6035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914400"/>
                  </a:moveTo>
                  <a:lnTo>
                    <a:pt x="8503920" y="91440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7820" y="5092700"/>
              <a:ext cx="7955280" cy="768096"/>
            </a:xfrm>
            <a:custGeom>
              <a:avLst/>
              <a:gdLst/>
              <a:ahLst/>
              <a:cxnLst/>
              <a:rect r="r" b="b" t="t" l="l"/>
              <a:pathLst>
                <a:path h="768096" w="7955280">
                  <a:moveTo>
                    <a:pt x="0" y="768096"/>
                  </a:moveTo>
                  <a:lnTo>
                    <a:pt x="7955280" y="768096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54817" y="1490977"/>
            <a:ext cx="8630917" cy="6162037"/>
            <a:chOff x="0" y="0"/>
            <a:chExt cx="8630920" cy="6162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500491" cy="6035040"/>
            </a:xfrm>
            <a:custGeom>
              <a:avLst/>
              <a:gdLst/>
              <a:ahLst/>
              <a:cxnLst/>
              <a:rect r="r" b="b" t="t" l="l"/>
              <a:pathLst>
                <a:path h="6035040" w="8500491">
                  <a:moveTo>
                    <a:pt x="0" y="0"/>
                  </a:moveTo>
                  <a:lnTo>
                    <a:pt x="0" y="6035040"/>
                  </a:lnTo>
                  <a:lnTo>
                    <a:pt x="8500491" y="6035040"/>
                  </a:lnTo>
                  <a:lnTo>
                    <a:pt x="8500491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0" y="914400"/>
                  </a:lnTo>
                  <a:lnTo>
                    <a:pt x="8503920" y="91440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7820" y="5092700"/>
              <a:ext cx="7954010" cy="768096"/>
            </a:xfrm>
            <a:custGeom>
              <a:avLst/>
              <a:gdLst/>
              <a:ahLst/>
              <a:cxnLst/>
              <a:rect r="r" b="b" t="t" l="l"/>
              <a:pathLst>
                <a:path h="768096" w="7954010">
                  <a:moveTo>
                    <a:pt x="0" y="0"/>
                  </a:moveTo>
                  <a:lnTo>
                    <a:pt x="0" y="768096"/>
                  </a:lnTo>
                  <a:lnTo>
                    <a:pt x="7954010" y="768096"/>
                  </a:lnTo>
                  <a:lnTo>
                    <a:pt x="7954010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503920" cy="6035040"/>
            </a:xfrm>
            <a:custGeom>
              <a:avLst/>
              <a:gdLst/>
              <a:ahLst/>
              <a:cxnLst/>
              <a:rect r="r" b="b" t="t" l="l"/>
              <a:pathLst>
                <a:path h="6035040" w="8503920">
                  <a:moveTo>
                    <a:pt x="0" y="6035040"/>
                  </a:moveTo>
                  <a:lnTo>
                    <a:pt x="8503920" y="603504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914400"/>
                  </a:moveTo>
                  <a:lnTo>
                    <a:pt x="8503920" y="91440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7820" y="5092700"/>
              <a:ext cx="7955280" cy="768096"/>
            </a:xfrm>
            <a:custGeom>
              <a:avLst/>
              <a:gdLst/>
              <a:ahLst/>
              <a:cxnLst/>
              <a:rect r="r" b="b" t="t" l="l"/>
              <a:pathLst>
                <a:path h="768096" w="7955280">
                  <a:moveTo>
                    <a:pt x="0" y="768096"/>
                  </a:moveTo>
                  <a:lnTo>
                    <a:pt x="7955280" y="768096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31520" y="205930"/>
            <a:ext cx="4074843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Testno okruženje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520" y="1665294"/>
            <a:ext cx="1989592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Manja baza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2640" y="1665294"/>
            <a:ext cx="1721672" cy="60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0F1B2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Veća baza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2743200"/>
            <a:ext cx="9219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Tabela: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2960" y="3657600"/>
            <a:ext cx="102331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Redova: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4572000"/>
            <a:ext cx="107204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Veličina: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5486400"/>
            <a:ext cx="19994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shared_buffers: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7200" y="7777467"/>
            <a:ext cx="11811381" cy="152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b="true" sz="2400">
                <a:solidFill>
                  <a:srgbClr val="8BA8B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Kreiranje tabela i testni upiti:</a:t>
            </a:r>
          </a:p>
          <a:p>
            <a:pPr algn="l">
              <a:lnSpc>
                <a:spcPts val="3455"/>
              </a:lnSpc>
            </a:pPr>
            <a:r>
              <a:rPr lang="en-US" sz="1999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test_cache (id BIGSERIAL PRIMARY KEY, value INT, payload TEXT); INSERT INTO test_cache VALUES ... generate_series(1, 500000);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40480" y="4583163"/>
            <a:ext cx="83143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67 MB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40480" y="5497563"/>
            <a:ext cx="98900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128 MB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40480" y="2754363"/>
            <a:ext cx="138795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test_cache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40480" y="3668763"/>
            <a:ext cx="200032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500.000 redova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84080" y="2743200"/>
            <a:ext cx="9219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Tabela: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84080" y="3657600"/>
            <a:ext cx="102331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Redova: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84080" y="4572000"/>
            <a:ext cx="107204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Veličina: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4080" y="5486400"/>
            <a:ext cx="19994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shared_buffers: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01600" y="4583163"/>
            <a:ext cx="98900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287 MB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01600" y="5497563"/>
            <a:ext cx="98900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128 MB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01600" y="2754363"/>
            <a:ext cx="218705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test_cache_large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01600" y="3668763"/>
            <a:ext cx="224093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3.000.000 redova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6721507"/>
            <a:ext cx="5956430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Staje u buffer pool → warm cache lako dostižan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75520" y="6721507"/>
            <a:ext cx="5712257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 Premašuje buffer pool → pravi disk I/O vidljiv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57200" y="9387916"/>
            <a:ext cx="2020510" cy="33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DISCARD ALL;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742905" y="9387916"/>
            <a:ext cx="4506982" cy="33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-- resetovanje keša pre testa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7200" y="9826828"/>
            <a:ext cx="10878903" cy="33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B4D8"/>
                </a:solidFill>
                <a:latin typeface="Courier New"/>
                <a:ea typeface="Courier New"/>
                <a:cs typeface="Courier New"/>
                <a:sym typeface="Courier New"/>
              </a:rPr>
              <a:t>EXPLAIN (ANALYZE, BUFFERS) SELECT * FROM test_cache WHERE value = 500;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6337297"/>
            <a:ext cx="17500597" cy="1132837"/>
            <a:chOff x="0" y="0"/>
            <a:chExt cx="17500600" cy="1132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3697" y="7544305"/>
            <a:ext cx="17500597" cy="1132837"/>
            <a:chOff x="0" y="0"/>
            <a:chExt cx="17500600" cy="1132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8751313"/>
            <a:ext cx="17500597" cy="1132837"/>
            <a:chOff x="0" y="0"/>
            <a:chExt cx="17500600" cy="113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1947920"/>
            <a:ext cx="13973175" cy="3190875"/>
            <a:chOff x="0" y="0"/>
            <a:chExt cx="18630900" cy="425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30900" cy="4254500"/>
            </a:xfrm>
            <a:custGeom>
              <a:avLst/>
              <a:gdLst/>
              <a:ahLst/>
              <a:cxnLst/>
              <a:rect r="r" b="b" t="t" l="l"/>
              <a:pathLst>
                <a:path h="4254500" w="18630900">
                  <a:moveTo>
                    <a:pt x="0" y="0"/>
                  </a:moveTo>
                  <a:lnTo>
                    <a:pt x="18630900" y="0"/>
                  </a:lnTo>
                  <a:lnTo>
                    <a:pt x="18630900" y="4254500"/>
                  </a:lnTo>
                  <a:lnTo>
                    <a:pt x="0" y="425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3697" y="6337297"/>
            <a:ext cx="17500597" cy="1132837"/>
            <a:chOff x="0" y="0"/>
            <a:chExt cx="17500600" cy="1132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3697" y="7544305"/>
            <a:ext cx="17500597" cy="1132837"/>
            <a:chOff x="0" y="0"/>
            <a:chExt cx="17500600" cy="1132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3697" y="8751313"/>
            <a:ext cx="17500597" cy="1132837"/>
            <a:chOff x="0" y="0"/>
            <a:chExt cx="17500600" cy="113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31520" y="205930"/>
            <a:ext cx="10499560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Rezultati — Mala baza (500k redova, 67 MB)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2960" y="7863078"/>
            <a:ext cx="996613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D6A0"/>
                </a:solidFill>
                <a:latin typeface="Calibri (MS)"/>
                <a:ea typeface="Calibri (MS)"/>
                <a:cs typeface="Calibri (MS)"/>
                <a:sym typeface="Calibri (MS)"/>
              </a:rPr>
              <a:t>Warm cache: 0.68 ms vs cold 1.56 ms — isti plan, samo stanje keša je drugačije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2960" y="6656070"/>
            <a:ext cx="1070541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Seq Scan čita 11× više stranica (5.682 vs 510) — ali baza staje u keš, pa nema disk I/O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9070086"/>
            <a:ext cx="1087893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Optimizator ne menja plan između izvršavanja — jedina promena je buffer pool stanje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7716517"/>
            <a:chOff x="0" y="0"/>
            <a:chExt cx="8630920" cy="7716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3666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666">
                  <a:moveTo>
                    <a:pt x="0" y="0"/>
                  </a:moveTo>
                  <a:lnTo>
                    <a:pt x="0" y="7589520"/>
                  </a:lnTo>
                  <a:lnTo>
                    <a:pt x="8503666" y="7589520"/>
                  </a:lnTo>
                  <a:lnTo>
                    <a:pt x="8503666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503031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031">
                  <a:moveTo>
                    <a:pt x="0" y="0"/>
                  </a:moveTo>
                  <a:lnTo>
                    <a:pt x="0" y="950976"/>
                  </a:lnTo>
                  <a:lnTo>
                    <a:pt x="8503031" y="950976"/>
                  </a:lnTo>
                  <a:lnTo>
                    <a:pt x="8503031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0"/>
                  </a:moveTo>
                  <a:lnTo>
                    <a:pt x="0" y="694944"/>
                  </a:lnTo>
                  <a:lnTo>
                    <a:pt x="7955280" y="694944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503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920">
                  <a:moveTo>
                    <a:pt x="0" y="7589520"/>
                  </a:moveTo>
                  <a:lnTo>
                    <a:pt x="8503920" y="758952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503920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920">
                  <a:moveTo>
                    <a:pt x="0" y="950976"/>
                  </a:moveTo>
                  <a:lnTo>
                    <a:pt x="8503920" y="95097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694944"/>
                  </a:moveTo>
                  <a:lnTo>
                    <a:pt x="7955280" y="694944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54817" y="1490977"/>
            <a:ext cx="8630917" cy="7716517"/>
            <a:chOff x="0" y="0"/>
            <a:chExt cx="8630920" cy="7716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503666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666">
                  <a:moveTo>
                    <a:pt x="0" y="0"/>
                  </a:moveTo>
                  <a:lnTo>
                    <a:pt x="0" y="7589520"/>
                  </a:lnTo>
                  <a:lnTo>
                    <a:pt x="8503666" y="7589520"/>
                  </a:lnTo>
                  <a:lnTo>
                    <a:pt x="8503666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8503031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031">
                  <a:moveTo>
                    <a:pt x="0" y="0"/>
                  </a:moveTo>
                  <a:lnTo>
                    <a:pt x="0" y="950976"/>
                  </a:lnTo>
                  <a:lnTo>
                    <a:pt x="8503031" y="950976"/>
                  </a:lnTo>
                  <a:lnTo>
                    <a:pt x="8503031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0"/>
                  </a:moveTo>
                  <a:lnTo>
                    <a:pt x="0" y="694944"/>
                  </a:lnTo>
                  <a:lnTo>
                    <a:pt x="7955280" y="694944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503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920">
                  <a:moveTo>
                    <a:pt x="0" y="7589520"/>
                  </a:moveTo>
                  <a:lnTo>
                    <a:pt x="8503920" y="758952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8503920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920">
                  <a:moveTo>
                    <a:pt x="0" y="950976"/>
                  </a:moveTo>
                  <a:lnTo>
                    <a:pt x="8503920" y="95097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694944"/>
                  </a:moveTo>
                  <a:lnTo>
                    <a:pt x="7955280" y="694944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31520" y="205930"/>
            <a:ext cx="9140000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Uticaj selektivnosti na plan izvršavanja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520" y="1838115"/>
            <a:ext cx="3964572" cy="51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F1B2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 value &lt; 200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2640" y="1838115"/>
            <a:ext cx="3964572" cy="51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F1B2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 value &lt; 800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3898392"/>
            <a:ext cx="62741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Plan: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2960" y="4922520"/>
            <a:ext cx="9257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Vreme: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5946648"/>
            <a:ext cx="137382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hit: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6970776"/>
            <a:ext cx="161034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read: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2874264"/>
            <a:ext cx="16170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Selektivnost: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66160" y="6981939"/>
            <a:ext cx="31514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66160" y="5957811"/>
            <a:ext cx="71332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5.706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66160" y="4933683"/>
            <a:ext cx="100297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27.3 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66160" y="2885427"/>
            <a:ext cx="158438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~20% tabele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66160" y="3776205"/>
            <a:ext cx="2567626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Bitmap Index Scan</a:t>
            </a:r>
          </a:p>
          <a:p>
            <a:pPr algn="l">
              <a:lnSpc>
                <a:spcPts val="2851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Bitmap Heap Scan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84080" y="3898392"/>
            <a:ext cx="62741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Plan: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84080" y="4922520"/>
            <a:ext cx="9257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Vreme: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4080" y="5946648"/>
            <a:ext cx="137382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hit: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84080" y="6970776"/>
            <a:ext cx="161034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read: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84080" y="2874264"/>
            <a:ext cx="16170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Selektivnost: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27280" y="6981939"/>
            <a:ext cx="15757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27280" y="5957811"/>
            <a:ext cx="713327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5.682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7280" y="4933683"/>
            <a:ext cx="100297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42.6 ms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27280" y="3909555"/>
            <a:ext cx="113792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Seq Scan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27280" y="2885427"/>
            <a:ext cx="158438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~80% tabele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9536" y="8289341"/>
            <a:ext cx="7551239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999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→ Indeks isplativ — grupisano čitanje heap blokova smanjuje nasumični I/O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20656" y="8394116"/>
            <a:ext cx="7741425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→ Index bi generisao previše nasumičnih pristupa — Seq Scan je efikasniji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7200" y="9305182"/>
            <a:ext cx="17024156" cy="37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3697" y="6337297"/>
            <a:ext cx="17500597" cy="1132837"/>
            <a:chOff x="0" y="0"/>
            <a:chExt cx="17500600" cy="1132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3697" y="7544305"/>
            <a:ext cx="17500597" cy="1132837"/>
            <a:chOff x="0" y="0"/>
            <a:chExt cx="17500600" cy="1132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6D6A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8751313"/>
            <a:ext cx="17500597" cy="1132837"/>
            <a:chOff x="0" y="0"/>
            <a:chExt cx="17500600" cy="113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2102529"/>
            <a:ext cx="15068550" cy="3409950"/>
            <a:chOff x="0" y="0"/>
            <a:chExt cx="20091400" cy="454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091400" cy="4546600"/>
            </a:xfrm>
            <a:custGeom>
              <a:avLst/>
              <a:gdLst/>
              <a:ahLst/>
              <a:cxnLst/>
              <a:rect r="r" b="b" t="t" l="l"/>
              <a:pathLst>
                <a:path h="4546600" w="20091400">
                  <a:moveTo>
                    <a:pt x="0" y="0"/>
                  </a:moveTo>
                  <a:lnTo>
                    <a:pt x="20091400" y="0"/>
                  </a:lnTo>
                  <a:lnTo>
                    <a:pt x="20091400" y="4546600"/>
                  </a:lnTo>
                  <a:lnTo>
                    <a:pt x="0" y="454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3697" y="6337297"/>
            <a:ext cx="17500597" cy="1132837"/>
            <a:chOff x="0" y="0"/>
            <a:chExt cx="17500600" cy="1132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3697" y="7544305"/>
            <a:ext cx="17500597" cy="1132837"/>
            <a:chOff x="0" y="0"/>
            <a:chExt cx="17500600" cy="1132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3697" y="8751313"/>
            <a:ext cx="17500597" cy="1132837"/>
            <a:chOff x="0" y="0"/>
            <a:chExt cx="17500600" cy="1132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31520" y="205930"/>
            <a:ext cx="10693232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Rezultati — Velika baza (3M redova, 287 MB)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2960" y="7863078"/>
            <a:ext cx="1069980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D6A0"/>
                </a:solidFill>
                <a:latin typeface="Calibri (MS)"/>
                <a:ea typeface="Calibri (MS)"/>
                <a:cs typeface="Calibri (MS)"/>
                <a:sym typeface="Calibri (MS)"/>
              </a:rPr>
              <a:t>Warm cache: 3.2 ms vs cold 20.2 ms — 6.4× brže, disk read pada na 0 (100% hit rate)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2960" y="6656070"/>
            <a:ext cx="1095938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Seq Scan bez indeksa čita 28.096 stranica — od toga 25.792 sa diska (hit rate samo 8%)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9070086"/>
            <a:ext cx="1151135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Indeks ubrzava 10× čak i pri hladnom kešu (20 ms vs 203 ms) — eliminisanjem 90% stranica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697" y="1490977"/>
            <a:ext cx="8630917" cy="7716517"/>
            <a:chOff x="0" y="0"/>
            <a:chExt cx="8630920" cy="7716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8503666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666">
                  <a:moveTo>
                    <a:pt x="0" y="0"/>
                  </a:moveTo>
                  <a:lnTo>
                    <a:pt x="0" y="7589520"/>
                  </a:lnTo>
                  <a:lnTo>
                    <a:pt x="8503666" y="7589520"/>
                  </a:lnTo>
                  <a:lnTo>
                    <a:pt x="8503666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8503031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031">
                  <a:moveTo>
                    <a:pt x="0" y="0"/>
                  </a:moveTo>
                  <a:lnTo>
                    <a:pt x="0" y="950976"/>
                  </a:lnTo>
                  <a:lnTo>
                    <a:pt x="8503031" y="950976"/>
                  </a:lnTo>
                  <a:lnTo>
                    <a:pt x="8503031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0"/>
                  </a:moveTo>
                  <a:lnTo>
                    <a:pt x="0" y="694944"/>
                  </a:lnTo>
                  <a:lnTo>
                    <a:pt x="7955280" y="694944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503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920">
                  <a:moveTo>
                    <a:pt x="0" y="7589520"/>
                  </a:moveTo>
                  <a:lnTo>
                    <a:pt x="8503920" y="758952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503920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920">
                  <a:moveTo>
                    <a:pt x="0" y="950976"/>
                  </a:moveTo>
                  <a:lnTo>
                    <a:pt x="8503920" y="95097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694944"/>
                  </a:moveTo>
                  <a:lnTo>
                    <a:pt x="7955280" y="694944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54817" y="1490977"/>
            <a:ext cx="8630917" cy="7716517"/>
            <a:chOff x="0" y="0"/>
            <a:chExt cx="8630920" cy="7716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8503666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666">
                  <a:moveTo>
                    <a:pt x="0" y="0"/>
                  </a:moveTo>
                  <a:lnTo>
                    <a:pt x="0" y="7589520"/>
                  </a:lnTo>
                  <a:lnTo>
                    <a:pt x="8503666" y="7589520"/>
                  </a:lnTo>
                  <a:lnTo>
                    <a:pt x="8503666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8503031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031">
                  <a:moveTo>
                    <a:pt x="0" y="0"/>
                  </a:moveTo>
                  <a:lnTo>
                    <a:pt x="0" y="950976"/>
                  </a:lnTo>
                  <a:lnTo>
                    <a:pt x="8503031" y="950976"/>
                  </a:lnTo>
                  <a:lnTo>
                    <a:pt x="8503031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0"/>
                  </a:moveTo>
                  <a:lnTo>
                    <a:pt x="0" y="694944"/>
                  </a:lnTo>
                  <a:lnTo>
                    <a:pt x="7955280" y="694944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8503920" cy="7589520"/>
            </a:xfrm>
            <a:custGeom>
              <a:avLst/>
              <a:gdLst/>
              <a:ahLst/>
              <a:cxnLst/>
              <a:rect r="r" b="b" t="t" l="l"/>
              <a:pathLst>
                <a:path h="7589520" w="8503920">
                  <a:moveTo>
                    <a:pt x="0" y="7589520"/>
                  </a:moveTo>
                  <a:lnTo>
                    <a:pt x="8503920" y="7589520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8503920" cy="950976"/>
            </a:xfrm>
            <a:custGeom>
              <a:avLst/>
              <a:gdLst/>
              <a:ahLst/>
              <a:cxnLst/>
              <a:rect r="r" b="b" t="t" l="l"/>
              <a:pathLst>
                <a:path h="950976" w="8503920">
                  <a:moveTo>
                    <a:pt x="0" y="950976"/>
                  </a:moveTo>
                  <a:lnTo>
                    <a:pt x="8503920" y="950976"/>
                  </a:lnTo>
                  <a:lnTo>
                    <a:pt x="8503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7820" y="6775196"/>
              <a:ext cx="7955280" cy="694944"/>
            </a:xfrm>
            <a:custGeom>
              <a:avLst/>
              <a:gdLst/>
              <a:ahLst/>
              <a:cxnLst/>
              <a:rect r="r" b="b" t="t" l="l"/>
              <a:pathLst>
                <a:path h="694944" w="7955280">
                  <a:moveTo>
                    <a:pt x="0" y="694944"/>
                  </a:moveTo>
                  <a:lnTo>
                    <a:pt x="7955280" y="694944"/>
                  </a:lnTo>
                  <a:lnTo>
                    <a:pt x="79552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31520" y="205930"/>
            <a:ext cx="11010729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Uticaj selektivnosti — Velika baza (3M redova)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520" y="1838115"/>
            <a:ext cx="3964572" cy="51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F1B2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 value &lt; 200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2640" y="1838115"/>
            <a:ext cx="3964572" cy="51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F1B2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 value &lt; 800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3898392"/>
            <a:ext cx="62741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Plan: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2960" y="4922520"/>
            <a:ext cx="9257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Vreme: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5946648"/>
            <a:ext cx="137382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hit: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6970776"/>
            <a:ext cx="161034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read: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2874264"/>
            <a:ext cx="16170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Selektivnost: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66160" y="5957811"/>
            <a:ext cx="47271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66160" y="6981939"/>
            <a:ext cx="87089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28.367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66160" y="4933683"/>
            <a:ext cx="116054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243.8 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66160" y="2885427"/>
            <a:ext cx="158438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~60% tabele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66160" y="3776205"/>
            <a:ext cx="2567626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Bitmap Index Scan</a:t>
            </a:r>
          </a:p>
          <a:p>
            <a:pPr algn="l">
              <a:lnSpc>
                <a:spcPts val="2851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Bitmap Heap Scan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84080" y="3898392"/>
            <a:ext cx="62741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Plan: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84080" y="4922520"/>
            <a:ext cx="92570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Vreme: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4080" y="5946648"/>
            <a:ext cx="137382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hit: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84080" y="6970776"/>
            <a:ext cx="161034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read: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84080" y="2874264"/>
            <a:ext cx="161702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Selektivnost: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27280" y="5957811"/>
            <a:ext cx="87089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16.210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27280" y="6981939"/>
            <a:ext cx="87089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11.886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7280" y="3909555"/>
            <a:ext cx="113792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Seq Scan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27280" y="4933683"/>
            <a:ext cx="116054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918.4 ms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27280" y="2885427"/>
            <a:ext cx="158438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~80% tabele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9536" y="8289341"/>
            <a:ext cx="7567565" cy="63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999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→ Indeks koristi grupisano citanje, ali je 60% tabele previse — overhead indeksa vidljiv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20656" y="8394116"/>
            <a:ext cx="7609799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D166"/>
                </a:solidFill>
                <a:latin typeface="Calibri (MS)"/>
                <a:ea typeface="Calibri (MS)"/>
                <a:cs typeface="Calibri (MS)"/>
                <a:sym typeface="Calibri (MS)"/>
              </a:rPr>
              <a:t>→ Seq Scan ispravno bira optimizer — indeks bi bio sporiji za 80% tabele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12880" y="1609344"/>
            <a:ext cx="6217920" cy="2157984"/>
            <a:chOff x="0" y="0"/>
            <a:chExt cx="6217920" cy="21579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0"/>
                  </a:moveTo>
                  <a:lnTo>
                    <a:pt x="0" y="2157984"/>
                  </a:lnTo>
                  <a:lnTo>
                    <a:pt x="6217920" y="2157984"/>
                  </a:lnTo>
                  <a:lnTo>
                    <a:pt x="6217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12880" y="4133088"/>
            <a:ext cx="6217920" cy="2157984"/>
            <a:chOff x="0" y="0"/>
            <a:chExt cx="6217920" cy="21579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0"/>
                  </a:moveTo>
                  <a:lnTo>
                    <a:pt x="0" y="2157984"/>
                  </a:lnTo>
                  <a:lnTo>
                    <a:pt x="6217920" y="2157984"/>
                  </a:lnTo>
                  <a:lnTo>
                    <a:pt x="6217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3697" y="6593329"/>
            <a:ext cx="17500597" cy="3400549"/>
            <a:chOff x="0" y="0"/>
            <a:chExt cx="17500600" cy="34005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219180" y="6350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0"/>
                  </a:moveTo>
                  <a:lnTo>
                    <a:pt x="0" y="2157984"/>
                  </a:lnTo>
                  <a:lnTo>
                    <a:pt x="6217920" y="2157984"/>
                  </a:lnTo>
                  <a:lnTo>
                    <a:pt x="621792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2331212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0" y="1005840"/>
                  </a:lnTo>
                  <a:lnTo>
                    <a:pt x="17373600" y="100584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2331212"/>
              <a:ext cx="128016" cy="1005586"/>
            </a:xfrm>
            <a:custGeom>
              <a:avLst/>
              <a:gdLst/>
              <a:ahLst/>
              <a:cxnLst/>
              <a:rect r="r" b="b" t="t" l="l"/>
              <a:pathLst>
                <a:path h="1005586" w="128016">
                  <a:moveTo>
                    <a:pt x="0" y="0"/>
                  </a:moveTo>
                  <a:lnTo>
                    <a:pt x="0" y="1005586"/>
                  </a:lnTo>
                  <a:lnTo>
                    <a:pt x="128016" y="1005586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1208" y="1609344"/>
            <a:ext cx="10668000" cy="6848475"/>
            <a:chOff x="0" y="0"/>
            <a:chExt cx="14224000" cy="9131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24000" cy="9131300"/>
            </a:xfrm>
            <a:custGeom>
              <a:avLst/>
              <a:gdLst/>
              <a:ahLst/>
              <a:cxnLst/>
              <a:rect r="r" b="b" t="t" l="l"/>
              <a:pathLst>
                <a:path h="91313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8000" cy="1316736"/>
            <a:chOff x="0" y="0"/>
            <a:chExt cx="18288000" cy="13167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12880" y="1609344"/>
            <a:ext cx="6217920" cy="2157984"/>
            <a:chOff x="0" y="0"/>
            <a:chExt cx="6217920" cy="2157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2157984"/>
                  </a:moveTo>
                  <a:lnTo>
                    <a:pt x="6217920" y="2157984"/>
                  </a:lnTo>
                  <a:lnTo>
                    <a:pt x="6217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12880" y="4133088"/>
            <a:ext cx="6217920" cy="2157984"/>
            <a:chOff x="0" y="0"/>
            <a:chExt cx="6217920" cy="2157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2157984"/>
                  </a:moveTo>
                  <a:lnTo>
                    <a:pt x="6217920" y="2157984"/>
                  </a:lnTo>
                  <a:lnTo>
                    <a:pt x="6217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3697" y="6593329"/>
            <a:ext cx="17500597" cy="3400549"/>
            <a:chOff x="0" y="0"/>
            <a:chExt cx="17500600" cy="34005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219180" y="63500"/>
              <a:ext cx="62179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217920">
                  <a:moveTo>
                    <a:pt x="0" y="2157984"/>
                  </a:moveTo>
                  <a:lnTo>
                    <a:pt x="6217920" y="2157984"/>
                  </a:lnTo>
                  <a:lnTo>
                    <a:pt x="6217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2331212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1005840"/>
                  </a:moveTo>
                  <a:lnTo>
                    <a:pt x="17373600" y="100584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2331212"/>
              <a:ext cx="128016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8016">
                  <a:moveTo>
                    <a:pt x="0" y="1005840"/>
                  </a:moveTo>
                  <a:lnTo>
                    <a:pt x="128016" y="1005840"/>
                  </a:lnTo>
                  <a:lnTo>
                    <a:pt x="128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31520" y="205930"/>
            <a:ext cx="13560981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Mala vs Velika baza — kada buffer pool postaje presudan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1872" y="6852380"/>
            <a:ext cx="2427265" cy="180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b="true" sz="60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disk čitanja</a:t>
            </a:r>
          </a:p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Seq Scan (mala baza)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56030" y="4204811"/>
            <a:ext cx="156207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~64×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90869" y="5354155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06421" y="1804892"/>
            <a:ext cx="2479157" cy="180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b="true" sz="60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25.792</a:t>
            </a:r>
          </a:p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disk čitanja</a:t>
            </a:r>
          </a:p>
          <a:p>
            <a:pPr algn="ctr">
              <a:lnSpc>
                <a:spcPts val="2624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SeqScan cold(velika)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20530" y="3163786"/>
            <a:ext cx="64418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97369" y="5354155"/>
            <a:ext cx="2089737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bržewarm vscold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16009" y="5687530"/>
            <a:ext cx="1439723" cy="40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(velika baza)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9039225"/>
            <a:ext cx="16875976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E8F4F8"/>
                </a:solidFill>
                <a:latin typeface="Calibri (MS)"/>
                <a:ea typeface="Calibri (MS)"/>
                <a:cs typeface="Calibri (MS)"/>
                <a:sym typeface="Calibri (MS)"/>
              </a:rPr>
              <a:t>Kada baza premašuje shared_buffers, buffer pool postaje presudan — cold cache generiše masovan disk I/O, warm cache eliminiše ga potpuno. Razlika: 203 ms → 3 ms.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8414997" cy="1443733"/>
            <a:chOff x="0" y="0"/>
            <a:chExt cx="18415000" cy="1443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0"/>
                  </a:moveTo>
                  <a:lnTo>
                    <a:pt x="0" y="1316736"/>
                  </a:lnTo>
                  <a:lnTo>
                    <a:pt x="18288000" y="131673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8288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8288000">
                  <a:moveTo>
                    <a:pt x="0" y="1316736"/>
                  </a:moveTo>
                  <a:lnTo>
                    <a:pt x="18288000" y="1316736"/>
                  </a:lnTo>
                  <a:lnTo>
                    <a:pt x="1828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93697" y="1545841"/>
            <a:ext cx="17500597" cy="1315717"/>
            <a:chOff x="0" y="0"/>
            <a:chExt cx="17500600" cy="1315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20"/>
                  </a:lnTo>
                  <a:lnTo>
                    <a:pt x="17373600" y="118872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20"/>
                  </a:moveTo>
                  <a:lnTo>
                    <a:pt x="17373600" y="118872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20"/>
                  </a:moveTo>
                  <a:lnTo>
                    <a:pt x="950976" y="1188720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3697" y="2935729"/>
            <a:ext cx="17500597" cy="1315717"/>
            <a:chOff x="0" y="0"/>
            <a:chExt cx="17500600" cy="1315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20"/>
                  </a:lnTo>
                  <a:lnTo>
                    <a:pt x="17373600" y="118872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20"/>
                  </a:moveTo>
                  <a:lnTo>
                    <a:pt x="17373600" y="118872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20"/>
                  </a:moveTo>
                  <a:lnTo>
                    <a:pt x="950976" y="1188720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93697" y="4325617"/>
            <a:ext cx="17500597" cy="1315717"/>
            <a:chOff x="0" y="0"/>
            <a:chExt cx="17500600" cy="1315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19"/>
                  </a:lnTo>
                  <a:lnTo>
                    <a:pt x="17373600" y="1188719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0" y="1188719"/>
                  </a:lnTo>
                  <a:lnTo>
                    <a:pt x="950976" y="1188719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19"/>
                  </a:moveTo>
                  <a:lnTo>
                    <a:pt x="17373600" y="1188719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19"/>
                  </a:moveTo>
                  <a:lnTo>
                    <a:pt x="950976" y="1188719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3697" y="5715505"/>
            <a:ext cx="17500597" cy="1315717"/>
            <a:chOff x="0" y="0"/>
            <a:chExt cx="17500600" cy="1315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20"/>
                  </a:lnTo>
                  <a:lnTo>
                    <a:pt x="17373600" y="118872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0" y="1188720"/>
                  </a:lnTo>
                  <a:lnTo>
                    <a:pt x="950976" y="1188720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20"/>
                  </a:moveTo>
                  <a:lnTo>
                    <a:pt x="17373600" y="118872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20"/>
                  </a:moveTo>
                  <a:lnTo>
                    <a:pt x="950976" y="1188720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93697" y="7105393"/>
            <a:ext cx="17500597" cy="1315717"/>
            <a:chOff x="0" y="0"/>
            <a:chExt cx="17500600" cy="1315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20"/>
                  </a:lnTo>
                  <a:lnTo>
                    <a:pt x="17373600" y="118872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EF476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20"/>
                  </a:moveTo>
                  <a:lnTo>
                    <a:pt x="17373600" y="118872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20"/>
                  </a:moveTo>
                  <a:lnTo>
                    <a:pt x="950976" y="1188720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63503" y="8495281"/>
            <a:ext cx="18414997" cy="1855213"/>
            <a:chOff x="0" y="0"/>
            <a:chExt cx="18415000" cy="185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207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0"/>
                  </a:moveTo>
                  <a:lnTo>
                    <a:pt x="0" y="1188720"/>
                  </a:lnTo>
                  <a:lnTo>
                    <a:pt x="17373600" y="1188720"/>
                  </a:lnTo>
                  <a:lnTo>
                    <a:pt x="17373600" y="0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207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06D6A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1197356"/>
              <a:ext cx="18288000" cy="594360"/>
            </a:xfrm>
            <a:custGeom>
              <a:avLst/>
              <a:gdLst/>
              <a:ahLst/>
              <a:cxnLst/>
              <a:rect r="r" b="b" t="t" l="l"/>
              <a:pathLst>
                <a:path h="594360" w="18288000">
                  <a:moveTo>
                    <a:pt x="0" y="0"/>
                  </a:moveTo>
                  <a:lnTo>
                    <a:pt x="0" y="594360"/>
                  </a:lnTo>
                  <a:lnTo>
                    <a:pt x="18288000" y="59436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20700" y="63500"/>
              <a:ext cx="1737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7373600">
                  <a:moveTo>
                    <a:pt x="0" y="1188720"/>
                  </a:moveTo>
                  <a:lnTo>
                    <a:pt x="17373600" y="1188720"/>
                  </a:lnTo>
                  <a:lnTo>
                    <a:pt x="1737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20700" y="63500"/>
              <a:ext cx="95097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0976">
                  <a:moveTo>
                    <a:pt x="0" y="1188720"/>
                  </a:moveTo>
                  <a:lnTo>
                    <a:pt x="950976" y="1188720"/>
                  </a:lnTo>
                  <a:lnTo>
                    <a:pt x="950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0" y="1197356"/>
              <a:ext cx="18288000" cy="594360"/>
            </a:xfrm>
            <a:custGeom>
              <a:avLst/>
              <a:gdLst/>
              <a:ahLst/>
              <a:cxnLst/>
              <a:rect r="r" b="b" t="t" l="l"/>
              <a:pathLst>
                <a:path h="594360" w="18288000">
                  <a:moveTo>
                    <a:pt x="0" y="0"/>
                  </a:moveTo>
                  <a:lnTo>
                    <a:pt x="0" y="594360"/>
                  </a:lnTo>
                  <a:lnTo>
                    <a:pt x="18288000" y="59436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31520" y="205930"/>
            <a:ext cx="2211896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b="true" sz="4399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Zaključak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6769" y="1838306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6769" y="3228194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6769" y="4618082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FFD1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6769" y="6007970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6769" y="7397858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EF476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16769" y="8787746"/>
            <a:ext cx="236363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6D6A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9344" y="1967865"/>
            <a:ext cx="1244540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Buffer pool eliminiše disk I/O — razlika cold vs warm može biti i 64× (203ms → 3ms na velikoj bazi)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09344" y="3357753"/>
            <a:ext cx="1280669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Indeks smanjuje broj čitanih stranica 11× (5.682 → 510) — direktno smanjujući pritisak na buffer pool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09344" y="7527417"/>
            <a:ext cx="1333194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Veličina baze vs shared_buffers je presudna — 67MB staje u keš, 287MB ne → LRU eviction postaje vidljiv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09344" y="6137529"/>
            <a:ext cx="13321313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Plan ostaje isti pri ponavljanju upita — jedina promena performansi je stanje buffer pool-a (cold vs warm)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09344" y="4747641"/>
            <a:ext cx="13540978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optimizer dinamički bira plan — Bitmap Scan za srednju selektivnost, Seq Scan za visoku (&gt;80%)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09344" y="8917305"/>
            <a:ext cx="14664185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Buffer pool i optimizer su odvojeni ali komplementarni mehanizmi — optimizer bira plan, buffer pool minimizuje I/O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092835" y="9745142"/>
            <a:ext cx="10304231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8BA8BE"/>
                </a:solidFill>
                <a:latin typeface="Calibri (MS)"/>
                <a:ea typeface="Calibri (MS)"/>
                <a:cs typeface="Calibri (MS)"/>
                <a:sym typeface="Calibri (MS)"/>
              </a:rPr>
              <a:t>Buffer Pool and Caching Mechanism | Katarina Adamović | Elektronski fakultet Niš | maj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DAHJc1XBNGo</dc:identifier>
  <dcterms:modified xsi:type="dcterms:W3CDTF">2011-08-01T06:04:30Z</dcterms:modified>
  <cp:revision>1</cp:revision>
  <dc:title>Student: Katarina Adamović | br. ind. 2173 Predmet: Sistemi za upravljanje bazama podataka Modul: Bezbednost računarskih sistema Mentor: Prof. dr Aleksandar Stanimirović</dc:title>
</cp:coreProperties>
</file>