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8288000" cy="10287000"/>
  <p:notesSz cx="6858000" cy="9144000"/>
  <p:embeddedFontLst>
    <p:embeddedFont>
      <p:font typeface="Calibri (MS) Bold" charset="1" panose="020F0702030404030204"/>
      <p:regular r:id="rId24"/>
    </p:embeddedFont>
    <p:embeddedFont>
      <p:font typeface="Calibri (MS)" charset="1" panose="020F0502020204030204"/>
      <p:regular r:id="rId25"/>
    </p:embeddedFont>
    <p:embeddedFont>
      <p:font typeface="Calibri (MS) Italics" charset="1" panose="020F05020202040A0204"/>
      <p:regular r:id="rId26"/>
    </p:embeddedFont>
    <p:embeddedFont>
      <p:font typeface="Calibri (MS) Bold Italics" charset="1" panose="020F07020304040A0204"/>
      <p:regular r:id="rId27"/>
    </p:embeddedFont>
    <p:embeddedFont>
      <p:font typeface="Courier New" charset="1" panose="02070309020205020404"/>
      <p:regular r:id="rId28"/>
    </p:embeddedFont>
    <p:embeddedFont>
      <p:font typeface="Noto Sans" charset="1" panose="020B0502040504020204"/>
      <p:regular r:id="rId29"/>
    </p:embeddedFont>
    <p:embeddedFont>
      <p:font typeface="Courier New Bold" charset="1" panose="02070609020205020404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3503" y="-63503"/>
            <a:ext cx="456181" cy="10413997"/>
            <a:chOff x="0" y="0"/>
            <a:chExt cx="456184" cy="10414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329184" cy="10287000"/>
            </a:xfrm>
            <a:custGeom>
              <a:avLst/>
              <a:gdLst/>
              <a:ahLst/>
              <a:cxnLst/>
              <a:rect r="r" b="b" t="t" l="l"/>
              <a:pathLst>
                <a:path h="10287000" w="329184">
                  <a:moveTo>
                    <a:pt x="0" y="0"/>
                  </a:moveTo>
                  <a:lnTo>
                    <a:pt x="0" y="10287000"/>
                  </a:lnTo>
                  <a:lnTo>
                    <a:pt x="329184" y="10287000"/>
                  </a:lnTo>
                  <a:lnTo>
                    <a:pt x="329184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329184" cy="10287000"/>
            </a:xfrm>
            <a:custGeom>
              <a:avLst/>
              <a:gdLst/>
              <a:ahLst/>
              <a:cxnLst/>
              <a:rect r="r" b="b" t="t" l="l"/>
              <a:pathLst>
                <a:path h="10287000" w="329184">
                  <a:moveTo>
                    <a:pt x="0" y="10287000"/>
                  </a:moveTo>
                  <a:lnTo>
                    <a:pt x="329184" y="10287000"/>
                  </a:lnTo>
                  <a:lnTo>
                    <a:pt x="32918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59457" y="6117841"/>
            <a:ext cx="8356597" cy="2778757"/>
            <a:chOff x="0" y="0"/>
            <a:chExt cx="8356600" cy="27787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8229600" cy="2651760"/>
            </a:xfrm>
            <a:custGeom>
              <a:avLst/>
              <a:gdLst/>
              <a:ahLst/>
              <a:cxnLst/>
              <a:rect r="r" b="b" t="t" l="l"/>
              <a:pathLst>
                <a:path h="2651760" w="8229600">
                  <a:moveTo>
                    <a:pt x="0" y="0"/>
                  </a:moveTo>
                  <a:lnTo>
                    <a:pt x="0" y="2651760"/>
                  </a:lnTo>
                  <a:lnTo>
                    <a:pt x="8229600" y="2651760"/>
                  </a:lnTo>
                  <a:lnTo>
                    <a:pt x="8229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0" y="63500"/>
              <a:ext cx="8229600" cy="2651760"/>
            </a:xfrm>
            <a:custGeom>
              <a:avLst/>
              <a:gdLst/>
              <a:ahLst/>
              <a:cxnLst/>
              <a:rect r="r" b="b" t="t" l="l"/>
              <a:pathLst>
                <a:path h="2651760" w="8229600">
                  <a:moveTo>
                    <a:pt x="0" y="2651760"/>
                  </a:moveTo>
                  <a:lnTo>
                    <a:pt x="8229600" y="2651760"/>
                  </a:lnTo>
                  <a:lnTo>
                    <a:pt x="8229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3103857" y="302257"/>
            <a:ext cx="5247637" cy="7990837"/>
          </a:xfrm>
          <a:custGeom>
            <a:avLst/>
            <a:gdLst/>
            <a:ahLst/>
            <a:cxnLst/>
            <a:rect r="r" b="b" t="t" l="l"/>
            <a:pathLst>
              <a:path h="7990837" w="5247637">
                <a:moveTo>
                  <a:pt x="0" y="0"/>
                </a:moveTo>
                <a:lnTo>
                  <a:pt x="5247637" y="0"/>
                </a:lnTo>
                <a:lnTo>
                  <a:pt x="5247637" y="7990837"/>
                </a:lnTo>
                <a:lnTo>
                  <a:pt x="0" y="79908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822960" y="1449886"/>
            <a:ext cx="10422884" cy="440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59"/>
              </a:lnSpc>
            </a:pPr>
            <a:r>
              <a:rPr lang="en-US" b="true" sz="99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Buffer Pool i </a:t>
            </a:r>
            <a:r>
              <a:rPr lang="en-US" b="true" sz="99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Caching mehanizmi</a:t>
            </a:r>
          </a:p>
          <a:p>
            <a:pPr algn="l">
              <a:lnSpc>
                <a:spcPts val="8499"/>
              </a:lnSpc>
            </a:pPr>
            <a:r>
              <a:rPr lang="en-US" sz="33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Praktično testiranje u PostgreSQL-u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88720" y="6769989"/>
            <a:ext cx="6360766" cy="14895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Student: </a:t>
            </a:r>
            <a:r>
              <a:rPr lang="en-US" sz="24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Katarina Adamović | br. ind. 2173 </a:t>
            </a: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Predmet:</a:t>
            </a:r>
            <a:r>
              <a:rPr lang="en-US" sz="24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Sistemi za upravljanje bazama podataka</a:t>
            </a: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 Modul: </a:t>
            </a:r>
            <a:r>
              <a:rPr lang="en-US" sz="24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Bezbednost računarskih sistema</a:t>
            </a:r>
          </a:p>
          <a:p>
            <a:pPr algn="l">
              <a:lnSpc>
                <a:spcPts val="2851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Mentor: </a:t>
            </a:r>
            <a:r>
              <a:rPr lang="en-US" sz="24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Prof. dr Aleksandar Stanimirović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22960" y="9525343"/>
            <a:ext cx="1146296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maj 2026.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3697" y="1490977"/>
            <a:ext cx="8630917" cy="1590037"/>
            <a:chOff x="0" y="0"/>
            <a:chExt cx="8630920" cy="1590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85039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20">
                  <a:moveTo>
                    <a:pt x="0" y="0"/>
                  </a:moveTo>
                  <a:lnTo>
                    <a:pt x="0" y="1463040"/>
                  </a:lnTo>
                  <a:lnTo>
                    <a:pt x="8503920" y="1463040"/>
                  </a:lnTo>
                  <a:lnTo>
                    <a:pt x="850392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0"/>
                  </a:moveTo>
                  <a:lnTo>
                    <a:pt x="0" y="1463040"/>
                  </a:lnTo>
                  <a:lnTo>
                    <a:pt x="128016" y="146304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63500" y="63500"/>
              <a:ext cx="85039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20">
                  <a:moveTo>
                    <a:pt x="0" y="1463040"/>
                  </a:moveTo>
                  <a:lnTo>
                    <a:pt x="8503920" y="146304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1463040"/>
                  </a:moveTo>
                  <a:lnTo>
                    <a:pt x="128016" y="14630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393697" y="3191761"/>
            <a:ext cx="8630917" cy="1590037"/>
            <a:chOff x="0" y="0"/>
            <a:chExt cx="8630920" cy="1590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63500" y="63500"/>
              <a:ext cx="85039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20">
                  <a:moveTo>
                    <a:pt x="0" y="0"/>
                  </a:moveTo>
                  <a:lnTo>
                    <a:pt x="0" y="1463040"/>
                  </a:lnTo>
                  <a:lnTo>
                    <a:pt x="8503920" y="1463040"/>
                  </a:lnTo>
                  <a:lnTo>
                    <a:pt x="850392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0"/>
                  </a:moveTo>
                  <a:lnTo>
                    <a:pt x="0" y="1463040"/>
                  </a:lnTo>
                  <a:lnTo>
                    <a:pt x="128016" y="146304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63500"/>
              <a:ext cx="85039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20">
                  <a:moveTo>
                    <a:pt x="0" y="1463040"/>
                  </a:moveTo>
                  <a:lnTo>
                    <a:pt x="8503920" y="146304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1463040"/>
                  </a:moveTo>
                  <a:lnTo>
                    <a:pt x="128016" y="14630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393697" y="4892545"/>
            <a:ext cx="8630917" cy="1590037"/>
            <a:chOff x="0" y="0"/>
            <a:chExt cx="8630920" cy="15900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85039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20">
                  <a:moveTo>
                    <a:pt x="0" y="0"/>
                  </a:moveTo>
                  <a:lnTo>
                    <a:pt x="0" y="1463040"/>
                  </a:lnTo>
                  <a:lnTo>
                    <a:pt x="8503920" y="1463040"/>
                  </a:lnTo>
                  <a:lnTo>
                    <a:pt x="850392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0"/>
                  </a:moveTo>
                  <a:lnTo>
                    <a:pt x="0" y="1463040"/>
                  </a:lnTo>
                  <a:lnTo>
                    <a:pt x="128016" y="146304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63500" y="63500"/>
              <a:ext cx="85039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20">
                  <a:moveTo>
                    <a:pt x="0" y="1463040"/>
                  </a:moveTo>
                  <a:lnTo>
                    <a:pt x="8503920" y="146304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1463040"/>
                  </a:moveTo>
                  <a:lnTo>
                    <a:pt x="128016" y="14630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393697" y="6593329"/>
            <a:ext cx="8630917" cy="1590037"/>
            <a:chOff x="0" y="0"/>
            <a:chExt cx="8630920" cy="15900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0" y="63500"/>
              <a:ext cx="85039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20">
                  <a:moveTo>
                    <a:pt x="0" y="0"/>
                  </a:moveTo>
                  <a:lnTo>
                    <a:pt x="0" y="1463040"/>
                  </a:lnTo>
                  <a:lnTo>
                    <a:pt x="8503920" y="1463040"/>
                  </a:lnTo>
                  <a:lnTo>
                    <a:pt x="850392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0"/>
                  </a:moveTo>
                  <a:lnTo>
                    <a:pt x="0" y="1463040"/>
                  </a:lnTo>
                  <a:lnTo>
                    <a:pt x="128016" y="146304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63500" y="63500"/>
              <a:ext cx="85039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20">
                  <a:moveTo>
                    <a:pt x="0" y="1463040"/>
                  </a:moveTo>
                  <a:lnTo>
                    <a:pt x="8503920" y="146304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1463040"/>
                  </a:moveTo>
                  <a:lnTo>
                    <a:pt x="128016" y="14630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393697" y="8294113"/>
            <a:ext cx="8630917" cy="1590037"/>
            <a:chOff x="0" y="0"/>
            <a:chExt cx="8630920" cy="15900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63500" y="63500"/>
              <a:ext cx="85039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20">
                  <a:moveTo>
                    <a:pt x="0" y="0"/>
                  </a:moveTo>
                  <a:lnTo>
                    <a:pt x="0" y="1463040"/>
                  </a:lnTo>
                  <a:lnTo>
                    <a:pt x="8503920" y="1463040"/>
                  </a:lnTo>
                  <a:lnTo>
                    <a:pt x="850392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0"/>
                  </a:moveTo>
                  <a:lnTo>
                    <a:pt x="0" y="1463040"/>
                  </a:lnTo>
                  <a:lnTo>
                    <a:pt x="128016" y="146304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63500" y="63500"/>
              <a:ext cx="85039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20">
                  <a:moveTo>
                    <a:pt x="0" y="1463040"/>
                  </a:moveTo>
                  <a:lnTo>
                    <a:pt x="8503920" y="146304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1463040"/>
                  </a:moveTo>
                  <a:lnTo>
                    <a:pt x="128016" y="14630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-63503" y="-63503"/>
            <a:ext cx="18414997" cy="1443733"/>
            <a:chOff x="0" y="0"/>
            <a:chExt cx="18415000" cy="144373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409681" y="1490977"/>
            <a:ext cx="8630917" cy="1590037"/>
            <a:chOff x="0" y="0"/>
            <a:chExt cx="8630920" cy="15900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63500" y="63500"/>
              <a:ext cx="8503919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19">
                  <a:moveTo>
                    <a:pt x="0" y="0"/>
                  </a:moveTo>
                  <a:lnTo>
                    <a:pt x="0" y="1463040"/>
                  </a:lnTo>
                  <a:lnTo>
                    <a:pt x="8503919" y="1463040"/>
                  </a:lnTo>
                  <a:lnTo>
                    <a:pt x="8503919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0"/>
                  </a:moveTo>
                  <a:lnTo>
                    <a:pt x="0" y="1463040"/>
                  </a:lnTo>
                  <a:lnTo>
                    <a:pt x="128016" y="146304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63500" y="63500"/>
              <a:ext cx="8503919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19">
                  <a:moveTo>
                    <a:pt x="0" y="1463040"/>
                  </a:moveTo>
                  <a:lnTo>
                    <a:pt x="8503919" y="1463040"/>
                  </a:lnTo>
                  <a:lnTo>
                    <a:pt x="85039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1463040"/>
                  </a:moveTo>
                  <a:lnTo>
                    <a:pt x="128016" y="14630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9409681" y="3191761"/>
            <a:ext cx="8630917" cy="1590037"/>
            <a:chOff x="0" y="0"/>
            <a:chExt cx="8630920" cy="15900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63500" y="63500"/>
              <a:ext cx="8503919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19">
                  <a:moveTo>
                    <a:pt x="0" y="0"/>
                  </a:moveTo>
                  <a:lnTo>
                    <a:pt x="0" y="1463040"/>
                  </a:lnTo>
                  <a:lnTo>
                    <a:pt x="8503919" y="1463040"/>
                  </a:lnTo>
                  <a:lnTo>
                    <a:pt x="8503919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0"/>
                  </a:moveTo>
                  <a:lnTo>
                    <a:pt x="0" y="1463040"/>
                  </a:lnTo>
                  <a:lnTo>
                    <a:pt x="128016" y="146304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63500" y="63500"/>
              <a:ext cx="8503919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19">
                  <a:moveTo>
                    <a:pt x="0" y="1463040"/>
                  </a:moveTo>
                  <a:lnTo>
                    <a:pt x="8503919" y="1463040"/>
                  </a:lnTo>
                  <a:lnTo>
                    <a:pt x="85039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1463040"/>
                  </a:moveTo>
                  <a:lnTo>
                    <a:pt x="128016" y="14630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9409681" y="4892545"/>
            <a:ext cx="8630917" cy="1590037"/>
            <a:chOff x="0" y="0"/>
            <a:chExt cx="8630920" cy="15900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63500" y="63500"/>
              <a:ext cx="8503919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19">
                  <a:moveTo>
                    <a:pt x="0" y="0"/>
                  </a:moveTo>
                  <a:lnTo>
                    <a:pt x="8503919" y="0"/>
                  </a:lnTo>
                  <a:lnTo>
                    <a:pt x="8503919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42" id="42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0"/>
                  </a:moveTo>
                  <a:lnTo>
                    <a:pt x="0" y="1463040"/>
                  </a:lnTo>
                  <a:lnTo>
                    <a:pt x="128016" y="146304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43" id="43"/>
            <p:cNvSpPr/>
            <p:nvPr/>
          </p:nvSpPr>
          <p:spPr>
            <a:xfrm flipH="false" flipV="false" rot="0">
              <a:off x="63500" y="63500"/>
              <a:ext cx="8503919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19">
                  <a:moveTo>
                    <a:pt x="0" y="1463040"/>
                  </a:moveTo>
                  <a:lnTo>
                    <a:pt x="8503919" y="1463040"/>
                  </a:lnTo>
                  <a:lnTo>
                    <a:pt x="85039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44" id="44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1463040"/>
                  </a:moveTo>
                  <a:lnTo>
                    <a:pt x="128016" y="14630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9409681" y="6593329"/>
            <a:ext cx="8630917" cy="1590037"/>
            <a:chOff x="0" y="0"/>
            <a:chExt cx="8630920" cy="159004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63500" y="63500"/>
              <a:ext cx="8503919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19">
                  <a:moveTo>
                    <a:pt x="0" y="0"/>
                  </a:moveTo>
                  <a:lnTo>
                    <a:pt x="0" y="1463040"/>
                  </a:lnTo>
                  <a:lnTo>
                    <a:pt x="8503919" y="1463040"/>
                  </a:lnTo>
                  <a:lnTo>
                    <a:pt x="8503919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47" id="47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0"/>
                  </a:moveTo>
                  <a:lnTo>
                    <a:pt x="0" y="1463040"/>
                  </a:lnTo>
                  <a:lnTo>
                    <a:pt x="128016" y="146304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48" id="48"/>
            <p:cNvSpPr/>
            <p:nvPr/>
          </p:nvSpPr>
          <p:spPr>
            <a:xfrm flipH="false" flipV="false" rot="0">
              <a:off x="63500" y="63500"/>
              <a:ext cx="8503919" cy="1463040"/>
            </a:xfrm>
            <a:custGeom>
              <a:avLst/>
              <a:gdLst/>
              <a:ahLst/>
              <a:cxnLst/>
              <a:rect r="r" b="b" t="t" l="l"/>
              <a:pathLst>
                <a:path h="1463040" w="8503919">
                  <a:moveTo>
                    <a:pt x="0" y="1463040"/>
                  </a:moveTo>
                  <a:lnTo>
                    <a:pt x="8503919" y="1463040"/>
                  </a:lnTo>
                  <a:lnTo>
                    <a:pt x="85039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63500" y="63500"/>
              <a:ext cx="128016" cy="1463040"/>
            </a:xfrm>
            <a:custGeom>
              <a:avLst/>
              <a:gdLst/>
              <a:ahLst/>
              <a:cxnLst/>
              <a:rect r="r" b="b" t="t" l="l"/>
              <a:pathLst>
                <a:path h="1463040" w="128016">
                  <a:moveTo>
                    <a:pt x="0" y="1463040"/>
                  </a:moveTo>
                  <a:lnTo>
                    <a:pt x="128016" y="14630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731520" y="205930"/>
            <a:ext cx="4745450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Sadržaj prezentacije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731520" y="1570806"/>
            <a:ext cx="4339333" cy="983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Uvod — zašto je disk I/O problem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731520" y="3271590"/>
            <a:ext cx="3601869" cy="983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Storage Engine i arhitektura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731520" y="4972374"/>
            <a:ext cx="1451258" cy="983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Buffer Pool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731520" y="6673158"/>
            <a:ext cx="2779243" cy="983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Životni ciklus stranice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731520" y="8373942"/>
            <a:ext cx="2592524" cy="983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Coldvs Warm cache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295133" y="8913609"/>
            <a:ext cx="70285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9747504" y="1570806"/>
            <a:ext cx="2501589" cy="983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Caching mehanizmi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9747504" y="3271590"/>
            <a:ext cx="3662134" cy="983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07</a:t>
            </a:r>
          </a:p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Testno okruzenje + Rezultati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9747504" y="4972374"/>
            <a:ext cx="4273763" cy="983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08</a:t>
            </a:r>
          </a:p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Velicina tabele vs shared_buffers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9747504" y="6673158"/>
            <a:ext cx="1206694" cy="13477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09</a:t>
            </a:r>
          </a:p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Zaključak</a:t>
            </a: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Pitanja?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704480" y="5930951"/>
            <a:ext cx="58560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202379" y="9332519"/>
            <a:ext cx="58560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355608" y="7631735"/>
            <a:ext cx="58560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400366" y="4230167"/>
            <a:ext cx="58560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444876" y="2529383"/>
            <a:ext cx="58560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0887085" y="2529383"/>
            <a:ext cx="58560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11033741" y="4230167"/>
            <a:ext cx="58560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0256053" y="5930951"/>
            <a:ext cx="58560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731520" y="2529383"/>
            <a:ext cx="2953998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Razlika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u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brzini: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RAM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vs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disk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731520" y="9332519"/>
            <a:ext cx="3189075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LRU,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DISCARD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ALL,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stanje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keša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731520" y="4230167"/>
            <a:ext cx="3918718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Slojevi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DBMS-a,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heap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model,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stranice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731520" y="7631735"/>
            <a:ext cx="4011406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Cachelookup,pin,dirtypage, eviction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731520" y="5930951"/>
            <a:ext cx="5056803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Koncepti,cache hit/miss, memorijska hijerarhija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9747504" y="5930951"/>
            <a:ext cx="4084244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Kada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buffer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pool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postaje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kljucan</a:t>
            </a:r>
            <a:r>
              <a:rPr lang="en-US" sz="19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faktor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9747504" y="4230167"/>
            <a:ext cx="5171618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Mala i velikabaza,SeqScan,Bitmap, selektivnost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9747504" y="2529383"/>
            <a:ext cx="5403923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Hijerarhija,PlanCache,pg_prewarm, OLTP vs OLAP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85137" y="8129521"/>
            <a:ext cx="9636757" cy="1260853"/>
            <a:chOff x="0" y="0"/>
            <a:chExt cx="9636760" cy="12608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9509379" cy="1133856"/>
            </a:xfrm>
            <a:custGeom>
              <a:avLst/>
              <a:gdLst/>
              <a:ahLst/>
              <a:cxnLst/>
              <a:rect r="r" b="b" t="t" l="l"/>
              <a:pathLst>
                <a:path h="1133856" w="9509379">
                  <a:moveTo>
                    <a:pt x="0" y="0"/>
                  </a:moveTo>
                  <a:lnTo>
                    <a:pt x="0" y="1133856"/>
                  </a:lnTo>
                  <a:lnTo>
                    <a:pt x="9509379" y="1133856"/>
                  </a:lnTo>
                  <a:lnTo>
                    <a:pt x="9509379" y="0"/>
                  </a:lnTo>
                  <a:close/>
                </a:path>
              </a:pathLst>
            </a:custGeom>
            <a:solidFill>
              <a:srgbClr val="EF476F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9509760" cy="1133856"/>
            </a:xfrm>
            <a:custGeom>
              <a:avLst/>
              <a:gdLst/>
              <a:ahLst/>
              <a:cxnLst/>
              <a:rect r="r" b="b" t="t" l="l"/>
              <a:pathLst>
                <a:path h="1133856" w="9509760">
                  <a:moveTo>
                    <a:pt x="0" y="1133856"/>
                  </a:moveTo>
                  <a:lnTo>
                    <a:pt x="9509760" y="1133856"/>
                  </a:lnTo>
                  <a:lnTo>
                    <a:pt x="950976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85137" y="6629905"/>
            <a:ext cx="8173717" cy="1260853"/>
            <a:chOff x="0" y="0"/>
            <a:chExt cx="8173720" cy="12608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8046720" cy="1133856"/>
            </a:xfrm>
            <a:custGeom>
              <a:avLst/>
              <a:gdLst/>
              <a:ahLst/>
              <a:cxnLst/>
              <a:rect r="r" b="b" t="t" l="l"/>
              <a:pathLst>
                <a:path h="1133856" w="8046720">
                  <a:moveTo>
                    <a:pt x="0" y="0"/>
                  </a:moveTo>
                  <a:lnTo>
                    <a:pt x="0" y="1133856"/>
                  </a:lnTo>
                  <a:lnTo>
                    <a:pt x="8046720" y="1133856"/>
                  </a:lnTo>
                  <a:lnTo>
                    <a:pt x="8046720" y="0"/>
                  </a:lnTo>
                  <a:close/>
                </a:path>
              </a:pathLst>
            </a:custGeom>
            <a:solidFill>
              <a:srgbClr val="FFD166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0" y="63500"/>
              <a:ext cx="8046720" cy="1133856"/>
            </a:xfrm>
            <a:custGeom>
              <a:avLst/>
              <a:gdLst/>
              <a:ahLst/>
              <a:cxnLst/>
              <a:rect r="r" b="b" t="t" l="l"/>
              <a:pathLst>
                <a:path h="1133856" w="8046720">
                  <a:moveTo>
                    <a:pt x="0" y="1133856"/>
                  </a:moveTo>
                  <a:lnTo>
                    <a:pt x="8046720" y="1133856"/>
                  </a:lnTo>
                  <a:lnTo>
                    <a:pt x="8046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485137" y="5130289"/>
            <a:ext cx="6710677" cy="1260853"/>
            <a:chOff x="0" y="0"/>
            <a:chExt cx="6710680" cy="12608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63500" y="63500"/>
              <a:ext cx="6581647" cy="1133856"/>
            </a:xfrm>
            <a:custGeom>
              <a:avLst/>
              <a:gdLst/>
              <a:ahLst/>
              <a:cxnLst/>
              <a:rect r="r" b="b" t="t" l="l"/>
              <a:pathLst>
                <a:path h="1133856" w="6581647">
                  <a:moveTo>
                    <a:pt x="0" y="0"/>
                  </a:moveTo>
                  <a:lnTo>
                    <a:pt x="0" y="1133856"/>
                  </a:lnTo>
                  <a:lnTo>
                    <a:pt x="6581647" y="1133856"/>
                  </a:lnTo>
                  <a:lnTo>
                    <a:pt x="6581647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63500"/>
              <a:ext cx="6583680" cy="1133856"/>
            </a:xfrm>
            <a:custGeom>
              <a:avLst/>
              <a:gdLst/>
              <a:ahLst/>
              <a:cxnLst/>
              <a:rect r="r" b="b" t="t" l="l"/>
              <a:pathLst>
                <a:path h="1133856" w="6583680">
                  <a:moveTo>
                    <a:pt x="0" y="1133856"/>
                  </a:moveTo>
                  <a:lnTo>
                    <a:pt x="6583680" y="1133856"/>
                  </a:lnTo>
                  <a:lnTo>
                    <a:pt x="658368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485137" y="3630673"/>
            <a:ext cx="5247637" cy="1260853"/>
            <a:chOff x="0" y="0"/>
            <a:chExt cx="5247640" cy="126085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63500" y="63500"/>
              <a:ext cx="5120005" cy="1133855"/>
            </a:xfrm>
            <a:custGeom>
              <a:avLst/>
              <a:gdLst/>
              <a:ahLst/>
              <a:cxnLst/>
              <a:rect r="r" b="b" t="t" l="l"/>
              <a:pathLst>
                <a:path h="1133855" w="5120005">
                  <a:moveTo>
                    <a:pt x="0" y="0"/>
                  </a:moveTo>
                  <a:lnTo>
                    <a:pt x="5120005" y="0"/>
                  </a:lnTo>
                  <a:lnTo>
                    <a:pt x="5120005" y="1133855"/>
                  </a:lnTo>
                  <a:lnTo>
                    <a:pt x="0" y="1133855"/>
                  </a:lnTo>
                  <a:close/>
                </a:path>
              </a:pathLst>
            </a:custGeom>
            <a:solidFill>
              <a:srgbClr val="06D6A0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5120640" cy="1133855"/>
            </a:xfrm>
            <a:custGeom>
              <a:avLst/>
              <a:gdLst/>
              <a:ahLst/>
              <a:cxnLst/>
              <a:rect r="r" b="b" t="t" l="l"/>
              <a:pathLst>
                <a:path h="1133855" w="5120640">
                  <a:moveTo>
                    <a:pt x="0" y="1133855"/>
                  </a:moveTo>
                  <a:lnTo>
                    <a:pt x="5120640" y="1133855"/>
                  </a:lnTo>
                  <a:lnTo>
                    <a:pt x="51206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-63503" y="-63503"/>
            <a:ext cx="18414997" cy="1443733"/>
            <a:chOff x="0" y="0"/>
            <a:chExt cx="18415000" cy="144373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1640817" y="2899153"/>
            <a:ext cx="6162037" cy="2138677"/>
            <a:chOff x="0" y="0"/>
            <a:chExt cx="6162040" cy="2138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0" y="63500"/>
              <a:ext cx="6035039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39">
                  <a:moveTo>
                    <a:pt x="0" y="0"/>
                  </a:moveTo>
                  <a:lnTo>
                    <a:pt x="0" y="2011680"/>
                  </a:lnTo>
                  <a:lnTo>
                    <a:pt x="6035039" y="2011680"/>
                  </a:lnTo>
                  <a:lnTo>
                    <a:pt x="6035039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6035039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39">
                  <a:moveTo>
                    <a:pt x="0" y="2011680"/>
                  </a:moveTo>
                  <a:lnTo>
                    <a:pt x="6035039" y="2011680"/>
                  </a:lnTo>
                  <a:lnTo>
                    <a:pt x="603503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1640817" y="5240017"/>
            <a:ext cx="6162037" cy="2138677"/>
            <a:chOff x="0" y="0"/>
            <a:chExt cx="6162040" cy="2138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63500" y="63500"/>
              <a:ext cx="6035039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39">
                  <a:moveTo>
                    <a:pt x="0" y="0"/>
                  </a:moveTo>
                  <a:lnTo>
                    <a:pt x="0" y="2011680"/>
                  </a:lnTo>
                  <a:lnTo>
                    <a:pt x="6035039" y="2011680"/>
                  </a:lnTo>
                  <a:lnTo>
                    <a:pt x="6035039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63500" y="63500"/>
              <a:ext cx="6035039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39">
                  <a:moveTo>
                    <a:pt x="0" y="2011680"/>
                  </a:moveTo>
                  <a:lnTo>
                    <a:pt x="6035039" y="2011680"/>
                  </a:lnTo>
                  <a:lnTo>
                    <a:pt x="603503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1640817" y="7580881"/>
            <a:ext cx="6162037" cy="2138677"/>
            <a:chOff x="0" y="0"/>
            <a:chExt cx="6162040" cy="21386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63500" y="63500"/>
              <a:ext cx="6035039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39">
                  <a:moveTo>
                    <a:pt x="0" y="0"/>
                  </a:moveTo>
                  <a:lnTo>
                    <a:pt x="0" y="2011680"/>
                  </a:lnTo>
                  <a:lnTo>
                    <a:pt x="6035039" y="2011680"/>
                  </a:lnTo>
                  <a:lnTo>
                    <a:pt x="6035039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63500" y="63500"/>
              <a:ext cx="6035039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39">
                  <a:moveTo>
                    <a:pt x="0" y="2011680"/>
                  </a:moveTo>
                  <a:lnTo>
                    <a:pt x="6035039" y="2011680"/>
                  </a:lnTo>
                  <a:lnTo>
                    <a:pt x="603503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731520" y="205930"/>
            <a:ext cx="8264033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Uvod — Zašto je disk I/O problem?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48640" y="1743189"/>
            <a:ext cx="17481604" cy="817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5"/>
              </a:lnSpc>
            </a:pPr>
            <a:r>
              <a:rPr lang="en-US" sz="25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Sistemi baza podataka se suočavaju sa fundamentalnom razlikom u brzini između RAM-a i diska. Svaki upit koji ne nađe podatke</a:t>
            </a:r>
          </a:p>
          <a:p>
            <a:pPr algn="l">
              <a:lnSpc>
                <a:spcPts val="3075"/>
              </a:lnSpc>
            </a:pPr>
            <a:r>
              <a:rPr lang="en-US" sz="25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u memoriji mora posegnuti za diskom — a to je skupa operacija.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14400" y="2970667"/>
            <a:ext cx="3981926" cy="484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b="true" sz="25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Latencija po nivou memorije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68096" y="5293347"/>
            <a:ext cx="3735162" cy="881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RAM memorija</a:t>
            </a:r>
          </a:p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F1B2D"/>
                </a:solidFill>
                <a:latin typeface="Calibri (MS)"/>
                <a:ea typeface="Calibri (MS)"/>
                <a:cs typeface="Calibri (MS)"/>
                <a:sym typeface="Calibri (MS)"/>
              </a:rPr>
              <a:t>~100 ns | 1.000× brže od HDD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68096" y="6792963"/>
            <a:ext cx="3381375" cy="881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SSD disk (NVMe)</a:t>
            </a:r>
          </a:p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F1B2D"/>
                </a:solidFill>
                <a:latin typeface="Calibri (MS)"/>
                <a:ea typeface="Calibri (MS)"/>
                <a:cs typeface="Calibri (MS)"/>
                <a:sym typeface="Calibri (MS)"/>
              </a:rPr>
              <a:t>~100 µs | 10× brže od HDD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768096" y="3793731"/>
            <a:ext cx="3590687" cy="881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CPU Keš (L1/L2/L3)</a:t>
            </a:r>
          </a:p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F1B2D"/>
                </a:solidFill>
                <a:latin typeface="Calibri (MS)"/>
                <a:ea typeface="Calibri (MS)"/>
                <a:cs typeface="Calibri (MS)"/>
                <a:sym typeface="Calibri (MS)"/>
              </a:rPr>
              <a:t>~1 ns | 10.000× brže od HDD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68096" y="8292579"/>
            <a:ext cx="4227557" cy="881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HDD disk (magnetni)</a:t>
            </a:r>
          </a:p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F1B2D"/>
                </a:solidFill>
                <a:latin typeface="Calibri (MS)"/>
                <a:ea typeface="Calibri (MS)"/>
                <a:cs typeface="Calibri (MS)"/>
                <a:sym typeface="Calibri (MS)"/>
              </a:rPr>
              <a:t>~10 ms | 1× (osnova) brže od HDD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3773483" y="8776297"/>
            <a:ext cx="1934604" cy="70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24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najskuplji deo izvršavanja upita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3460349" y="6435433"/>
            <a:ext cx="2573350" cy="70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24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veličina jedne stranice — uvek se čita cela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4198832" y="7650194"/>
            <a:ext cx="1066810" cy="111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b="true" sz="6000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I/O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4020533" y="5309330"/>
            <a:ext cx="1430379" cy="111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b="true" sz="6000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8 KB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271630" y="3482816"/>
            <a:ext cx="2958294" cy="11883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en-US" b="true" sz="6000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100.000×</a:t>
            </a:r>
          </a:p>
          <a:p>
            <a:pPr algn="ctr">
              <a:lnSpc>
                <a:spcPts val="5499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brži RAM od HDD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85137" y="2131057"/>
            <a:ext cx="8356597" cy="1077973"/>
            <a:chOff x="0" y="0"/>
            <a:chExt cx="8356600" cy="10779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8228203" cy="950976"/>
            </a:xfrm>
            <a:custGeom>
              <a:avLst/>
              <a:gdLst/>
              <a:ahLst/>
              <a:cxnLst/>
              <a:rect r="r" b="b" t="t" l="l"/>
              <a:pathLst>
                <a:path h="950976" w="8228203">
                  <a:moveTo>
                    <a:pt x="0" y="0"/>
                  </a:moveTo>
                  <a:lnTo>
                    <a:pt x="8228203" y="0"/>
                  </a:lnTo>
                  <a:lnTo>
                    <a:pt x="8228203" y="950976"/>
                  </a:lnTo>
                  <a:lnTo>
                    <a:pt x="0" y="950976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8229600" cy="950976"/>
            </a:xfrm>
            <a:custGeom>
              <a:avLst/>
              <a:gdLst/>
              <a:ahLst/>
              <a:cxnLst/>
              <a:rect r="r" b="b" t="t" l="l"/>
              <a:pathLst>
                <a:path h="950976" w="8229600">
                  <a:moveTo>
                    <a:pt x="0" y="950976"/>
                  </a:moveTo>
                  <a:lnTo>
                    <a:pt x="8229600" y="950976"/>
                  </a:lnTo>
                  <a:lnTo>
                    <a:pt x="8229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85137" y="3319777"/>
            <a:ext cx="8356597" cy="1077973"/>
            <a:chOff x="0" y="0"/>
            <a:chExt cx="8356600" cy="10779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8228203" cy="950976"/>
            </a:xfrm>
            <a:custGeom>
              <a:avLst/>
              <a:gdLst/>
              <a:ahLst/>
              <a:cxnLst/>
              <a:rect r="r" b="b" t="t" l="l"/>
              <a:pathLst>
                <a:path h="950976" w="8228203">
                  <a:moveTo>
                    <a:pt x="0" y="0"/>
                  </a:moveTo>
                  <a:lnTo>
                    <a:pt x="0" y="950976"/>
                  </a:lnTo>
                  <a:lnTo>
                    <a:pt x="8228203" y="950976"/>
                  </a:lnTo>
                  <a:lnTo>
                    <a:pt x="8228203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0" y="63500"/>
              <a:ext cx="8229600" cy="950976"/>
            </a:xfrm>
            <a:custGeom>
              <a:avLst/>
              <a:gdLst/>
              <a:ahLst/>
              <a:cxnLst/>
              <a:rect r="r" b="b" t="t" l="l"/>
              <a:pathLst>
                <a:path h="950976" w="8229600">
                  <a:moveTo>
                    <a:pt x="0" y="950976"/>
                  </a:moveTo>
                  <a:lnTo>
                    <a:pt x="8229600" y="950976"/>
                  </a:lnTo>
                  <a:lnTo>
                    <a:pt x="8229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485137" y="4508497"/>
            <a:ext cx="8356597" cy="1077973"/>
            <a:chOff x="0" y="0"/>
            <a:chExt cx="8356600" cy="107797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63500" y="63500"/>
              <a:ext cx="8228203" cy="950976"/>
            </a:xfrm>
            <a:custGeom>
              <a:avLst/>
              <a:gdLst/>
              <a:ahLst/>
              <a:cxnLst/>
              <a:rect r="r" b="b" t="t" l="l"/>
              <a:pathLst>
                <a:path h="950976" w="8228203">
                  <a:moveTo>
                    <a:pt x="0" y="0"/>
                  </a:moveTo>
                  <a:lnTo>
                    <a:pt x="8228203" y="0"/>
                  </a:lnTo>
                  <a:lnTo>
                    <a:pt x="8228203" y="950976"/>
                  </a:lnTo>
                  <a:lnTo>
                    <a:pt x="0" y="950976"/>
                  </a:lnTo>
                  <a:close/>
                </a:path>
              </a:pathLst>
            </a:custGeom>
            <a:solidFill>
              <a:srgbClr val="06D6A0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63500"/>
              <a:ext cx="8229600" cy="950976"/>
            </a:xfrm>
            <a:custGeom>
              <a:avLst/>
              <a:gdLst/>
              <a:ahLst/>
              <a:cxnLst/>
              <a:rect r="r" b="b" t="t" l="l"/>
              <a:pathLst>
                <a:path h="950976" w="8229600">
                  <a:moveTo>
                    <a:pt x="0" y="950976"/>
                  </a:moveTo>
                  <a:lnTo>
                    <a:pt x="8229600" y="950976"/>
                  </a:lnTo>
                  <a:lnTo>
                    <a:pt x="8229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485137" y="5697217"/>
            <a:ext cx="8356597" cy="1077973"/>
            <a:chOff x="0" y="0"/>
            <a:chExt cx="8356600" cy="107797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63500" y="63500"/>
              <a:ext cx="8228203" cy="950976"/>
            </a:xfrm>
            <a:custGeom>
              <a:avLst/>
              <a:gdLst/>
              <a:ahLst/>
              <a:cxnLst/>
              <a:rect r="r" b="b" t="t" l="l"/>
              <a:pathLst>
                <a:path h="950976" w="8228203">
                  <a:moveTo>
                    <a:pt x="0" y="0"/>
                  </a:moveTo>
                  <a:lnTo>
                    <a:pt x="8228203" y="0"/>
                  </a:lnTo>
                  <a:lnTo>
                    <a:pt x="8228203" y="950976"/>
                  </a:lnTo>
                  <a:lnTo>
                    <a:pt x="0" y="950976"/>
                  </a:lnTo>
                  <a:close/>
                </a:path>
              </a:pathLst>
            </a:custGeom>
            <a:solidFill>
              <a:srgbClr val="0096B7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8229600" cy="950976"/>
            </a:xfrm>
            <a:custGeom>
              <a:avLst/>
              <a:gdLst/>
              <a:ahLst/>
              <a:cxnLst/>
              <a:rect r="r" b="b" t="t" l="l"/>
              <a:pathLst>
                <a:path h="950976" w="8229600">
                  <a:moveTo>
                    <a:pt x="0" y="950976"/>
                  </a:moveTo>
                  <a:lnTo>
                    <a:pt x="8229600" y="950976"/>
                  </a:lnTo>
                  <a:lnTo>
                    <a:pt x="8229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485137" y="6885937"/>
            <a:ext cx="8356597" cy="1077973"/>
            <a:chOff x="0" y="0"/>
            <a:chExt cx="8356600" cy="107797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63500" y="63500"/>
              <a:ext cx="8228203" cy="950976"/>
            </a:xfrm>
            <a:custGeom>
              <a:avLst/>
              <a:gdLst/>
              <a:ahLst/>
              <a:cxnLst/>
              <a:rect r="r" b="b" t="t" l="l"/>
              <a:pathLst>
                <a:path h="950976" w="8228203">
                  <a:moveTo>
                    <a:pt x="0" y="0"/>
                  </a:moveTo>
                  <a:lnTo>
                    <a:pt x="0" y="950976"/>
                  </a:lnTo>
                  <a:lnTo>
                    <a:pt x="8228203" y="950976"/>
                  </a:lnTo>
                  <a:lnTo>
                    <a:pt x="8228203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8229600" cy="950976"/>
            </a:xfrm>
            <a:custGeom>
              <a:avLst/>
              <a:gdLst/>
              <a:ahLst/>
              <a:cxnLst/>
              <a:rect r="r" b="b" t="t" l="l"/>
              <a:pathLst>
                <a:path h="950976" w="8229600">
                  <a:moveTo>
                    <a:pt x="0" y="950976"/>
                  </a:moveTo>
                  <a:lnTo>
                    <a:pt x="8229600" y="950976"/>
                  </a:lnTo>
                  <a:lnTo>
                    <a:pt x="8229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485137" y="8074657"/>
            <a:ext cx="8356597" cy="1077973"/>
            <a:chOff x="0" y="0"/>
            <a:chExt cx="8356600" cy="107797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0" y="63500"/>
              <a:ext cx="8228203" cy="950976"/>
            </a:xfrm>
            <a:custGeom>
              <a:avLst/>
              <a:gdLst/>
              <a:ahLst/>
              <a:cxnLst/>
              <a:rect r="r" b="b" t="t" l="l"/>
              <a:pathLst>
                <a:path h="950976" w="8228203">
                  <a:moveTo>
                    <a:pt x="0" y="0"/>
                  </a:moveTo>
                  <a:lnTo>
                    <a:pt x="8228203" y="0"/>
                  </a:lnTo>
                  <a:lnTo>
                    <a:pt x="8228203" y="950976"/>
                  </a:lnTo>
                  <a:lnTo>
                    <a:pt x="0" y="950976"/>
                  </a:lnTo>
                  <a:close/>
                </a:path>
              </a:pathLst>
            </a:custGeom>
            <a:solidFill>
              <a:srgbClr val="8BA8BE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8229600" cy="950976"/>
            </a:xfrm>
            <a:custGeom>
              <a:avLst/>
              <a:gdLst/>
              <a:ahLst/>
              <a:cxnLst/>
              <a:rect r="r" b="b" t="t" l="l"/>
              <a:pathLst>
                <a:path h="950976" w="8229600">
                  <a:moveTo>
                    <a:pt x="0" y="950976"/>
                  </a:moveTo>
                  <a:lnTo>
                    <a:pt x="8229600" y="950976"/>
                  </a:lnTo>
                  <a:lnTo>
                    <a:pt x="8229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-63503" y="-63503"/>
            <a:ext cx="18414997" cy="1443733"/>
            <a:chOff x="0" y="0"/>
            <a:chExt cx="18415000" cy="144373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080497" y="2131057"/>
            <a:ext cx="8722357" cy="1132837"/>
            <a:chOff x="0" y="0"/>
            <a:chExt cx="8722360" cy="11328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63500" y="63500"/>
              <a:ext cx="8595359" cy="1005840"/>
            </a:xfrm>
            <a:custGeom>
              <a:avLst/>
              <a:gdLst/>
              <a:ahLst/>
              <a:cxnLst/>
              <a:rect r="r" b="b" t="t" l="l"/>
              <a:pathLst>
                <a:path h="1005840" w="8595359">
                  <a:moveTo>
                    <a:pt x="0" y="0"/>
                  </a:moveTo>
                  <a:lnTo>
                    <a:pt x="0" y="1005840"/>
                  </a:lnTo>
                  <a:lnTo>
                    <a:pt x="8595359" y="1005840"/>
                  </a:lnTo>
                  <a:lnTo>
                    <a:pt x="8595359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63500" y="63500"/>
              <a:ext cx="8595359" cy="1005840"/>
            </a:xfrm>
            <a:custGeom>
              <a:avLst/>
              <a:gdLst/>
              <a:ahLst/>
              <a:cxnLst/>
              <a:rect r="r" b="b" t="t" l="l"/>
              <a:pathLst>
                <a:path h="1005840" w="8595359">
                  <a:moveTo>
                    <a:pt x="0" y="1005840"/>
                  </a:moveTo>
                  <a:lnTo>
                    <a:pt x="8595359" y="1005840"/>
                  </a:lnTo>
                  <a:lnTo>
                    <a:pt x="85953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080497" y="3996433"/>
            <a:ext cx="8722357" cy="1224277"/>
            <a:chOff x="0" y="0"/>
            <a:chExt cx="8722360" cy="12242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63500" y="63500"/>
              <a:ext cx="402336" cy="1097026"/>
            </a:xfrm>
            <a:custGeom>
              <a:avLst/>
              <a:gdLst/>
              <a:ahLst/>
              <a:cxnLst/>
              <a:rect r="r" b="b" t="t" l="l"/>
              <a:pathLst>
                <a:path h="109702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1097026"/>
                  </a:lnTo>
                  <a:lnTo>
                    <a:pt x="0" y="1097026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502412" y="63500"/>
              <a:ext cx="8156447" cy="1097280"/>
            </a:xfrm>
            <a:custGeom>
              <a:avLst/>
              <a:gdLst/>
              <a:ahLst/>
              <a:cxnLst/>
              <a:rect r="r" b="b" t="t" l="l"/>
              <a:pathLst>
                <a:path h="1097280" w="8156447">
                  <a:moveTo>
                    <a:pt x="0" y="0"/>
                  </a:moveTo>
                  <a:lnTo>
                    <a:pt x="0" y="1097280"/>
                  </a:lnTo>
                  <a:lnTo>
                    <a:pt x="8156447" y="1097280"/>
                  </a:lnTo>
                  <a:lnTo>
                    <a:pt x="8156447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63500" y="63500"/>
              <a:ext cx="402336" cy="1097280"/>
            </a:xfrm>
            <a:custGeom>
              <a:avLst/>
              <a:gdLst/>
              <a:ahLst/>
              <a:cxnLst/>
              <a:rect r="r" b="b" t="t" l="l"/>
              <a:pathLst>
                <a:path h="1097280" w="402336">
                  <a:moveTo>
                    <a:pt x="0" y="1097280"/>
                  </a:moveTo>
                  <a:lnTo>
                    <a:pt x="402336" y="1097280"/>
                  </a:lnTo>
                  <a:lnTo>
                    <a:pt x="40233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502412" y="63500"/>
              <a:ext cx="8156447" cy="1097280"/>
            </a:xfrm>
            <a:custGeom>
              <a:avLst/>
              <a:gdLst/>
              <a:ahLst/>
              <a:cxnLst/>
              <a:rect r="r" b="b" t="t" l="l"/>
              <a:pathLst>
                <a:path h="1097280" w="8156447">
                  <a:moveTo>
                    <a:pt x="0" y="1097280"/>
                  </a:moveTo>
                  <a:lnTo>
                    <a:pt x="8156447" y="1097280"/>
                  </a:lnTo>
                  <a:lnTo>
                    <a:pt x="815644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9080497" y="5368033"/>
            <a:ext cx="8722357" cy="1224277"/>
            <a:chOff x="0" y="0"/>
            <a:chExt cx="8722360" cy="122428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63500" y="63500"/>
              <a:ext cx="402336" cy="1097026"/>
            </a:xfrm>
            <a:custGeom>
              <a:avLst/>
              <a:gdLst/>
              <a:ahLst/>
              <a:cxnLst/>
              <a:rect r="r" b="b" t="t" l="l"/>
              <a:pathLst>
                <a:path h="109702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1097026"/>
                  </a:lnTo>
                  <a:lnTo>
                    <a:pt x="0" y="1097026"/>
                  </a:lnTo>
                  <a:close/>
                </a:path>
              </a:pathLst>
            </a:custGeom>
            <a:solidFill>
              <a:srgbClr val="06D6A0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502412" y="63500"/>
              <a:ext cx="8156447" cy="1097280"/>
            </a:xfrm>
            <a:custGeom>
              <a:avLst/>
              <a:gdLst/>
              <a:ahLst/>
              <a:cxnLst/>
              <a:rect r="r" b="b" t="t" l="l"/>
              <a:pathLst>
                <a:path h="1097280" w="8156447">
                  <a:moveTo>
                    <a:pt x="0" y="0"/>
                  </a:moveTo>
                  <a:lnTo>
                    <a:pt x="0" y="1097280"/>
                  </a:lnTo>
                  <a:lnTo>
                    <a:pt x="8156447" y="1097280"/>
                  </a:lnTo>
                  <a:lnTo>
                    <a:pt x="8156447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63500" y="63500"/>
              <a:ext cx="402336" cy="1097280"/>
            </a:xfrm>
            <a:custGeom>
              <a:avLst/>
              <a:gdLst/>
              <a:ahLst/>
              <a:cxnLst/>
              <a:rect r="r" b="b" t="t" l="l"/>
              <a:pathLst>
                <a:path h="1097280" w="402336">
                  <a:moveTo>
                    <a:pt x="0" y="1097280"/>
                  </a:moveTo>
                  <a:lnTo>
                    <a:pt x="402336" y="1097280"/>
                  </a:lnTo>
                  <a:lnTo>
                    <a:pt x="40233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502412" y="63500"/>
              <a:ext cx="8156447" cy="1097280"/>
            </a:xfrm>
            <a:custGeom>
              <a:avLst/>
              <a:gdLst/>
              <a:ahLst/>
              <a:cxnLst/>
              <a:rect r="r" b="b" t="t" l="l"/>
              <a:pathLst>
                <a:path h="1097280" w="8156447">
                  <a:moveTo>
                    <a:pt x="0" y="1097280"/>
                  </a:moveTo>
                  <a:lnTo>
                    <a:pt x="8156447" y="1097280"/>
                  </a:lnTo>
                  <a:lnTo>
                    <a:pt x="815644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9080497" y="6739633"/>
            <a:ext cx="8722357" cy="1224277"/>
            <a:chOff x="0" y="0"/>
            <a:chExt cx="8722360" cy="122428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63500" y="63500"/>
              <a:ext cx="402336" cy="1097026"/>
            </a:xfrm>
            <a:custGeom>
              <a:avLst/>
              <a:gdLst/>
              <a:ahLst/>
              <a:cxnLst/>
              <a:rect r="r" b="b" t="t" l="l"/>
              <a:pathLst>
                <a:path h="109702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1097026"/>
                  </a:lnTo>
                  <a:lnTo>
                    <a:pt x="0" y="1097026"/>
                  </a:lnTo>
                  <a:close/>
                </a:path>
              </a:pathLst>
            </a:custGeom>
            <a:solidFill>
              <a:srgbClr val="FFD166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502412" y="63500"/>
              <a:ext cx="8156447" cy="1097280"/>
            </a:xfrm>
            <a:custGeom>
              <a:avLst/>
              <a:gdLst/>
              <a:ahLst/>
              <a:cxnLst/>
              <a:rect r="r" b="b" t="t" l="l"/>
              <a:pathLst>
                <a:path h="1097280" w="8156447">
                  <a:moveTo>
                    <a:pt x="0" y="0"/>
                  </a:moveTo>
                  <a:lnTo>
                    <a:pt x="0" y="1097280"/>
                  </a:lnTo>
                  <a:lnTo>
                    <a:pt x="8156447" y="1097280"/>
                  </a:lnTo>
                  <a:lnTo>
                    <a:pt x="8156447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63500" y="63500"/>
              <a:ext cx="402336" cy="1097280"/>
            </a:xfrm>
            <a:custGeom>
              <a:avLst/>
              <a:gdLst/>
              <a:ahLst/>
              <a:cxnLst/>
              <a:rect r="r" b="b" t="t" l="l"/>
              <a:pathLst>
                <a:path h="1097280" w="402336">
                  <a:moveTo>
                    <a:pt x="0" y="1097280"/>
                  </a:moveTo>
                  <a:lnTo>
                    <a:pt x="402336" y="1097280"/>
                  </a:lnTo>
                  <a:lnTo>
                    <a:pt x="40233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40" id="40"/>
            <p:cNvSpPr/>
            <p:nvPr/>
          </p:nvSpPr>
          <p:spPr>
            <a:xfrm flipH="false" flipV="false" rot="0">
              <a:off x="502412" y="63500"/>
              <a:ext cx="8156447" cy="1097280"/>
            </a:xfrm>
            <a:custGeom>
              <a:avLst/>
              <a:gdLst/>
              <a:ahLst/>
              <a:cxnLst/>
              <a:rect r="r" b="b" t="t" l="l"/>
              <a:pathLst>
                <a:path h="1097280" w="8156447">
                  <a:moveTo>
                    <a:pt x="0" y="1097280"/>
                  </a:moveTo>
                  <a:lnTo>
                    <a:pt x="8156447" y="1097280"/>
                  </a:lnTo>
                  <a:lnTo>
                    <a:pt x="815644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9080497" y="8111233"/>
            <a:ext cx="8722357" cy="1224277"/>
            <a:chOff x="0" y="0"/>
            <a:chExt cx="8722360" cy="12242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63500" y="63500"/>
              <a:ext cx="402336" cy="1097026"/>
            </a:xfrm>
            <a:custGeom>
              <a:avLst/>
              <a:gdLst/>
              <a:ahLst/>
              <a:cxnLst/>
              <a:rect r="r" b="b" t="t" l="l"/>
              <a:pathLst>
                <a:path h="109702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1097026"/>
                  </a:lnTo>
                  <a:lnTo>
                    <a:pt x="0" y="1097026"/>
                  </a:lnTo>
                  <a:close/>
                </a:path>
              </a:pathLst>
            </a:custGeom>
            <a:solidFill>
              <a:srgbClr val="8BA8BE"/>
            </a:solidFill>
          </p:spPr>
        </p:sp>
        <p:sp>
          <p:nvSpPr>
            <p:cNvPr name="Freeform 43" id="43"/>
            <p:cNvSpPr/>
            <p:nvPr/>
          </p:nvSpPr>
          <p:spPr>
            <a:xfrm flipH="false" flipV="false" rot="0">
              <a:off x="502412" y="63500"/>
              <a:ext cx="8156447" cy="1097280"/>
            </a:xfrm>
            <a:custGeom>
              <a:avLst/>
              <a:gdLst/>
              <a:ahLst/>
              <a:cxnLst/>
              <a:rect r="r" b="b" t="t" l="l"/>
              <a:pathLst>
                <a:path h="1097280" w="8156447">
                  <a:moveTo>
                    <a:pt x="0" y="0"/>
                  </a:moveTo>
                  <a:lnTo>
                    <a:pt x="0" y="1097280"/>
                  </a:lnTo>
                  <a:lnTo>
                    <a:pt x="8156447" y="1097280"/>
                  </a:lnTo>
                  <a:lnTo>
                    <a:pt x="8156447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44" id="44"/>
            <p:cNvSpPr/>
            <p:nvPr/>
          </p:nvSpPr>
          <p:spPr>
            <a:xfrm flipH="false" flipV="false" rot="0">
              <a:off x="63500" y="63500"/>
              <a:ext cx="402336" cy="1097280"/>
            </a:xfrm>
            <a:custGeom>
              <a:avLst/>
              <a:gdLst/>
              <a:ahLst/>
              <a:cxnLst/>
              <a:rect r="r" b="b" t="t" l="l"/>
              <a:pathLst>
                <a:path h="1097280" w="402336">
                  <a:moveTo>
                    <a:pt x="0" y="1097280"/>
                  </a:moveTo>
                  <a:lnTo>
                    <a:pt x="402336" y="1097280"/>
                  </a:lnTo>
                  <a:lnTo>
                    <a:pt x="40233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502412" y="63500"/>
              <a:ext cx="8156447" cy="1097280"/>
            </a:xfrm>
            <a:custGeom>
              <a:avLst/>
              <a:gdLst/>
              <a:ahLst/>
              <a:cxnLst/>
              <a:rect r="r" b="b" t="t" l="l"/>
              <a:pathLst>
                <a:path h="1097280" w="8156447">
                  <a:moveTo>
                    <a:pt x="0" y="1097280"/>
                  </a:moveTo>
                  <a:lnTo>
                    <a:pt x="8156447" y="1097280"/>
                  </a:lnTo>
                  <a:lnTo>
                    <a:pt x="815644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46" id="46"/>
          <p:cNvSpPr txBox="true"/>
          <p:nvPr/>
        </p:nvSpPr>
        <p:spPr>
          <a:xfrm rot="0">
            <a:off x="731520" y="205930"/>
            <a:ext cx="10717444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Storage Engine i fizička organizacija podataka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3282020" y="1507627"/>
            <a:ext cx="2818095" cy="484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b="true" sz="25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Arhitektura DBMS-a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9144000" y="1507627"/>
            <a:ext cx="5273821" cy="484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b="true" sz="25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Heap Storage Model + Stranica (Page)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2283085" y="2287143"/>
            <a:ext cx="4855931" cy="6522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64"/>
              </a:lnSpc>
            </a:pPr>
            <a:r>
              <a:rPr lang="en-US" sz="24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SQL / Korisnički sloj</a:t>
            </a:r>
          </a:p>
          <a:p>
            <a:pPr algn="ctr">
              <a:lnSpc>
                <a:spcPts val="4864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↓</a:t>
            </a:r>
          </a:p>
          <a:p>
            <a:pPr algn="ctr">
              <a:lnSpc>
                <a:spcPts val="4123"/>
              </a:lnSpc>
            </a:pPr>
            <a:r>
              <a:rPr lang="en-US" sz="24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Query Parser → Optimizer → Executor</a:t>
            </a:r>
          </a:p>
          <a:p>
            <a:pPr algn="ctr">
              <a:lnSpc>
                <a:spcPts val="5608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↓</a:t>
            </a:r>
          </a:p>
          <a:p>
            <a:pPr algn="ctr">
              <a:lnSpc>
                <a:spcPts val="3379"/>
              </a:lnSpc>
            </a:pPr>
            <a:r>
              <a:rPr lang="en-US" b="true" sz="2400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Storage Engine</a:t>
            </a:r>
          </a:p>
          <a:p>
            <a:pPr algn="ctr">
              <a:lnSpc>
                <a:spcPts val="6000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↓</a:t>
            </a:r>
          </a:p>
          <a:p>
            <a:pPr algn="ctr">
              <a:lnSpc>
                <a:spcPts val="2988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Buffer Manager (Buffer Pool)</a:t>
            </a:r>
          </a:p>
          <a:p>
            <a:pPr algn="ctr">
              <a:lnSpc>
                <a:spcPts val="6000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↓</a:t>
            </a:r>
          </a:p>
          <a:p>
            <a:pPr algn="ctr">
              <a:lnSpc>
                <a:spcPts val="2988"/>
              </a:lnSpc>
            </a:pPr>
            <a:r>
              <a:rPr lang="en-US" sz="24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Log Manager (WAL)</a:t>
            </a:r>
          </a:p>
          <a:p>
            <a:pPr algn="ctr">
              <a:lnSpc>
                <a:spcPts val="6000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↓</a:t>
            </a:r>
          </a:p>
          <a:p>
            <a:pPr algn="ctr">
              <a:lnSpc>
                <a:spcPts val="2988"/>
              </a:lnSpc>
            </a:pPr>
            <a:r>
              <a:rPr lang="en-US" sz="24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Disk / Fajl sistem (OS layer)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765792" y="5512041"/>
            <a:ext cx="3085624" cy="864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ItemId niz</a:t>
            </a:r>
          </a:p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Pokazivači na pozicije torki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9765792" y="6883641"/>
            <a:ext cx="2754078" cy="864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D16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Torke (Tuples)</a:t>
            </a:r>
          </a:p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Stvarni redovi podataka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9765792" y="8255241"/>
            <a:ext cx="3107750" cy="864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8BA8B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Slobodan prostor</a:t>
            </a:r>
          </a:p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Rezervisano za nove unose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9144000" y="3464547"/>
            <a:ext cx="415990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Anatomija jedne stranice (8 KB):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9765792" y="4140441"/>
            <a:ext cx="2512133" cy="864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Page Header</a:t>
            </a:r>
          </a:p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Metapodaci o stranici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548640" y="9427483"/>
            <a:ext cx="14947678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i="true">
                <a:solidFill>
                  <a:srgbClr val="8BA8BE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Svaki disk pristup učitava celu stranicu (8 KB) — nikad manji deo. Zbog toga I/O trošak se meri brojem stranica, ne brojem redova.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9326880" y="2311870"/>
            <a:ext cx="7777629" cy="70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Heap storage: redovi se smeštaju u prvi slobodan prostor, bez sortiranja. Brzo umetanje, ali potrebni indeksi za efikasnu pretragu.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85137" y="2771137"/>
            <a:ext cx="10185397" cy="1626613"/>
            <a:chOff x="0" y="0"/>
            <a:chExt cx="10185400" cy="16266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10058019" cy="1499615"/>
            </a:xfrm>
            <a:custGeom>
              <a:avLst/>
              <a:gdLst/>
              <a:ahLst/>
              <a:cxnLst/>
              <a:rect r="r" b="b" t="t" l="l"/>
              <a:pathLst>
                <a:path h="1499615" w="10058019">
                  <a:moveTo>
                    <a:pt x="0" y="0"/>
                  </a:moveTo>
                  <a:lnTo>
                    <a:pt x="10058019" y="0"/>
                  </a:lnTo>
                  <a:lnTo>
                    <a:pt x="10058019" y="1499615"/>
                  </a:lnTo>
                  <a:lnTo>
                    <a:pt x="0" y="1499615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128016" cy="1499615"/>
            </a:xfrm>
            <a:custGeom>
              <a:avLst/>
              <a:gdLst/>
              <a:ahLst/>
              <a:cxnLst/>
              <a:rect r="r" b="b" t="t" l="l"/>
              <a:pathLst>
                <a:path h="1499615" w="128016">
                  <a:moveTo>
                    <a:pt x="0" y="0"/>
                  </a:moveTo>
                  <a:lnTo>
                    <a:pt x="0" y="1499615"/>
                  </a:lnTo>
                  <a:lnTo>
                    <a:pt x="128016" y="1499615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6D6A0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63500" y="63500"/>
              <a:ext cx="10058400" cy="1499615"/>
            </a:xfrm>
            <a:custGeom>
              <a:avLst/>
              <a:gdLst/>
              <a:ahLst/>
              <a:cxnLst/>
              <a:rect r="r" b="b" t="t" l="l"/>
              <a:pathLst>
                <a:path h="1499615" w="10058400">
                  <a:moveTo>
                    <a:pt x="0" y="1499615"/>
                  </a:moveTo>
                  <a:lnTo>
                    <a:pt x="10058400" y="1499615"/>
                  </a:lnTo>
                  <a:lnTo>
                    <a:pt x="100584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128016" cy="1499615"/>
            </a:xfrm>
            <a:custGeom>
              <a:avLst/>
              <a:gdLst/>
              <a:ahLst/>
              <a:cxnLst/>
              <a:rect r="r" b="b" t="t" l="l"/>
              <a:pathLst>
                <a:path h="1499615" w="128016">
                  <a:moveTo>
                    <a:pt x="0" y="1499615"/>
                  </a:moveTo>
                  <a:lnTo>
                    <a:pt x="128016" y="1499615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485137" y="4508497"/>
            <a:ext cx="10185397" cy="1626613"/>
            <a:chOff x="0" y="0"/>
            <a:chExt cx="10185400" cy="16266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63500" y="63500"/>
              <a:ext cx="10058019" cy="1499616"/>
            </a:xfrm>
            <a:custGeom>
              <a:avLst/>
              <a:gdLst/>
              <a:ahLst/>
              <a:cxnLst/>
              <a:rect r="r" b="b" t="t" l="l"/>
              <a:pathLst>
                <a:path h="1499616" w="10058019">
                  <a:moveTo>
                    <a:pt x="0" y="0"/>
                  </a:moveTo>
                  <a:lnTo>
                    <a:pt x="10058019" y="0"/>
                  </a:lnTo>
                  <a:lnTo>
                    <a:pt x="10058019" y="1499616"/>
                  </a:lnTo>
                  <a:lnTo>
                    <a:pt x="0" y="1499616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0"/>
                  </a:moveTo>
                  <a:lnTo>
                    <a:pt x="0" y="1499616"/>
                  </a:lnTo>
                  <a:lnTo>
                    <a:pt x="128016" y="149961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EF476F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63500"/>
              <a:ext cx="10058400" cy="1499616"/>
            </a:xfrm>
            <a:custGeom>
              <a:avLst/>
              <a:gdLst/>
              <a:ahLst/>
              <a:cxnLst/>
              <a:rect r="r" b="b" t="t" l="l"/>
              <a:pathLst>
                <a:path h="1499616" w="10058400">
                  <a:moveTo>
                    <a:pt x="0" y="1499616"/>
                  </a:moveTo>
                  <a:lnTo>
                    <a:pt x="10058400" y="1499616"/>
                  </a:lnTo>
                  <a:lnTo>
                    <a:pt x="100584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1499616"/>
                  </a:moveTo>
                  <a:lnTo>
                    <a:pt x="128016" y="1499616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485137" y="6245857"/>
            <a:ext cx="10185397" cy="1626613"/>
            <a:chOff x="0" y="0"/>
            <a:chExt cx="10185400" cy="16266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10058019" cy="1499616"/>
            </a:xfrm>
            <a:custGeom>
              <a:avLst/>
              <a:gdLst/>
              <a:ahLst/>
              <a:cxnLst/>
              <a:rect r="r" b="b" t="t" l="l"/>
              <a:pathLst>
                <a:path h="1499616" w="10058019">
                  <a:moveTo>
                    <a:pt x="0" y="0"/>
                  </a:moveTo>
                  <a:lnTo>
                    <a:pt x="10058019" y="0"/>
                  </a:lnTo>
                  <a:lnTo>
                    <a:pt x="10058019" y="1499616"/>
                  </a:lnTo>
                  <a:lnTo>
                    <a:pt x="0" y="1499616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0"/>
                  </a:moveTo>
                  <a:lnTo>
                    <a:pt x="0" y="1499616"/>
                  </a:lnTo>
                  <a:lnTo>
                    <a:pt x="128016" y="149961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FFD166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63500" y="63500"/>
              <a:ext cx="10058400" cy="1499616"/>
            </a:xfrm>
            <a:custGeom>
              <a:avLst/>
              <a:gdLst/>
              <a:ahLst/>
              <a:cxnLst/>
              <a:rect r="r" b="b" t="t" l="l"/>
              <a:pathLst>
                <a:path h="1499616" w="10058400">
                  <a:moveTo>
                    <a:pt x="0" y="1499616"/>
                  </a:moveTo>
                  <a:lnTo>
                    <a:pt x="10058400" y="1499616"/>
                  </a:lnTo>
                  <a:lnTo>
                    <a:pt x="100584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1499616"/>
                  </a:moveTo>
                  <a:lnTo>
                    <a:pt x="128016" y="1499616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485137" y="7983217"/>
            <a:ext cx="10185397" cy="1626613"/>
            <a:chOff x="0" y="0"/>
            <a:chExt cx="10185400" cy="162661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0" y="63500"/>
              <a:ext cx="10058019" cy="1499616"/>
            </a:xfrm>
            <a:custGeom>
              <a:avLst/>
              <a:gdLst/>
              <a:ahLst/>
              <a:cxnLst/>
              <a:rect r="r" b="b" t="t" l="l"/>
              <a:pathLst>
                <a:path h="1499616" w="10058019">
                  <a:moveTo>
                    <a:pt x="0" y="0"/>
                  </a:moveTo>
                  <a:lnTo>
                    <a:pt x="0" y="1499616"/>
                  </a:lnTo>
                  <a:lnTo>
                    <a:pt x="10058019" y="1499616"/>
                  </a:lnTo>
                  <a:lnTo>
                    <a:pt x="10058019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0"/>
                  </a:moveTo>
                  <a:lnTo>
                    <a:pt x="0" y="1499616"/>
                  </a:lnTo>
                  <a:lnTo>
                    <a:pt x="128016" y="149961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63500" y="63500"/>
              <a:ext cx="10058400" cy="1499616"/>
            </a:xfrm>
            <a:custGeom>
              <a:avLst/>
              <a:gdLst/>
              <a:ahLst/>
              <a:cxnLst/>
              <a:rect r="r" b="b" t="t" l="l"/>
              <a:pathLst>
                <a:path h="1499616" w="10058400">
                  <a:moveTo>
                    <a:pt x="0" y="1499616"/>
                  </a:moveTo>
                  <a:lnTo>
                    <a:pt x="10058400" y="1499616"/>
                  </a:lnTo>
                  <a:lnTo>
                    <a:pt x="100584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1499616"/>
                  </a:moveTo>
                  <a:lnTo>
                    <a:pt x="128016" y="1499616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-63503" y="-63503"/>
            <a:ext cx="18414997" cy="1443733"/>
            <a:chOff x="0" y="0"/>
            <a:chExt cx="18415000" cy="144373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25" id="25"/>
          <p:cNvSpPr/>
          <p:nvPr/>
        </p:nvSpPr>
        <p:spPr>
          <a:xfrm flipH="false" flipV="false" rot="0">
            <a:off x="11092177" y="3319777"/>
            <a:ext cx="6710677" cy="3053077"/>
          </a:xfrm>
          <a:custGeom>
            <a:avLst/>
            <a:gdLst/>
            <a:ahLst/>
            <a:cxnLst/>
            <a:rect r="r" b="b" t="t" l="l"/>
            <a:pathLst>
              <a:path h="3053077" w="6710677">
                <a:moveTo>
                  <a:pt x="0" y="0"/>
                </a:moveTo>
                <a:lnTo>
                  <a:pt x="6710677" y="0"/>
                </a:lnTo>
                <a:lnTo>
                  <a:pt x="6710677" y="3053077"/>
                </a:lnTo>
                <a:lnTo>
                  <a:pt x="0" y="30530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6" id="26"/>
          <p:cNvGrpSpPr/>
          <p:nvPr/>
        </p:nvGrpSpPr>
        <p:grpSpPr>
          <a:xfrm rot="0">
            <a:off x="14566897" y="6538465"/>
            <a:ext cx="3235957" cy="1443733"/>
            <a:chOff x="0" y="0"/>
            <a:chExt cx="3235960" cy="144373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63500" y="63500"/>
              <a:ext cx="3106673" cy="1316736"/>
            </a:xfrm>
            <a:custGeom>
              <a:avLst/>
              <a:gdLst/>
              <a:ahLst/>
              <a:cxnLst/>
              <a:rect r="r" b="b" t="t" l="l"/>
              <a:pathLst>
                <a:path h="1316736" w="3106673">
                  <a:moveTo>
                    <a:pt x="0" y="0"/>
                  </a:moveTo>
                  <a:lnTo>
                    <a:pt x="0" y="1316736"/>
                  </a:lnTo>
                  <a:lnTo>
                    <a:pt x="3106673" y="1316736"/>
                  </a:lnTo>
                  <a:lnTo>
                    <a:pt x="3106673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63500" y="63500"/>
              <a:ext cx="3108959" cy="1316736"/>
            </a:xfrm>
            <a:custGeom>
              <a:avLst/>
              <a:gdLst/>
              <a:ahLst/>
              <a:cxnLst/>
              <a:rect r="r" b="b" t="t" l="l"/>
              <a:pathLst>
                <a:path h="1316736" w="3108959">
                  <a:moveTo>
                    <a:pt x="0" y="1316736"/>
                  </a:moveTo>
                  <a:lnTo>
                    <a:pt x="3108959" y="1316736"/>
                  </a:lnTo>
                  <a:lnTo>
                    <a:pt x="31089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4566897" y="8147809"/>
            <a:ext cx="3235957" cy="1443733"/>
            <a:chOff x="0" y="0"/>
            <a:chExt cx="3235960" cy="144373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63500" y="63500"/>
              <a:ext cx="3106673" cy="1316736"/>
            </a:xfrm>
            <a:custGeom>
              <a:avLst/>
              <a:gdLst/>
              <a:ahLst/>
              <a:cxnLst/>
              <a:rect r="r" b="b" t="t" l="l"/>
              <a:pathLst>
                <a:path h="1316736" w="3106673">
                  <a:moveTo>
                    <a:pt x="0" y="0"/>
                  </a:moveTo>
                  <a:lnTo>
                    <a:pt x="0" y="1316736"/>
                  </a:lnTo>
                  <a:lnTo>
                    <a:pt x="3106673" y="1316736"/>
                  </a:lnTo>
                  <a:lnTo>
                    <a:pt x="3106673" y="0"/>
                  </a:lnTo>
                  <a:close/>
                </a:path>
              </a:pathLst>
            </a:custGeom>
            <a:solidFill>
              <a:srgbClr val="0A1520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63500" y="63500"/>
              <a:ext cx="3108959" cy="1316736"/>
            </a:xfrm>
            <a:custGeom>
              <a:avLst/>
              <a:gdLst/>
              <a:ahLst/>
              <a:cxnLst/>
              <a:rect r="r" b="b" t="t" l="l"/>
              <a:pathLst>
                <a:path h="1316736" w="3108959">
                  <a:moveTo>
                    <a:pt x="0" y="1316736"/>
                  </a:moveTo>
                  <a:lnTo>
                    <a:pt x="3108959" y="1316736"/>
                  </a:lnTo>
                  <a:lnTo>
                    <a:pt x="31089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731520" y="205930"/>
            <a:ext cx="11517725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Buffer Pool — osnovna memorijska komponenta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548640" y="1638414"/>
            <a:ext cx="17187805" cy="817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5"/>
              </a:lnSpc>
            </a:pPr>
            <a:r>
              <a:rPr lang="en-US" sz="25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Buffer pool (shared_buffers) je memorijski prostor u kome PostgreSQL čuva kopije disk stranica. Sve operacije čitanja i pisanja prolaze kroz ovaj sloj pre nego što dospeju do diska.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3091932" y="2751211"/>
            <a:ext cx="2765155" cy="484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b="true" sz="25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Interna organizacija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634166" y="2989821"/>
            <a:ext cx="70285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877824" y="6464541"/>
            <a:ext cx="6769913" cy="1040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D16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Dirty Page</a:t>
            </a:r>
          </a:p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Izmenjena stranica u memoriji koja još nije upisana na disk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877824" y="8201901"/>
            <a:ext cx="6999065" cy="1040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Buffer Hit Ratio</a:t>
            </a:r>
          </a:p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shared_hit / (shared_hit + shared_read) × 100% — cilj &gt; 95%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77824" y="2989821"/>
            <a:ext cx="2785462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Cache</a:t>
            </a: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b="true" sz="2400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Hit</a:t>
            </a: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b="true" sz="2400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(shared</a:t>
            </a: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b="true" sz="2400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hit)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877824" y="4727181"/>
            <a:ext cx="6886232" cy="1040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Cache Miss (shared read)</a:t>
            </a:r>
          </a:p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Stranica nije u RAM-u → učitava se sa diska, ~100 µs–10 ms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877824" y="3621367"/>
            <a:ext cx="6614512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Stranica je u RAM-u → čitanje ~100 ns, bez disk operacije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48640" y="9407366"/>
            <a:ext cx="7283301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b="true" sz="2199" i="true">
                <a:solidFill>
                  <a:srgbClr val="06D6A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Buffer Hit Ratio iz naših testova: 99.2% (cold) → 100% (warm)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080938" y="3428143"/>
            <a:ext cx="1283341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b="true" sz="21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Page Table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1247120" y="4152138"/>
            <a:ext cx="2098891" cy="3181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8BA8BE"/>
                </a:solidFill>
                <a:latin typeface="Courier New"/>
                <a:ea typeface="Courier New"/>
                <a:cs typeface="Courier New"/>
                <a:sym typeface="Courier New"/>
              </a:rPr>
              <a:t>Page ID → Frame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1247120" y="4700778"/>
            <a:ext cx="2238813" cy="3181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customers/0 → F3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1247120" y="5249418"/>
            <a:ext cx="1819037" cy="3181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orders/0 → F1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1247120" y="5798058"/>
            <a:ext cx="1958969" cy="3181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orders/1 → F12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4721840" y="8795004"/>
            <a:ext cx="559708" cy="3181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8BA8BE"/>
                </a:solidFill>
                <a:latin typeface="Courier New"/>
                <a:ea typeface="Courier New"/>
                <a:cs typeface="Courier New"/>
                <a:sym typeface="Courier New"/>
              </a:rPr>
              <a:t>FREE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4721840" y="3966972"/>
            <a:ext cx="1119407" cy="3181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00B4D8"/>
                </a:solidFill>
                <a:latin typeface="Courier New"/>
                <a:ea typeface="Courier New"/>
                <a:cs typeface="Courier New"/>
                <a:sym typeface="Courier New"/>
              </a:rPr>
              <a:t>orders/0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4721840" y="7185660"/>
            <a:ext cx="1119407" cy="3181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00B4D8"/>
                </a:solidFill>
                <a:latin typeface="Courier New"/>
                <a:ea typeface="Courier New"/>
                <a:cs typeface="Courier New"/>
                <a:sym typeface="Courier New"/>
              </a:rPr>
              <a:t>orders/1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5268004" y="7447483"/>
            <a:ext cx="159258" cy="3121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FFD166"/>
                </a:solidFill>
                <a:latin typeface="Noto Sans"/>
                <a:ea typeface="Noto Sans"/>
                <a:cs typeface="Noto Sans"/>
                <a:sym typeface="Noto Sans"/>
              </a:rPr>
              <a:t>✓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4721840" y="5576316"/>
            <a:ext cx="1539183" cy="3181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00B4D8"/>
                </a:solidFill>
                <a:latin typeface="Courier New"/>
                <a:ea typeface="Courier New"/>
                <a:cs typeface="Courier New"/>
                <a:sym typeface="Courier New"/>
              </a:rPr>
              <a:t>customers/0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5268004" y="5838139"/>
            <a:ext cx="159258" cy="3121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FFD166"/>
                </a:solidFill>
                <a:latin typeface="Noto Sans"/>
                <a:ea typeface="Noto Sans"/>
                <a:cs typeface="Noto Sans"/>
                <a:sym typeface="Noto Sans"/>
              </a:rPr>
              <a:t>✓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4721840" y="3472129"/>
            <a:ext cx="869642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b="true" sz="19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Frame 1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4721840" y="5081473"/>
            <a:ext cx="869642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b="true" sz="19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Frame 3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4721840" y="6690817"/>
            <a:ext cx="1000906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b="true" sz="19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Frame 12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4721840" y="8300161"/>
            <a:ext cx="1000906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b="true" sz="1999">
                <a:solidFill>
                  <a:srgbClr val="8BA8B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Frame 15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4721840" y="4229672"/>
            <a:ext cx="690229" cy="393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dirty=✗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4721840" y="5839016"/>
            <a:ext cx="557089" cy="339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FFD166"/>
                </a:solidFill>
                <a:latin typeface="Calibri (MS)"/>
                <a:ea typeface="Calibri (MS)"/>
                <a:cs typeface="Calibri (MS)"/>
                <a:sym typeface="Calibri (MS)"/>
              </a:rPr>
              <a:t>dirty=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4721840" y="7448360"/>
            <a:ext cx="557089" cy="339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FFD166"/>
                </a:solidFill>
                <a:latin typeface="Calibri (MS)"/>
                <a:ea typeface="Calibri (MS)"/>
                <a:cs typeface="Calibri (MS)"/>
                <a:sym typeface="Calibri (MS)"/>
              </a:rPr>
              <a:t>dirty=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5398563" y="4229672"/>
            <a:ext cx="638337" cy="339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 pin=2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5424156" y="5839016"/>
            <a:ext cx="638337" cy="339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FFD166"/>
                </a:solidFill>
                <a:latin typeface="Calibri (MS)"/>
                <a:ea typeface="Calibri (MS)"/>
                <a:cs typeface="Calibri (MS)"/>
                <a:sym typeface="Calibri (MS)"/>
              </a:rPr>
              <a:t> pin=1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5424156" y="7448360"/>
            <a:ext cx="638337" cy="339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FFD166"/>
                </a:solidFill>
                <a:latin typeface="Calibri (MS)"/>
                <a:ea typeface="Calibri (MS)"/>
                <a:cs typeface="Calibri (MS)"/>
                <a:sym typeface="Calibri (MS)"/>
              </a:rPr>
              <a:t> pin=3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3697" y="6428737"/>
            <a:ext cx="4296661" cy="3327397"/>
            <a:chOff x="0" y="0"/>
            <a:chExt cx="4296664" cy="33274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4169664" cy="3198621"/>
            </a:xfrm>
            <a:custGeom>
              <a:avLst/>
              <a:gdLst/>
              <a:ahLst/>
              <a:cxnLst/>
              <a:rect r="r" b="b" t="t" l="l"/>
              <a:pathLst>
                <a:path h="3198621" w="4169664">
                  <a:moveTo>
                    <a:pt x="0" y="0"/>
                  </a:moveTo>
                  <a:lnTo>
                    <a:pt x="0" y="3198621"/>
                  </a:lnTo>
                  <a:lnTo>
                    <a:pt x="4169664" y="3198621"/>
                  </a:lnTo>
                  <a:lnTo>
                    <a:pt x="4169664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4169664" cy="109728"/>
            </a:xfrm>
            <a:custGeom>
              <a:avLst/>
              <a:gdLst/>
              <a:ahLst/>
              <a:cxnLst/>
              <a:rect r="r" b="b" t="t" l="l"/>
              <a:pathLst>
                <a:path h="109728" w="4169664">
                  <a:moveTo>
                    <a:pt x="0" y="0"/>
                  </a:moveTo>
                  <a:lnTo>
                    <a:pt x="4169664" y="0"/>
                  </a:lnTo>
                  <a:lnTo>
                    <a:pt x="4169664" y="109728"/>
                  </a:lnTo>
                  <a:lnTo>
                    <a:pt x="0" y="109728"/>
                  </a:lnTo>
                  <a:close/>
                </a:path>
              </a:pathLst>
            </a:custGeom>
            <a:solidFill>
              <a:srgbClr val="FFD166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63500" y="63500"/>
              <a:ext cx="4169664" cy="3200400"/>
            </a:xfrm>
            <a:custGeom>
              <a:avLst/>
              <a:gdLst/>
              <a:ahLst/>
              <a:cxnLst/>
              <a:rect r="r" b="b" t="t" l="l"/>
              <a:pathLst>
                <a:path h="3200400" w="4169664">
                  <a:moveTo>
                    <a:pt x="0" y="3200400"/>
                  </a:moveTo>
                  <a:lnTo>
                    <a:pt x="4169664" y="3200400"/>
                  </a:lnTo>
                  <a:lnTo>
                    <a:pt x="416966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4169664" cy="109728"/>
            </a:xfrm>
            <a:custGeom>
              <a:avLst/>
              <a:gdLst/>
              <a:ahLst/>
              <a:cxnLst/>
              <a:rect r="r" b="b" t="t" l="l"/>
              <a:pathLst>
                <a:path h="109728" w="4169664">
                  <a:moveTo>
                    <a:pt x="0" y="109728"/>
                  </a:moveTo>
                  <a:lnTo>
                    <a:pt x="4169664" y="109728"/>
                  </a:lnTo>
                  <a:lnTo>
                    <a:pt x="416966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4819393" y="6428737"/>
            <a:ext cx="4296661" cy="3327397"/>
            <a:chOff x="0" y="0"/>
            <a:chExt cx="4296664" cy="33274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63500" y="63500"/>
              <a:ext cx="4169663" cy="3198621"/>
            </a:xfrm>
            <a:custGeom>
              <a:avLst/>
              <a:gdLst/>
              <a:ahLst/>
              <a:cxnLst/>
              <a:rect r="r" b="b" t="t" l="l"/>
              <a:pathLst>
                <a:path h="3198621" w="4169663">
                  <a:moveTo>
                    <a:pt x="0" y="0"/>
                  </a:moveTo>
                  <a:lnTo>
                    <a:pt x="4169663" y="0"/>
                  </a:lnTo>
                  <a:lnTo>
                    <a:pt x="4169663" y="3198621"/>
                  </a:lnTo>
                  <a:lnTo>
                    <a:pt x="0" y="3198621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3500" y="63500"/>
              <a:ext cx="4169663" cy="109728"/>
            </a:xfrm>
            <a:custGeom>
              <a:avLst/>
              <a:gdLst/>
              <a:ahLst/>
              <a:cxnLst/>
              <a:rect r="r" b="b" t="t" l="l"/>
              <a:pathLst>
                <a:path h="109728" w="4169663">
                  <a:moveTo>
                    <a:pt x="0" y="0"/>
                  </a:moveTo>
                  <a:lnTo>
                    <a:pt x="4169663" y="0"/>
                  </a:lnTo>
                  <a:lnTo>
                    <a:pt x="4169663" y="109728"/>
                  </a:lnTo>
                  <a:lnTo>
                    <a:pt x="0" y="109728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63500"/>
              <a:ext cx="4169663" cy="3200400"/>
            </a:xfrm>
            <a:custGeom>
              <a:avLst/>
              <a:gdLst/>
              <a:ahLst/>
              <a:cxnLst/>
              <a:rect r="r" b="b" t="t" l="l"/>
              <a:pathLst>
                <a:path h="3200400" w="4169663">
                  <a:moveTo>
                    <a:pt x="0" y="3200400"/>
                  </a:moveTo>
                  <a:lnTo>
                    <a:pt x="4169663" y="3200400"/>
                  </a:lnTo>
                  <a:lnTo>
                    <a:pt x="41696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4169663" cy="109728"/>
            </a:xfrm>
            <a:custGeom>
              <a:avLst/>
              <a:gdLst/>
              <a:ahLst/>
              <a:cxnLst/>
              <a:rect r="r" b="b" t="t" l="l"/>
              <a:pathLst>
                <a:path h="109728" w="4169663">
                  <a:moveTo>
                    <a:pt x="0" y="109728"/>
                  </a:moveTo>
                  <a:lnTo>
                    <a:pt x="4169663" y="109728"/>
                  </a:lnTo>
                  <a:lnTo>
                    <a:pt x="41696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245089" y="6428737"/>
            <a:ext cx="4296661" cy="3327397"/>
            <a:chOff x="0" y="0"/>
            <a:chExt cx="4296664" cy="3327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4169663" cy="3198621"/>
            </a:xfrm>
            <a:custGeom>
              <a:avLst/>
              <a:gdLst/>
              <a:ahLst/>
              <a:cxnLst/>
              <a:rect r="r" b="b" t="t" l="l"/>
              <a:pathLst>
                <a:path h="3198621" w="4169663">
                  <a:moveTo>
                    <a:pt x="0" y="0"/>
                  </a:moveTo>
                  <a:lnTo>
                    <a:pt x="4169663" y="0"/>
                  </a:lnTo>
                  <a:lnTo>
                    <a:pt x="4169663" y="3198621"/>
                  </a:lnTo>
                  <a:lnTo>
                    <a:pt x="0" y="3198621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63500" y="63500"/>
              <a:ext cx="4169663" cy="109728"/>
            </a:xfrm>
            <a:custGeom>
              <a:avLst/>
              <a:gdLst/>
              <a:ahLst/>
              <a:cxnLst/>
              <a:rect r="r" b="b" t="t" l="l"/>
              <a:pathLst>
                <a:path h="109728" w="4169663">
                  <a:moveTo>
                    <a:pt x="0" y="0"/>
                  </a:moveTo>
                  <a:lnTo>
                    <a:pt x="4169663" y="0"/>
                  </a:lnTo>
                  <a:lnTo>
                    <a:pt x="4169663" y="109728"/>
                  </a:lnTo>
                  <a:lnTo>
                    <a:pt x="0" y="109728"/>
                  </a:lnTo>
                  <a:close/>
                </a:path>
              </a:pathLst>
            </a:custGeom>
            <a:solidFill>
              <a:srgbClr val="EF476F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63500" y="63500"/>
              <a:ext cx="4169663" cy="3200400"/>
            </a:xfrm>
            <a:custGeom>
              <a:avLst/>
              <a:gdLst/>
              <a:ahLst/>
              <a:cxnLst/>
              <a:rect r="r" b="b" t="t" l="l"/>
              <a:pathLst>
                <a:path h="3200400" w="4169663">
                  <a:moveTo>
                    <a:pt x="0" y="3200400"/>
                  </a:moveTo>
                  <a:lnTo>
                    <a:pt x="4169663" y="3200400"/>
                  </a:lnTo>
                  <a:lnTo>
                    <a:pt x="41696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4169663" cy="109728"/>
            </a:xfrm>
            <a:custGeom>
              <a:avLst/>
              <a:gdLst/>
              <a:ahLst/>
              <a:cxnLst/>
              <a:rect r="r" b="b" t="t" l="l"/>
              <a:pathLst>
                <a:path h="109728" w="4169663">
                  <a:moveTo>
                    <a:pt x="0" y="109728"/>
                  </a:moveTo>
                  <a:lnTo>
                    <a:pt x="4169663" y="109728"/>
                  </a:lnTo>
                  <a:lnTo>
                    <a:pt x="41696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3670785" y="6428737"/>
            <a:ext cx="4296661" cy="3327397"/>
            <a:chOff x="0" y="0"/>
            <a:chExt cx="4296664" cy="33274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0" y="63500"/>
              <a:ext cx="4169663" cy="3198621"/>
            </a:xfrm>
            <a:custGeom>
              <a:avLst/>
              <a:gdLst/>
              <a:ahLst/>
              <a:cxnLst/>
              <a:rect r="r" b="b" t="t" l="l"/>
              <a:pathLst>
                <a:path h="3198621" w="4169663">
                  <a:moveTo>
                    <a:pt x="0" y="0"/>
                  </a:moveTo>
                  <a:lnTo>
                    <a:pt x="4169663" y="0"/>
                  </a:lnTo>
                  <a:lnTo>
                    <a:pt x="4169663" y="3198621"/>
                  </a:lnTo>
                  <a:lnTo>
                    <a:pt x="0" y="3198621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4169663" cy="109728"/>
            </a:xfrm>
            <a:custGeom>
              <a:avLst/>
              <a:gdLst/>
              <a:ahLst/>
              <a:cxnLst/>
              <a:rect r="r" b="b" t="t" l="l"/>
              <a:pathLst>
                <a:path h="109728" w="4169663">
                  <a:moveTo>
                    <a:pt x="0" y="0"/>
                  </a:moveTo>
                  <a:lnTo>
                    <a:pt x="4169663" y="0"/>
                  </a:lnTo>
                  <a:lnTo>
                    <a:pt x="4169663" y="109728"/>
                  </a:lnTo>
                  <a:lnTo>
                    <a:pt x="0" y="109728"/>
                  </a:lnTo>
                  <a:close/>
                </a:path>
              </a:pathLst>
            </a:custGeom>
            <a:solidFill>
              <a:srgbClr val="06D6A0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63500" y="63500"/>
              <a:ext cx="4169663" cy="3200400"/>
            </a:xfrm>
            <a:custGeom>
              <a:avLst/>
              <a:gdLst/>
              <a:ahLst/>
              <a:cxnLst/>
              <a:rect r="r" b="b" t="t" l="l"/>
              <a:pathLst>
                <a:path h="3200400" w="4169663">
                  <a:moveTo>
                    <a:pt x="0" y="3200400"/>
                  </a:moveTo>
                  <a:lnTo>
                    <a:pt x="4169663" y="3200400"/>
                  </a:lnTo>
                  <a:lnTo>
                    <a:pt x="41696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63500" y="63500"/>
              <a:ext cx="4169663" cy="109728"/>
            </a:xfrm>
            <a:custGeom>
              <a:avLst/>
              <a:gdLst/>
              <a:ahLst/>
              <a:cxnLst/>
              <a:rect r="r" b="b" t="t" l="l"/>
              <a:pathLst>
                <a:path h="109728" w="4169663">
                  <a:moveTo>
                    <a:pt x="0" y="109728"/>
                  </a:moveTo>
                  <a:lnTo>
                    <a:pt x="4169663" y="109728"/>
                  </a:lnTo>
                  <a:lnTo>
                    <a:pt x="41696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22" id="22"/>
          <p:cNvSpPr/>
          <p:nvPr/>
        </p:nvSpPr>
        <p:spPr>
          <a:xfrm flipH="false" flipV="false" rot="0">
            <a:off x="-63503" y="-63503"/>
            <a:ext cx="18414997" cy="6070597"/>
          </a:xfrm>
          <a:custGeom>
            <a:avLst/>
            <a:gdLst/>
            <a:ahLst/>
            <a:cxnLst/>
            <a:rect r="r" b="b" t="t" l="l"/>
            <a:pathLst>
              <a:path h="6070597" w="18414997">
                <a:moveTo>
                  <a:pt x="0" y="0"/>
                </a:moveTo>
                <a:lnTo>
                  <a:pt x="18414997" y="0"/>
                </a:lnTo>
                <a:lnTo>
                  <a:pt x="18414997" y="6070597"/>
                </a:lnTo>
                <a:lnTo>
                  <a:pt x="0" y="60705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731520" y="205930"/>
            <a:ext cx="8798300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Životni ciklus stranice u Buffer Pool-u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97696" y="3306013"/>
            <a:ext cx="1363208" cy="634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25"/>
              </a:lnSpc>
            </a:pPr>
            <a:r>
              <a:rPr lang="en-US" b="true" sz="19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Zahtev</a:t>
            </a:r>
          </a:p>
          <a:p>
            <a:pPr algn="ctr">
              <a:lnSpc>
                <a:spcPts val="2325"/>
              </a:lnSpc>
            </a:pPr>
            <a:r>
              <a:rPr lang="en-US" b="true" sz="19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za stranicom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716542" y="3153613"/>
            <a:ext cx="1290476" cy="930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25"/>
              </a:lnSpc>
            </a:pPr>
            <a:r>
              <a:rPr lang="en-US" b="true" sz="19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Cache lookup (page table)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955280" y="2110435"/>
            <a:ext cx="360664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b="true" sz="1999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HIT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863840" y="4322902"/>
            <a:ext cx="540229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b="true" sz="1999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MISS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554414" y="4616653"/>
            <a:ext cx="1319565" cy="930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25"/>
              </a:lnSpc>
            </a:pPr>
            <a:r>
              <a:rPr lang="en-US" b="true" sz="19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CACHE MISS Učitavanje sa diska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331910" y="2062429"/>
            <a:ext cx="1773669" cy="634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25"/>
              </a:lnSpc>
            </a:pPr>
            <a:r>
              <a:rPr lang="en-US" b="true" sz="19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CACHE HIT Čitanje iz RAM-a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519462" y="3306013"/>
            <a:ext cx="1065524" cy="634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25"/>
              </a:lnSpc>
            </a:pPr>
            <a:r>
              <a:rPr lang="en-US" b="true" sz="19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Pinovanje stranice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6565575" y="2043379"/>
            <a:ext cx="1114082" cy="634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25"/>
              </a:lnSpc>
            </a:pPr>
            <a:r>
              <a:rPr lang="en-US" b="true" sz="1999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Korišćenje u upitu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40080" y="6739623"/>
            <a:ext cx="1783709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D16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Dirty Marking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5065776" y="6739623"/>
            <a:ext cx="1650273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Unpinovanje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491472" y="6739623"/>
            <a:ext cx="1737103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Evikcija (LRU)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3917168" y="6739623"/>
            <a:ext cx="1842907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WAL garancija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40080" y="8062684"/>
            <a:ext cx="3881447" cy="70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Ako je stranica izmenjena → dirty flag = true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065776" y="8062684"/>
            <a:ext cx="3909127" cy="70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pin counter - kada executor završi sa stranicom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9491472" y="8062684"/>
            <a:ext cx="3859882" cy="70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Stranica ostaje ili se uklanja; dirty → flush na disk pre uklanjanja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3917168" y="8062684"/>
            <a:ext cx="3286392" cy="70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Pre upisa dirty page → zapis mora biti u Write-Ahead Log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3697" y="1490977"/>
            <a:ext cx="8630917" cy="6710677"/>
            <a:chOff x="0" y="0"/>
            <a:chExt cx="8630920" cy="67106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8503920" cy="6583680"/>
            </a:xfrm>
            <a:custGeom>
              <a:avLst/>
              <a:gdLst/>
              <a:ahLst/>
              <a:cxnLst/>
              <a:rect r="r" b="b" t="t" l="l"/>
              <a:pathLst>
                <a:path h="6583680" w="8503920">
                  <a:moveTo>
                    <a:pt x="0" y="0"/>
                  </a:moveTo>
                  <a:lnTo>
                    <a:pt x="0" y="6583680"/>
                  </a:lnTo>
                  <a:lnTo>
                    <a:pt x="8503920" y="6583680"/>
                  </a:lnTo>
                  <a:lnTo>
                    <a:pt x="850392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8502142" cy="1060704"/>
            </a:xfrm>
            <a:custGeom>
              <a:avLst/>
              <a:gdLst/>
              <a:ahLst/>
              <a:cxnLst/>
              <a:rect r="r" b="b" t="t" l="l"/>
              <a:pathLst>
                <a:path h="1060704" w="8502142">
                  <a:moveTo>
                    <a:pt x="0" y="0"/>
                  </a:moveTo>
                  <a:lnTo>
                    <a:pt x="0" y="1060704"/>
                  </a:lnTo>
                  <a:lnTo>
                    <a:pt x="8502142" y="1060704"/>
                  </a:lnTo>
                  <a:lnTo>
                    <a:pt x="8502142" y="0"/>
                  </a:lnTo>
                  <a:close/>
                </a:path>
              </a:pathLst>
            </a:custGeom>
            <a:solidFill>
              <a:srgbClr val="EF476F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63500" y="63500"/>
              <a:ext cx="8503920" cy="6583680"/>
            </a:xfrm>
            <a:custGeom>
              <a:avLst/>
              <a:gdLst/>
              <a:ahLst/>
              <a:cxnLst/>
              <a:rect r="r" b="b" t="t" l="l"/>
              <a:pathLst>
                <a:path h="6583680" w="8503920">
                  <a:moveTo>
                    <a:pt x="0" y="6583680"/>
                  </a:moveTo>
                  <a:lnTo>
                    <a:pt x="8503920" y="658368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8503920" cy="1060704"/>
            </a:xfrm>
            <a:custGeom>
              <a:avLst/>
              <a:gdLst/>
              <a:ahLst/>
              <a:cxnLst/>
              <a:rect r="r" b="b" t="t" l="l"/>
              <a:pathLst>
                <a:path h="1060704" w="8503920">
                  <a:moveTo>
                    <a:pt x="0" y="1060704"/>
                  </a:moveTo>
                  <a:lnTo>
                    <a:pt x="8503920" y="1060704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-63503" y="-63503"/>
            <a:ext cx="18414997" cy="1443733"/>
            <a:chOff x="0" y="0"/>
            <a:chExt cx="18415000" cy="1443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393697" y="8312401"/>
            <a:ext cx="17500597" cy="1626613"/>
            <a:chOff x="0" y="0"/>
            <a:chExt cx="17500600" cy="16266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17373600" cy="1499616"/>
            </a:xfrm>
            <a:custGeom>
              <a:avLst/>
              <a:gdLst/>
              <a:ahLst/>
              <a:cxnLst/>
              <a:rect r="r" b="b" t="t" l="l"/>
              <a:pathLst>
                <a:path h="1499616" w="17373600">
                  <a:moveTo>
                    <a:pt x="0" y="0"/>
                  </a:moveTo>
                  <a:lnTo>
                    <a:pt x="0" y="1499616"/>
                  </a:lnTo>
                  <a:lnTo>
                    <a:pt x="17373600" y="1499616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0"/>
                  </a:moveTo>
                  <a:lnTo>
                    <a:pt x="0" y="1499616"/>
                  </a:lnTo>
                  <a:lnTo>
                    <a:pt x="128016" y="149961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FFD166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17373600" cy="1499616"/>
            </a:xfrm>
            <a:custGeom>
              <a:avLst/>
              <a:gdLst/>
              <a:ahLst/>
              <a:cxnLst/>
              <a:rect r="r" b="b" t="t" l="l"/>
              <a:pathLst>
                <a:path h="1499616" w="17373600">
                  <a:moveTo>
                    <a:pt x="0" y="1499616"/>
                  </a:moveTo>
                  <a:lnTo>
                    <a:pt x="17373600" y="1499616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1499616"/>
                  </a:moveTo>
                  <a:lnTo>
                    <a:pt x="128016" y="1499616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354817" y="1490977"/>
            <a:ext cx="8630917" cy="6710677"/>
            <a:chOff x="0" y="0"/>
            <a:chExt cx="8630920" cy="67106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8503920" cy="6583680"/>
            </a:xfrm>
            <a:custGeom>
              <a:avLst/>
              <a:gdLst/>
              <a:ahLst/>
              <a:cxnLst/>
              <a:rect r="r" b="b" t="t" l="l"/>
              <a:pathLst>
                <a:path h="6583680" w="8503920">
                  <a:moveTo>
                    <a:pt x="0" y="0"/>
                  </a:moveTo>
                  <a:lnTo>
                    <a:pt x="0" y="6583680"/>
                  </a:lnTo>
                  <a:lnTo>
                    <a:pt x="8503920" y="6583680"/>
                  </a:lnTo>
                  <a:lnTo>
                    <a:pt x="850392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63500" y="63500"/>
              <a:ext cx="8502142" cy="1060704"/>
            </a:xfrm>
            <a:custGeom>
              <a:avLst/>
              <a:gdLst/>
              <a:ahLst/>
              <a:cxnLst/>
              <a:rect r="r" b="b" t="t" l="l"/>
              <a:pathLst>
                <a:path h="1060704" w="8502142">
                  <a:moveTo>
                    <a:pt x="0" y="0"/>
                  </a:moveTo>
                  <a:lnTo>
                    <a:pt x="0" y="1060704"/>
                  </a:lnTo>
                  <a:lnTo>
                    <a:pt x="8502142" y="1060704"/>
                  </a:lnTo>
                  <a:lnTo>
                    <a:pt x="8502142" y="0"/>
                  </a:lnTo>
                  <a:close/>
                </a:path>
              </a:pathLst>
            </a:custGeom>
            <a:solidFill>
              <a:srgbClr val="06D6A0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63500" y="63500"/>
              <a:ext cx="8503920" cy="6583680"/>
            </a:xfrm>
            <a:custGeom>
              <a:avLst/>
              <a:gdLst/>
              <a:ahLst/>
              <a:cxnLst/>
              <a:rect r="r" b="b" t="t" l="l"/>
              <a:pathLst>
                <a:path h="6583680" w="8503920">
                  <a:moveTo>
                    <a:pt x="0" y="6583680"/>
                  </a:moveTo>
                  <a:lnTo>
                    <a:pt x="8503920" y="658368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8503920" cy="1060704"/>
            </a:xfrm>
            <a:custGeom>
              <a:avLst/>
              <a:gdLst/>
              <a:ahLst/>
              <a:cxnLst/>
              <a:rect r="r" b="b" t="t" l="l"/>
              <a:pathLst>
                <a:path h="1060704" w="8503920">
                  <a:moveTo>
                    <a:pt x="0" y="1060704"/>
                  </a:moveTo>
                  <a:lnTo>
                    <a:pt x="8503920" y="1060704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731520" y="205930"/>
            <a:ext cx="6358242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Cold Cache vs Warm Cache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31520" y="1722444"/>
            <a:ext cx="2370725" cy="600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COLD CACHE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692640" y="1722444"/>
            <a:ext cx="2656856" cy="600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WARM CACHE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86384" y="6206395"/>
            <a:ext cx="748798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b="true" sz="2199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Efekat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86384" y="6947878"/>
            <a:ext cx="5646029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Visoko vreme izvršavanja, intenzivan disk pristup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86384" y="2879503"/>
            <a:ext cx="7460837" cy="1281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b="true" sz="2199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Kada se javlja?</a:t>
            </a:r>
          </a:p>
          <a:p>
            <a:pPr algn="l" rtl="true">
              <a:lnSpc>
                <a:spcPts val="2624"/>
              </a:lnSpc>
            </a:pP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Nakon DISCARD ALL, prvog pokretanja sistema, ili prvog pristupa novim podacima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86384" y="4561999"/>
            <a:ext cx="7782087" cy="1281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b="true" sz="2199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Šta se dešava?</a:t>
            </a:r>
          </a:p>
          <a:p>
            <a:pPr algn="l" rtl="true">
              <a:lnSpc>
                <a:spcPts val="2624"/>
              </a:lnSpc>
            </a:pP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Svaki zahtev generiše shared read (disk I/O) — stranice se učitavaju sa diska jednu po jednu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747504" y="6206395"/>
            <a:ext cx="748798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b="true" sz="2199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Efekat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747504" y="6947878"/>
            <a:ext cx="6369501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Minimalno vreme izvršavanja — čisto CPU procesiranje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747504" y="4561999"/>
            <a:ext cx="7498680" cy="1281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b="true" sz="2199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Šta se dešava?</a:t>
            </a:r>
          </a:p>
          <a:p>
            <a:pPr algn="l" rtl="true">
              <a:lnSpc>
                <a:spcPts val="2624"/>
              </a:lnSpc>
            </a:pP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Zahtevi se opslužuju kao shared hit — direktno iz RAM-a bez disk operacije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22960" y="9031567"/>
            <a:ext cx="16938631" cy="70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Kada se buffer pool popuni, PostgreSQL izbacuje stranicu koja se najduže nije koristila. Na većim bazama (&gt; shared_buffers) ovo postaje kritično — stranice koje su upravo učitane mogu biti izbačene pre nego što se ponovo koriste (cache pollution pri seq scan).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747504" y="2879503"/>
            <a:ext cx="7735481" cy="1281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b="true" sz="2199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Kada se javlja?</a:t>
            </a:r>
          </a:p>
          <a:p>
            <a:pPr algn="l" rtl="true">
              <a:lnSpc>
                <a:spcPts val="2624"/>
              </a:lnSpc>
            </a:pP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Nakon što su relevantne stranice učitane u buffer pool prethodnim upitima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22960" y="8475459"/>
            <a:ext cx="4669660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D16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LRU algoritam (Least Recently Used)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3697" y="1490977"/>
            <a:ext cx="8630917" cy="6710677"/>
            <a:chOff x="0" y="0"/>
            <a:chExt cx="8630920" cy="67106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8503920" cy="6583680"/>
            </a:xfrm>
            <a:custGeom>
              <a:avLst/>
              <a:gdLst/>
              <a:ahLst/>
              <a:cxnLst/>
              <a:rect r="r" b="b" t="t" l="l"/>
              <a:pathLst>
                <a:path h="6583680" w="8503920">
                  <a:moveTo>
                    <a:pt x="0" y="0"/>
                  </a:moveTo>
                  <a:lnTo>
                    <a:pt x="0" y="6583680"/>
                  </a:lnTo>
                  <a:lnTo>
                    <a:pt x="8503920" y="6583680"/>
                  </a:lnTo>
                  <a:lnTo>
                    <a:pt x="850392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8502142" cy="1060704"/>
            </a:xfrm>
            <a:custGeom>
              <a:avLst/>
              <a:gdLst/>
              <a:ahLst/>
              <a:cxnLst/>
              <a:rect r="r" b="b" t="t" l="l"/>
              <a:pathLst>
                <a:path h="1060704" w="8502142">
                  <a:moveTo>
                    <a:pt x="0" y="0"/>
                  </a:moveTo>
                  <a:lnTo>
                    <a:pt x="0" y="1060704"/>
                  </a:lnTo>
                  <a:lnTo>
                    <a:pt x="8502142" y="1060704"/>
                  </a:lnTo>
                  <a:lnTo>
                    <a:pt x="8502142" y="0"/>
                  </a:lnTo>
                  <a:close/>
                </a:path>
              </a:pathLst>
            </a:custGeom>
            <a:solidFill>
              <a:srgbClr val="EF476F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63500" y="63500"/>
              <a:ext cx="8503920" cy="6583680"/>
            </a:xfrm>
            <a:custGeom>
              <a:avLst/>
              <a:gdLst/>
              <a:ahLst/>
              <a:cxnLst/>
              <a:rect r="r" b="b" t="t" l="l"/>
              <a:pathLst>
                <a:path h="6583680" w="8503920">
                  <a:moveTo>
                    <a:pt x="0" y="6583680"/>
                  </a:moveTo>
                  <a:lnTo>
                    <a:pt x="8503920" y="658368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8503920" cy="1060704"/>
            </a:xfrm>
            <a:custGeom>
              <a:avLst/>
              <a:gdLst/>
              <a:ahLst/>
              <a:cxnLst/>
              <a:rect r="r" b="b" t="t" l="l"/>
              <a:pathLst>
                <a:path h="1060704" w="8503920">
                  <a:moveTo>
                    <a:pt x="0" y="1060704"/>
                  </a:moveTo>
                  <a:lnTo>
                    <a:pt x="8503920" y="1060704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-63503" y="-63503"/>
            <a:ext cx="18414997" cy="1443733"/>
            <a:chOff x="0" y="0"/>
            <a:chExt cx="18415000" cy="1443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393697" y="8312401"/>
            <a:ext cx="17500597" cy="1626613"/>
            <a:chOff x="0" y="0"/>
            <a:chExt cx="17500600" cy="16266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17373600" cy="1499616"/>
            </a:xfrm>
            <a:custGeom>
              <a:avLst/>
              <a:gdLst/>
              <a:ahLst/>
              <a:cxnLst/>
              <a:rect r="r" b="b" t="t" l="l"/>
              <a:pathLst>
                <a:path h="1499616" w="17373600">
                  <a:moveTo>
                    <a:pt x="0" y="0"/>
                  </a:moveTo>
                  <a:lnTo>
                    <a:pt x="0" y="1499616"/>
                  </a:lnTo>
                  <a:lnTo>
                    <a:pt x="17373600" y="1499616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0"/>
                  </a:moveTo>
                  <a:lnTo>
                    <a:pt x="0" y="1499616"/>
                  </a:lnTo>
                  <a:lnTo>
                    <a:pt x="128016" y="149961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FFD166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17373600" cy="1499616"/>
            </a:xfrm>
            <a:custGeom>
              <a:avLst/>
              <a:gdLst/>
              <a:ahLst/>
              <a:cxnLst/>
              <a:rect r="r" b="b" t="t" l="l"/>
              <a:pathLst>
                <a:path h="1499616" w="17373600">
                  <a:moveTo>
                    <a:pt x="0" y="1499616"/>
                  </a:moveTo>
                  <a:lnTo>
                    <a:pt x="17373600" y="1499616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1499616"/>
                  </a:moveTo>
                  <a:lnTo>
                    <a:pt x="128016" y="1499616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354817" y="1490977"/>
            <a:ext cx="8630917" cy="6710677"/>
            <a:chOff x="0" y="0"/>
            <a:chExt cx="8630920" cy="67106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8503920" cy="6583680"/>
            </a:xfrm>
            <a:custGeom>
              <a:avLst/>
              <a:gdLst/>
              <a:ahLst/>
              <a:cxnLst/>
              <a:rect r="r" b="b" t="t" l="l"/>
              <a:pathLst>
                <a:path h="6583680" w="8503920">
                  <a:moveTo>
                    <a:pt x="0" y="0"/>
                  </a:moveTo>
                  <a:lnTo>
                    <a:pt x="0" y="6583680"/>
                  </a:lnTo>
                  <a:lnTo>
                    <a:pt x="8503920" y="6583680"/>
                  </a:lnTo>
                  <a:lnTo>
                    <a:pt x="850392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63500" y="63500"/>
              <a:ext cx="8502142" cy="1060704"/>
            </a:xfrm>
            <a:custGeom>
              <a:avLst/>
              <a:gdLst/>
              <a:ahLst/>
              <a:cxnLst/>
              <a:rect r="r" b="b" t="t" l="l"/>
              <a:pathLst>
                <a:path h="1060704" w="8502142">
                  <a:moveTo>
                    <a:pt x="0" y="0"/>
                  </a:moveTo>
                  <a:lnTo>
                    <a:pt x="0" y="1060704"/>
                  </a:lnTo>
                  <a:lnTo>
                    <a:pt x="8502142" y="1060704"/>
                  </a:lnTo>
                  <a:lnTo>
                    <a:pt x="8502142" y="0"/>
                  </a:lnTo>
                  <a:close/>
                </a:path>
              </a:pathLst>
            </a:custGeom>
            <a:solidFill>
              <a:srgbClr val="06D6A0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63500" y="63500"/>
              <a:ext cx="8503920" cy="6583680"/>
            </a:xfrm>
            <a:custGeom>
              <a:avLst/>
              <a:gdLst/>
              <a:ahLst/>
              <a:cxnLst/>
              <a:rect r="r" b="b" t="t" l="l"/>
              <a:pathLst>
                <a:path h="6583680" w="8503920">
                  <a:moveTo>
                    <a:pt x="0" y="6583680"/>
                  </a:moveTo>
                  <a:lnTo>
                    <a:pt x="8503920" y="658368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8503920" cy="1060704"/>
            </a:xfrm>
            <a:custGeom>
              <a:avLst/>
              <a:gdLst/>
              <a:ahLst/>
              <a:cxnLst/>
              <a:rect r="r" b="b" t="t" l="l"/>
              <a:pathLst>
                <a:path h="1060704" w="8503920">
                  <a:moveTo>
                    <a:pt x="0" y="1060704"/>
                  </a:moveTo>
                  <a:lnTo>
                    <a:pt x="8503920" y="1060704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731520" y="205930"/>
            <a:ext cx="12881191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Caching mehanizmi — Slojevita memorijska hijerarhija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31520" y="1722444"/>
            <a:ext cx="3581629" cy="600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DBMS sloj keširanja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692640" y="1722444"/>
            <a:ext cx="2763393" cy="600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Fizički medijumi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86384" y="4561999"/>
            <a:ext cx="6522549" cy="1281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b="true" sz="2199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shared_buffers (Buffer Pool)</a:t>
            </a:r>
          </a:p>
          <a:p>
            <a:pPr algn="l" rtl="true">
              <a:lnSpc>
                <a:spcPts val="2624"/>
              </a:lnSpc>
            </a:pP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Primarni PostgreSQL keš stranica (8 KB). Konfiguriše se u postgresql.conf. Preporuka: ~25% RAM-a.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86384" y="2879503"/>
            <a:ext cx="7253668" cy="1281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b="true" sz="2199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CPU keš (L1/L2/L3)</a:t>
            </a:r>
          </a:p>
          <a:p>
            <a:pPr algn="l" rtl="true">
              <a:lnSpc>
                <a:spcPts val="2624"/>
              </a:lnSpc>
            </a:pP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Hardverski upravljan, nevidljiv za DBMS. Latencija ~1 ns. Kešira instrukcije i indeksne cvorove.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86384" y="6244495"/>
            <a:ext cx="7382237" cy="1281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b="true" sz="2199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OS Page Cache</a:t>
            </a:r>
          </a:p>
          <a:p>
            <a:pPr algn="l" rtl="true">
              <a:lnSpc>
                <a:spcPts val="2624"/>
              </a:lnSpc>
            </a:pP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Kernel-level keš disk blokova. PostgreSQL ga koristi posredno — rizik dupliranja stranica u memoriji.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747504" y="2879503"/>
            <a:ext cx="7274538" cy="1281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b="true" sz="2199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SSD / NVMe disk</a:t>
            </a:r>
          </a:p>
          <a:p>
            <a:pPr algn="l" rtl="true">
              <a:lnSpc>
                <a:spcPts val="2624"/>
              </a:lnSpc>
            </a:pP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Latencija ~100 µs. PostgreSQL može koristiti tablespace-ove na SSD-u za vruće tabele i indekse.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747504" y="6187345"/>
            <a:ext cx="7486298" cy="1500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3"/>
              </a:lnSpc>
            </a:pPr>
            <a:r>
              <a:rPr lang="en-US" b="true" sz="2199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Princip rada</a:t>
            </a:r>
          </a:p>
          <a:p>
            <a:pPr algn="l">
              <a:lnSpc>
                <a:spcPts val="3293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Nijedan sloj ne funkcioniše nezavisno — podatak prolazi kroz sve</a:t>
            </a:r>
          </a:p>
          <a:p>
            <a:pPr algn="l">
              <a:lnSpc>
                <a:spcPts val="1955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nivoe. Svaki sloj koji ga uhvati (kešira) sprecava ponavljanje</a:t>
            </a:r>
          </a:p>
          <a:p>
            <a:pPr algn="l">
              <a:lnSpc>
                <a:spcPts val="3293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putovanja ka disku pri sledecem pristupu.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22960" y="9031567"/>
            <a:ext cx="16668579" cy="70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Stranica u shared_buffers → DBMS je opsluži direktno (najbrže). Stranica samo u OS cache → OS je prosledi, ali PostgreSQL mora da je smesti i u shared_buffers. Nije ni u jednom kešu → fizicki disk pristup (najsporije).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747504" y="4561999"/>
            <a:ext cx="7607056" cy="1281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b="true" sz="2199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HDD disk (magnetni)</a:t>
            </a:r>
          </a:p>
          <a:p>
            <a:pPr algn="l" rtl="true">
              <a:lnSpc>
                <a:spcPts val="2624"/>
              </a:lnSpc>
            </a:pP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Najsporiji nivo, latencija ~10 ms. Sekvencijalni pristup znatno bolji od nasumicnog zbog mehanickih ogranicenja.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22960" y="8475459"/>
            <a:ext cx="457418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D16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Dvoslojno keširanje u PostgreSQL-u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85137" y="2771137"/>
            <a:ext cx="10185397" cy="1626613"/>
            <a:chOff x="0" y="0"/>
            <a:chExt cx="10185400" cy="16266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10058019" cy="1499615"/>
            </a:xfrm>
            <a:custGeom>
              <a:avLst/>
              <a:gdLst/>
              <a:ahLst/>
              <a:cxnLst/>
              <a:rect r="r" b="b" t="t" l="l"/>
              <a:pathLst>
                <a:path h="1499615" w="10058019">
                  <a:moveTo>
                    <a:pt x="0" y="0"/>
                  </a:moveTo>
                  <a:lnTo>
                    <a:pt x="10058019" y="0"/>
                  </a:lnTo>
                  <a:lnTo>
                    <a:pt x="10058019" y="1499615"/>
                  </a:lnTo>
                  <a:lnTo>
                    <a:pt x="0" y="1499615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128016" cy="1499615"/>
            </a:xfrm>
            <a:custGeom>
              <a:avLst/>
              <a:gdLst/>
              <a:ahLst/>
              <a:cxnLst/>
              <a:rect r="r" b="b" t="t" l="l"/>
              <a:pathLst>
                <a:path h="1499615" w="128016">
                  <a:moveTo>
                    <a:pt x="0" y="0"/>
                  </a:moveTo>
                  <a:lnTo>
                    <a:pt x="0" y="1499615"/>
                  </a:lnTo>
                  <a:lnTo>
                    <a:pt x="128016" y="1499615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6D6A0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63500" y="63500"/>
              <a:ext cx="10058400" cy="1499615"/>
            </a:xfrm>
            <a:custGeom>
              <a:avLst/>
              <a:gdLst/>
              <a:ahLst/>
              <a:cxnLst/>
              <a:rect r="r" b="b" t="t" l="l"/>
              <a:pathLst>
                <a:path h="1499615" w="10058400">
                  <a:moveTo>
                    <a:pt x="0" y="1499615"/>
                  </a:moveTo>
                  <a:lnTo>
                    <a:pt x="10058400" y="1499615"/>
                  </a:lnTo>
                  <a:lnTo>
                    <a:pt x="100584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128016" cy="1499615"/>
            </a:xfrm>
            <a:custGeom>
              <a:avLst/>
              <a:gdLst/>
              <a:ahLst/>
              <a:cxnLst/>
              <a:rect r="r" b="b" t="t" l="l"/>
              <a:pathLst>
                <a:path h="1499615" w="128016">
                  <a:moveTo>
                    <a:pt x="0" y="1499615"/>
                  </a:moveTo>
                  <a:lnTo>
                    <a:pt x="128016" y="1499615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485137" y="4508497"/>
            <a:ext cx="10185397" cy="1626613"/>
            <a:chOff x="0" y="0"/>
            <a:chExt cx="10185400" cy="16266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63500" y="63500"/>
              <a:ext cx="10058019" cy="1499616"/>
            </a:xfrm>
            <a:custGeom>
              <a:avLst/>
              <a:gdLst/>
              <a:ahLst/>
              <a:cxnLst/>
              <a:rect r="r" b="b" t="t" l="l"/>
              <a:pathLst>
                <a:path h="1499616" w="10058019">
                  <a:moveTo>
                    <a:pt x="0" y="0"/>
                  </a:moveTo>
                  <a:lnTo>
                    <a:pt x="10058019" y="0"/>
                  </a:lnTo>
                  <a:lnTo>
                    <a:pt x="10058019" y="1499616"/>
                  </a:lnTo>
                  <a:lnTo>
                    <a:pt x="0" y="1499616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0"/>
                  </a:moveTo>
                  <a:lnTo>
                    <a:pt x="0" y="1499616"/>
                  </a:lnTo>
                  <a:lnTo>
                    <a:pt x="128016" y="149961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EF476F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63500"/>
              <a:ext cx="10058400" cy="1499616"/>
            </a:xfrm>
            <a:custGeom>
              <a:avLst/>
              <a:gdLst/>
              <a:ahLst/>
              <a:cxnLst/>
              <a:rect r="r" b="b" t="t" l="l"/>
              <a:pathLst>
                <a:path h="1499616" w="10058400">
                  <a:moveTo>
                    <a:pt x="0" y="1499616"/>
                  </a:moveTo>
                  <a:lnTo>
                    <a:pt x="10058400" y="1499616"/>
                  </a:lnTo>
                  <a:lnTo>
                    <a:pt x="100584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1499616"/>
                  </a:moveTo>
                  <a:lnTo>
                    <a:pt x="128016" y="1499616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485137" y="6245857"/>
            <a:ext cx="10185397" cy="1626613"/>
            <a:chOff x="0" y="0"/>
            <a:chExt cx="10185400" cy="16266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10058019" cy="1499616"/>
            </a:xfrm>
            <a:custGeom>
              <a:avLst/>
              <a:gdLst/>
              <a:ahLst/>
              <a:cxnLst/>
              <a:rect r="r" b="b" t="t" l="l"/>
              <a:pathLst>
                <a:path h="1499616" w="10058019">
                  <a:moveTo>
                    <a:pt x="0" y="0"/>
                  </a:moveTo>
                  <a:lnTo>
                    <a:pt x="10058019" y="0"/>
                  </a:lnTo>
                  <a:lnTo>
                    <a:pt x="10058019" y="1499616"/>
                  </a:lnTo>
                  <a:lnTo>
                    <a:pt x="0" y="1499616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0"/>
                  </a:moveTo>
                  <a:lnTo>
                    <a:pt x="0" y="1499616"/>
                  </a:lnTo>
                  <a:lnTo>
                    <a:pt x="128016" y="149961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FFD166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63500" y="63500"/>
              <a:ext cx="10058400" cy="1499616"/>
            </a:xfrm>
            <a:custGeom>
              <a:avLst/>
              <a:gdLst/>
              <a:ahLst/>
              <a:cxnLst/>
              <a:rect r="r" b="b" t="t" l="l"/>
              <a:pathLst>
                <a:path h="1499616" w="10058400">
                  <a:moveTo>
                    <a:pt x="0" y="1499616"/>
                  </a:moveTo>
                  <a:lnTo>
                    <a:pt x="10058400" y="1499616"/>
                  </a:lnTo>
                  <a:lnTo>
                    <a:pt x="100584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1499616"/>
                  </a:moveTo>
                  <a:lnTo>
                    <a:pt x="128016" y="1499616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-63503" y="-63503"/>
            <a:ext cx="18414997" cy="1443733"/>
            <a:chOff x="0" y="0"/>
            <a:chExt cx="18415000" cy="144373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845289" y="3154423"/>
            <a:ext cx="6957565" cy="3345685"/>
            <a:chOff x="0" y="0"/>
            <a:chExt cx="6957568" cy="334568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63500" y="63500"/>
              <a:ext cx="3417189" cy="3218688"/>
            </a:xfrm>
            <a:custGeom>
              <a:avLst/>
              <a:gdLst/>
              <a:ahLst/>
              <a:cxnLst/>
              <a:rect r="r" b="b" t="t" l="l"/>
              <a:pathLst>
                <a:path h="3218688" w="3417189">
                  <a:moveTo>
                    <a:pt x="0" y="0"/>
                  </a:moveTo>
                  <a:lnTo>
                    <a:pt x="3417189" y="0"/>
                  </a:lnTo>
                  <a:lnTo>
                    <a:pt x="3417189" y="3218688"/>
                  </a:lnTo>
                  <a:lnTo>
                    <a:pt x="0" y="3218688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273050" y="1122172"/>
              <a:ext cx="57150" cy="57150"/>
            </a:xfrm>
            <a:custGeom>
              <a:avLst/>
              <a:gdLst/>
              <a:ahLst/>
              <a:cxnLst/>
              <a:rect r="r" b="b" t="t" l="l"/>
              <a:pathLst>
                <a:path h="57150" w="57150">
                  <a:moveTo>
                    <a:pt x="57150" y="28575"/>
                  </a:moveTo>
                  <a:cubicBezTo>
                    <a:pt x="57150" y="32385"/>
                    <a:pt x="56388" y="36068"/>
                    <a:pt x="54991" y="39497"/>
                  </a:cubicBezTo>
                  <a:cubicBezTo>
                    <a:pt x="53594" y="42926"/>
                    <a:pt x="51435" y="46101"/>
                    <a:pt x="48768" y="48768"/>
                  </a:cubicBezTo>
                  <a:cubicBezTo>
                    <a:pt x="46101" y="51435"/>
                    <a:pt x="43053" y="53467"/>
                    <a:pt x="39497" y="54991"/>
                  </a:cubicBezTo>
                  <a:cubicBezTo>
                    <a:pt x="35941" y="56515"/>
                    <a:pt x="32385" y="57150"/>
                    <a:pt x="28575" y="57150"/>
                  </a:cubicBezTo>
                  <a:cubicBezTo>
                    <a:pt x="24765" y="57150"/>
                    <a:pt x="21082" y="56388"/>
                    <a:pt x="17653" y="54991"/>
                  </a:cubicBezTo>
                  <a:cubicBezTo>
                    <a:pt x="14224" y="53594"/>
                    <a:pt x="11049" y="51435"/>
                    <a:pt x="8382" y="48768"/>
                  </a:cubicBezTo>
                  <a:cubicBezTo>
                    <a:pt x="5715" y="46101"/>
                    <a:pt x="3683" y="43053"/>
                    <a:pt x="2159" y="39497"/>
                  </a:cubicBezTo>
                  <a:cubicBezTo>
                    <a:pt x="635" y="35941"/>
                    <a:pt x="0" y="32385"/>
                    <a:pt x="0" y="28575"/>
                  </a:cubicBezTo>
                  <a:cubicBezTo>
                    <a:pt x="0" y="24765"/>
                    <a:pt x="762" y="21082"/>
                    <a:pt x="2159" y="17653"/>
                  </a:cubicBezTo>
                  <a:cubicBezTo>
                    <a:pt x="3556" y="14224"/>
                    <a:pt x="5715" y="11049"/>
                    <a:pt x="8382" y="8382"/>
                  </a:cubicBezTo>
                  <a:cubicBezTo>
                    <a:pt x="11049" y="5715"/>
                    <a:pt x="14097" y="3683"/>
                    <a:pt x="17653" y="2159"/>
                  </a:cubicBezTo>
                  <a:cubicBezTo>
                    <a:pt x="21209" y="635"/>
                    <a:pt x="24765" y="0"/>
                    <a:pt x="28575" y="0"/>
                  </a:cubicBezTo>
                  <a:cubicBezTo>
                    <a:pt x="32385" y="0"/>
                    <a:pt x="36068" y="762"/>
                    <a:pt x="39497" y="2159"/>
                  </a:cubicBezTo>
                  <a:cubicBezTo>
                    <a:pt x="42926" y="3556"/>
                    <a:pt x="46101" y="5715"/>
                    <a:pt x="48768" y="8382"/>
                  </a:cubicBezTo>
                  <a:cubicBezTo>
                    <a:pt x="51435" y="11049"/>
                    <a:pt x="53467" y="14097"/>
                    <a:pt x="54991" y="17653"/>
                  </a:cubicBezTo>
                  <a:cubicBezTo>
                    <a:pt x="56515" y="21209"/>
                    <a:pt x="57150" y="24765"/>
                    <a:pt x="57150" y="28575"/>
                  </a:cubicBezTo>
                  <a:close/>
                </a:path>
              </a:pathLst>
            </a:custGeom>
            <a:solidFill>
              <a:srgbClr val="8BA8BE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273050" y="2188972"/>
              <a:ext cx="57150" cy="57150"/>
            </a:xfrm>
            <a:custGeom>
              <a:avLst/>
              <a:gdLst/>
              <a:ahLst/>
              <a:cxnLst/>
              <a:rect r="r" b="b" t="t" l="l"/>
              <a:pathLst>
                <a:path h="57150" w="57150">
                  <a:moveTo>
                    <a:pt x="57150" y="28575"/>
                  </a:moveTo>
                  <a:cubicBezTo>
                    <a:pt x="57150" y="32385"/>
                    <a:pt x="56388" y="36068"/>
                    <a:pt x="54991" y="39497"/>
                  </a:cubicBezTo>
                  <a:cubicBezTo>
                    <a:pt x="53594" y="42926"/>
                    <a:pt x="51435" y="46101"/>
                    <a:pt x="48768" y="48768"/>
                  </a:cubicBezTo>
                  <a:cubicBezTo>
                    <a:pt x="46101" y="51435"/>
                    <a:pt x="43053" y="53467"/>
                    <a:pt x="39497" y="54991"/>
                  </a:cubicBezTo>
                  <a:cubicBezTo>
                    <a:pt x="35941" y="56515"/>
                    <a:pt x="32385" y="57150"/>
                    <a:pt x="28575" y="57150"/>
                  </a:cubicBezTo>
                  <a:cubicBezTo>
                    <a:pt x="24765" y="57150"/>
                    <a:pt x="21082" y="56388"/>
                    <a:pt x="17653" y="54991"/>
                  </a:cubicBezTo>
                  <a:cubicBezTo>
                    <a:pt x="14224" y="53594"/>
                    <a:pt x="11049" y="51435"/>
                    <a:pt x="8382" y="48768"/>
                  </a:cubicBezTo>
                  <a:cubicBezTo>
                    <a:pt x="5715" y="46101"/>
                    <a:pt x="3683" y="43053"/>
                    <a:pt x="2159" y="39497"/>
                  </a:cubicBezTo>
                  <a:cubicBezTo>
                    <a:pt x="635" y="35941"/>
                    <a:pt x="0" y="32385"/>
                    <a:pt x="0" y="28575"/>
                  </a:cubicBezTo>
                  <a:cubicBezTo>
                    <a:pt x="0" y="24765"/>
                    <a:pt x="762" y="21082"/>
                    <a:pt x="2159" y="17653"/>
                  </a:cubicBezTo>
                  <a:cubicBezTo>
                    <a:pt x="3556" y="14224"/>
                    <a:pt x="5715" y="11049"/>
                    <a:pt x="8382" y="8382"/>
                  </a:cubicBezTo>
                  <a:cubicBezTo>
                    <a:pt x="11049" y="5715"/>
                    <a:pt x="14097" y="3683"/>
                    <a:pt x="17653" y="2159"/>
                  </a:cubicBezTo>
                  <a:cubicBezTo>
                    <a:pt x="21209" y="635"/>
                    <a:pt x="24765" y="0"/>
                    <a:pt x="28575" y="0"/>
                  </a:cubicBezTo>
                  <a:cubicBezTo>
                    <a:pt x="32385" y="0"/>
                    <a:pt x="36068" y="762"/>
                    <a:pt x="39497" y="2159"/>
                  </a:cubicBezTo>
                  <a:cubicBezTo>
                    <a:pt x="42926" y="3556"/>
                    <a:pt x="46101" y="5715"/>
                    <a:pt x="48768" y="8382"/>
                  </a:cubicBezTo>
                  <a:cubicBezTo>
                    <a:pt x="51435" y="11049"/>
                    <a:pt x="53467" y="14097"/>
                    <a:pt x="54991" y="17653"/>
                  </a:cubicBezTo>
                  <a:cubicBezTo>
                    <a:pt x="56515" y="21209"/>
                    <a:pt x="57150" y="24765"/>
                    <a:pt x="57150" y="28575"/>
                  </a:cubicBezTo>
                  <a:close/>
                </a:path>
              </a:pathLst>
            </a:custGeom>
            <a:solidFill>
              <a:srgbClr val="8BA8BE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3785107" y="228854"/>
              <a:ext cx="3106674" cy="1316736"/>
            </a:xfrm>
            <a:custGeom>
              <a:avLst/>
              <a:gdLst/>
              <a:ahLst/>
              <a:cxnLst/>
              <a:rect r="r" b="b" t="t" l="l"/>
              <a:pathLst>
                <a:path h="1316736" w="3106674">
                  <a:moveTo>
                    <a:pt x="0" y="0"/>
                  </a:moveTo>
                  <a:lnTo>
                    <a:pt x="0" y="1316736"/>
                  </a:lnTo>
                  <a:lnTo>
                    <a:pt x="3106674" y="1316736"/>
                  </a:lnTo>
                  <a:lnTo>
                    <a:pt x="3106674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3785107" y="1838198"/>
              <a:ext cx="3106674" cy="1316736"/>
            </a:xfrm>
            <a:custGeom>
              <a:avLst/>
              <a:gdLst/>
              <a:ahLst/>
              <a:cxnLst/>
              <a:rect r="r" b="b" t="t" l="l"/>
              <a:pathLst>
                <a:path h="1316736" w="3106674">
                  <a:moveTo>
                    <a:pt x="0" y="0"/>
                  </a:moveTo>
                  <a:lnTo>
                    <a:pt x="0" y="1316736"/>
                  </a:lnTo>
                  <a:lnTo>
                    <a:pt x="3106674" y="1316736"/>
                  </a:lnTo>
                  <a:lnTo>
                    <a:pt x="3106674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3419347" y="1672844"/>
              <a:ext cx="365759" cy="38100"/>
            </a:xfrm>
            <a:custGeom>
              <a:avLst/>
              <a:gdLst/>
              <a:ahLst/>
              <a:cxnLst/>
              <a:rect r="r" b="b" t="t" l="l"/>
              <a:pathLst>
                <a:path h="38100" w="365759">
                  <a:moveTo>
                    <a:pt x="0" y="0"/>
                  </a:moveTo>
                  <a:lnTo>
                    <a:pt x="0" y="38100"/>
                  </a:lnTo>
                  <a:lnTo>
                    <a:pt x="365760" y="38100"/>
                  </a:lnTo>
                  <a:lnTo>
                    <a:pt x="365760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63500" y="63500"/>
              <a:ext cx="3419856" cy="3218688"/>
            </a:xfrm>
            <a:custGeom>
              <a:avLst/>
              <a:gdLst/>
              <a:ahLst/>
              <a:cxnLst/>
              <a:rect r="r" b="b" t="t" l="l"/>
              <a:pathLst>
                <a:path h="3218688" w="3419856">
                  <a:moveTo>
                    <a:pt x="0" y="3218688"/>
                  </a:moveTo>
                  <a:lnTo>
                    <a:pt x="3419856" y="3218688"/>
                  </a:lnTo>
                  <a:lnTo>
                    <a:pt x="34198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3785107" y="228854"/>
              <a:ext cx="3108960" cy="1316736"/>
            </a:xfrm>
            <a:custGeom>
              <a:avLst/>
              <a:gdLst/>
              <a:ahLst/>
              <a:cxnLst/>
              <a:rect r="r" b="b" t="t" l="l"/>
              <a:pathLst>
                <a:path h="1316736" w="3108960">
                  <a:moveTo>
                    <a:pt x="0" y="1316736"/>
                  </a:moveTo>
                  <a:lnTo>
                    <a:pt x="3108961" y="1316736"/>
                  </a:lnTo>
                  <a:lnTo>
                    <a:pt x="310896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3400297" y="1672844"/>
              <a:ext cx="403859" cy="38100"/>
            </a:xfrm>
            <a:custGeom>
              <a:avLst/>
              <a:gdLst/>
              <a:ahLst/>
              <a:cxnLst/>
              <a:rect r="r" b="b" t="t" l="l"/>
              <a:pathLst>
                <a:path h="38100" w="403859">
                  <a:moveTo>
                    <a:pt x="0" y="38100"/>
                  </a:moveTo>
                  <a:lnTo>
                    <a:pt x="403860" y="38100"/>
                  </a:lnTo>
                  <a:lnTo>
                    <a:pt x="40386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3785107" y="1838198"/>
              <a:ext cx="3108960" cy="1316736"/>
            </a:xfrm>
            <a:custGeom>
              <a:avLst/>
              <a:gdLst/>
              <a:ahLst/>
              <a:cxnLst/>
              <a:rect r="r" b="b" t="t" l="l"/>
              <a:pathLst>
                <a:path h="1316736" w="3108960">
                  <a:moveTo>
                    <a:pt x="0" y="1316736"/>
                  </a:moveTo>
                  <a:lnTo>
                    <a:pt x="3108961" y="1316736"/>
                  </a:lnTo>
                  <a:lnTo>
                    <a:pt x="310896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393697" y="7983217"/>
            <a:ext cx="17409157" cy="2367277"/>
            <a:chOff x="0" y="0"/>
            <a:chExt cx="17409160" cy="236728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154940" y="63500"/>
              <a:ext cx="10058019" cy="1499616"/>
            </a:xfrm>
            <a:custGeom>
              <a:avLst/>
              <a:gdLst/>
              <a:ahLst/>
              <a:cxnLst/>
              <a:rect r="r" b="b" t="t" l="l"/>
              <a:pathLst>
                <a:path h="1499616" w="10058019">
                  <a:moveTo>
                    <a:pt x="0" y="0"/>
                  </a:moveTo>
                  <a:lnTo>
                    <a:pt x="0" y="1499616"/>
                  </a:lnTo>
                  <a:lnTo>
                    <a:pt x="10058019" y="1499616"/>
                  </a:lnTo>
                  <a:lnTo>
                    <a:pt x="10058019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15494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0"/>
                  </a:moveTo>
                  <a:lnTo>
                    <a:pt x="0" y="1499616"/>
                  </a:lnTo>
                  <a:lnTo>
                    <a:pt x="128016" y="149961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14236700" y="228092"/>
              <a:ext cx="3106674" cy="1316736"/>
            </a:xfrm>
            <a:custGeom>
              <a:avLst/>
              <a:gdLst/>
              <a:ahLst/>
              <a:cxnLst/>
              <a:rect r="r" b="b" t="t" l="l"/>
              <a:pathLst>
                <a:path h="1316736" w="3106674">
                  <a:moveTo>
                    <a:pt x="0" y="0"/>
                  </a:moveTo>
                  <a:lnTo>
                    <a:pt x="0" y="1316736"/>
                  </a:lnTo>
                  <a:lnTo>
                    <a:pt x="3106674" y="1316736"/>
                  </a:lnTo>
                  <a:lnTo>
                    <a:pt x="3106674" y="0"/>
                  </a:lnTo>
                  <a:close/>
                </a:path>
              </a:pathLst>
            </a:custGeom>
            <a:solidFill>
              <a:srgbClr val="0A1520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154940" y="63500"/>
              <a:ext cx="10058400" cy="1499616"/>
            </a:xfrm>
            <a:custGeom>
              <a:avLst/>
              <a:gdLst/>
              <a:ahLst/>
              <a:cxnLst/>
              <a:rect r="r" b="b" t="t" l="l"/>
              <a:pathLst>
                <a:path h="1499616" w="10058400">
                  <a:moveTo>
                    <a:pt x="0" y="1499616"/>
                  </a:moveTo>
                  <a:lnTo>
                    <a:pt x="10058400" y="1499616"/>
                  </a:lnTo>
                  <a:lnTo>
                    <a:pt x="100584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15494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1499616"/>
                  </a:moveTo>
                  <a:lnTo>
                    <a:pt x="128016" y="1499616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14236700" y="228092"/>
              <a:ext cx="3108961" cy="1316736"/>
            </a:xfrm>
            <a:custGeom>
              <a:avLst/>
              <a:gdLst/>
              <a:ahLst/>
              <a:cxnLst/>
              <a:rect r="r" b="b" t="t" l="l"/>
              <a:pathLst>
                <a:path h="1316736" w="3108961">
                  <a:moveTo>
                    <a:pt x="0" y="1316736"/>
                  </a:moveTo>
                  <a:lnTo>
                    <a:pt x="3108961" y="1316736"/>
                  </a:lnTo>
                  <a:lnTo>
                    <a:pt x="310896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63500" y="1663700"/>
              <a:ext cx="17190720" cy="640080"/>
            </a:xfrm>
            <a:custGeom>
              <a:avLst/>
              <a:gdLst/>
              <a:ahLst/>
              <a:cxnLst/>
              <a:rect r="r" b="b" t="t" l="l"/>
              <a:pathLst>
                <a:path h="640080" w="17190720">
                  <a:moveTo>
                    <a:pt x="0" y="0"/>
                  </a:moveTo>
                  <a:lnTo>
                    <a:pt x="0" y="640080"/>
                  </a:lnTo>
                  <a:lnTo>
                    <a:pt x="17190720" y="640080"/>
                  </a:lnTo>
                  <a:lnTo>
                    <a:pt x="1719072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731520" y="205930"/>
            <a:ext cx="11357181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Caching mehanizmi — Plan Cache i pg_prewarm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989243" y="2751211"/>
            <a:ext cx="2974619" cy="484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b="true" sz="25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Automatski prewarm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48640" y="1771764"/>
            <a:ext cx="17003011" cy="484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Pored buffer pool-a, PostgreSQL koristi i dopunske mehanizme koji zajedno doprinose ukupnoj efikasnosti keširanje sistema.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877824" y="6512166"/>
            <a:ext cx="8950909" cy="1221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3"/>
              </a:lnSpc>
            </a:pPr>
            <a:r>
              <a:rPr lang="en-US" b="true" sz="2400">
                <a:solidFill>
                  <a:srgbClr val="FFD16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pg_prewarm</a:t>
            </a: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Ekstenzija koja eksplicitno učitava stranice u buffer pool pre korisnickih upita. Rešava cold cache problem posle restarta.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028700" y="2953245"/>
            <a:ext cx="1544460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Plan Cache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877824" y="8249526"/>
            <a:ext cx="6780828" cy="1164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3"/>
              </a:lnSpc>
            </a:pPr>
            <a:r>
              <a:rPr lang="en-US" b="true" sz="2400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Primer korišćenja</a:t>
            </a: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SELECT pg_prewarm('customers'); -- cela tabela | SELECT pg_prewarm('idx_value'); -- indeks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868299" y="4774806"/>
            <a:ext cx="8848373" cy="1230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3"/>
              </a:lnSpc>
            </a:pPr>
            <a:r>
              <a:rPr lang="en-US" b="true" sz="2400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Ogranicenje Plan Cache-a</a:t>
            </a: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Ne ažurira planove automatski kada se statistike promene (posle ANALYZE ili masovnih izmena).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877824" y="3554692"/>
            <a:ext cx="8737235" cy="70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Čuva kompajlirane planove izvrsavanja upita (PREPARE/EXECUTE). Eliminiše planning time pri ponavljanju — iz testova: 1.5 ms → 0.1 ms.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0966533" y="3370069"/>
            <a:ext cx="3389328" cy="353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b="true" sz="18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pg_prewarm.autoprewarm = on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1297383" y="4243397"/>
            <a:ext cx="2798521" cy="16135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800">
                <a:solidFill>
                  <a:srgbClr val="8BA8BE"/>
                </a:solidFill>
                <a:latin typeface="Courier New"/>
                <a:ea typeface="Courier New"/>
                <a:cs typeface="Courier New"/>
                <a:sym typeface="Courier New"/>
              </a:rPr>
              <a:t>Snima sadržaj buffer pool-a pri isključivanju servisa</a:t>
            </a:r>
          </a:p>
          <a:p>
            <a:pPr algn="l">
              <a:lnSpc>
                <a:spcPts val="2100"/>
              </a:lnSpc>
            </a:pPr>
            <a:r>
              <a:rPr lang="en-US" sz="1800">
                <a:solidFill>
                  <a:srgbClr val="8BA8BE"/>
                </a:solidFill>
                <a:latin typeface="Courier New"/>
                <a:ea typeface="Courier New"/>
                <a:cs typeface="Courier New"/>
                <a:sym typeface="Courier New"/>
              </a:rPr>
              <a:t>Restaurira ga pri sledećem pokretanju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4721840" y="3729304"/>
            <a:ext cx="2640501" cy="634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b="true" sz="19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Bez pg_prewarm → Rani upiti sporiji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4721840" y="5252923"/>
            <a:ext cx="2906325" cy="644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9"/>
              </a:lnSpc>
            </a:pPr>
            <a:r>
              <a:rPr lang="en-US" b="true" sz="19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 pg_prewarm → Sistem starta u warm cache stanju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3697" y="1490977"/>
            <a:ext cx="8630917" cy="6710677"/>
            <a:chOff x="0" y="0"/>
            <a:chExt cx="8630920" cy="67106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8503920" cy="6583680"/>
            </a:xfrm>
            <a:custGeom>
              <a:avLst/>
              <a:gdLst/>
              <a:ahLst/>
              <a:cxnLst/>
              <a:rect r="r" b="b" t="t" l="l"/>
              <a:pathLst>
                <a:path h="6583680" w="8503920">
                  <a:moveTo>
                    <a:pt x="0" y="0"/>
                  </a:moveTo>
                  <a:lnTo>
                    <a:pt x="0" y="6583680"/>
                  </a:lnTo>
                  <a:lnTo>
                    <a:pt x="8503920" y="6583680"/>
                  </a:lnTo>
                  <a:lnTo>
                    <a:pt x="850392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8502142" cy="1060704"/>
            </a:xfrm>
            <a:custGeom>
              <a:avLst/>
              <a:gdLst/>
              <a:ahLst/>
              <a:cxnLst/>
              <a:rect r="r" b="b" t="t" l="l"/>
              <a:pathLst>
                <a:path h="1060704" w="8502142">
                  <a:moveTo>
                    <a:pt x="0" y="0"/>
                  </a:moveTo>
                  <a:lnTo>
                    <a:pt x="0" y="1060704"/>
                  </a:lnTo>
                  <a:lnTo>
                    <a:pt x="8502142" y="1060704"/>
                  </a:lnTo>
                  <a:lnTo>
                    <a:pt x="8502142" y="0"/>
                  </a:lnTo>
                  <a:close/>
                </a:path>
              </a:pathLst>
            </a:custGeom>
            <a:solidFill>
              <a:srgbClr val="EF476F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63500" y="63500"/>
              <a:ext cx="8503920" cy="6583680"/>
            </a:xfrm>
            <a:custGeom>
              <a:avLst/>
              <a:gdLst/>
              <a:ahLst/>
              <a:cxnLst/>
              <a:rect r="r" b="b" t="t" l="l"/>
              <a:pathLst>
                <a:path h="6583680" w="8503920">
                  <a:moveTo>
                    <a:pt x="0" y="6583680"/>
                  </a:moveTo>
                  <a:lnTo>
                    <a:pt x="8503920" y="658368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8503920" cy="1060704"/>
            </a:xfrm>
            <a:custGeom>
              <a:avLst/>
              <a:gdLst/>
              <a:ahLst/>
              <a:cxnLst/>
              <a:rect r="r" b="b" t="t" l="l"/>
              <a:pathLst>
                <a:path h="1060704" w="8503920">
                  <a:moveTo>
                    <a:pt x="0" y="1060704"/>
                  </a:moveTo>
                  <a:lnTo>
                    <a:pt x="8503920" y="1060704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-63503" y="-63503"/>
            <a:ext cx="18414997" cy="1443733"/>
            <a:chOff x="0" y="0"/>
            <a:chExt cx="18415000" cy="1443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393697" y="8312401"/>
            <a:ext cx="17500597" cy="1626613"/>
            <a:chOff x="0" y="0"/>
            <a:chExt cx="17500600" cy="16266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17373600" cy="1499616"/>
            </a:xfrm>
            <a:custGeom>
              <a:avLst/>
              <a:gdLst/>
              <a:ahLst/>
              <a:cxnLst/>
              <a:rect r="r" b="b" t="t" l="l"/>
              <a:pathLst>
                <a:path h="1499616" w="17373600">
                  <a:moveTo>
                    <a:pt x="0" y="0"/>
                  </a:moveTo>
                  <a:lnTo>
                    <a:pt x="0" y="1499616"/>
                  </a:lnTo>
                  <a:lnTo>
                    <a:pt x="17373600" y="1499616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0"/>
                  </a:moveTo>
                  <a:lnTo>
                    <a:pt x="0" y="1499616"/>
                  </a:lnTo>
                  <a:lnTo>
                    <a:pt x="128016" y="149961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FFD166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17373600" cy="1499616"/>
            </a:xfrm>
            <a:custGeom>
              <a:avLst/>
              <a:gdLst/>
              <a:ahLst/>
              <a:cxnLst/>
              <a:rect r="r" b="b" t="t" l="l"/>
              <a:pathLst>
                <a:path h="1499616" w="17373600">
                  <a:moveTo>
                    <a:pt x="0" y="1499616"/>
                  </a:moveTo>
                  <a:lnTo>
                    <a:pt x="17373600" y="1499616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63500" y="63500"/>
              <a:ext cx="128016" cy="1499616"/>
            </a:xfrm>
            <a:custGeom>
              <a:avLst/>
              <a:gdLst/>
              <a:ahLst/>
              <a:cxnLst/>
              <a:rect r="r" b="b" t="t" l="l"/>
              <a:pathLst>
                <a:path h="1499616" w="128016">
                  <a:moveTo>
                    <a:pt x="0" y="1499616"/>
                  </a:moveTo>
                  <a:lnTo>
                    <a:pt x="128016" y="1499616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354817" y="1490977"/>
            <a:ext cx="8630917" cy="6710677"/>
            <a:chOff x="0" y="0"/>
            <a:chExt cx="8630920" cy="67106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8503920" cy="6583680"/>
            </a:xfrm>
            <a:custGeom>
              <a:avLst/>
              <a:gdLst/>
              <a:ahLst/>
              <a:cxnLst/>
              <a:rect r="r" b="b" t="t" l="l"/>
              <a:pathLst>
                <a:path h="6583680" w="8503920">
                  <a:moveTo>
                    <a:pt x="0" y="0"/>
                  </a:moveTo>
                  <a:lnTo>
                    <a:pt x="0" y="6583680"/>
                  </a:lnTo>
                  <a:lnTo>
                    <a:pt x="8503920" y="6583680"/>
                  </a:lnTo>
                  <a:lnTo>
                    <a:pt x="850392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63500" y="63500"/>
              <a:ext cx="8502142" cy="1060704"/>
            </a:xfrm>
            <a:custGeom>
              <a:avLst/>
              <a:gdLst/>
              <a:ahLst/>
              <a:cxnLst/>
              <a:rect r="r" b="b" t="t" l="l"/>
              <a:pathLst>
                <a:path h="1060704" w="8502142">
                  <a:moveTo>
                    <a:pt x="0" y="0"/>
                  </a:moveTo>
                  <a:lnTo>
                    <a:pt x="0" y="1060704"/>
                  </a:lnTo>
                  <a:lnTo>
                    <a:pt x="8502142" y="1060704"/>
                  </a:lnTo>
                  <a:lnTo>
                    <a:pt x="8502142" y="0"/>
                  </a:lnTo>
                  <a:close/>
                </a:path>
              </a:pathLst>
            </a:custGeom>
            <a:solidFill>
              <a:srgbClr val="06D6A0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63500" y="63500"/>
              <a:ext cx="8503920" cy="6583680"/>
            </a:xfrm>
            <a:custGeom>
              <a:avLst/>
              <a:gdLst/>
              <a:ahLst/>
              <a:cxnLst/>
              <a:rect r="r" b="b" t="t" l="l"/>
              <a:pathLst>
                <a:path h="6583680" w="8503920">
                  <a:moveTo>
                    <a:pt x="0" y="6583680"/>
                  </a:moveTo>
                  <a:lnTo>
                    <a:pt x="8503920" y="658368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8503920" cy="1060704"/>
            </a:xfrm>
            <a:custGeom>
              <a:avLst/>
              <a:gdLst/>
              <a:ahLst/>
              <a:cxnLst/>
              <a:rect r="r" b="b" t="t" l="l"/>
              <a:pathLst>
                <a:path h="1060704" w="8503920">
                  <a:moveTo>
                    <a:pt x="0" y="1060704"/>
                  </a:moveTo>
                  <a:lnTo>
                    <a:pt x="8503920" y="1060704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731520" y="205930"/>
            <a:ext cx="10969828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Caching mehanizmi — OLTP vs OLAP workload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31520" y="1722444"/>
            <a:ext cx="5119126" cy="600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OLTP — Transakcioni sistemi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692640" y="1722444"/>
            <a:ext cx="4595832" cy="600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OLAP — Analitički sistemi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86384" y="4561999"/>
            <a:ext cx="7436348" cy="1281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b="true" sz="2199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Keširanje</a:t>
            </a:r>
          </a:p>
          <a:p>
            <a:pPr algn="l" rtl="true">
              <a:lnSpc>
                <a:spcPts val="2624"/>
              </a:lnSpc>
            </a:pP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Visok hit ratio lako dostižan — radni skup podataka je mali i lako staje u shared_buffers. LRU politika dobro funkcioniše.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86384" y="2879503"/>
            <a:ext cx="7645879" cy="1281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b="true" sz="2199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Karakteristike upita</a:t>
            </a:r>
          </a:p>
          <a:p>
            <a:pPr algn="l" rtl="true">
              <a:lnSpc>
                <a:spcPts val="2624"/>
              </a:lnSpc>
            </a:pP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Mali, česti upiti koji pristupaju istim redovima i stranicama. Visoka konkurentnost, kratke transakcije.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86384" y="6244495"/>
            <a:ext cx="7816729" cy="1281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b="true" sz="2199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Preporuka</a:t>
            </a:r>
          </a:p>
          <a:p>
            <a:pPr algn="l" rtl="true">
              <a:lnSpc>
                <a:spcPts val="2624"/>
              </a:lnSpc>
            </a:pP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shared_buffers = 25% RAM. Indeksi na svim kolonama koje se cesto pretražuju. Cilj: hit rate &gt; 99%.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747504" y="4466749"/>
            <a:ext cx="7702639" cy="32691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69"/>
              </a:lnSpc>
            </a:pPr>
            <a:r>
              <a:rPr lang="en-US" b="true" sz="2199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Keširanje</a:t>
            </a:r>
          </a:p>
          <a:p>
            <a:pPr algn="l">
              <a:lnSpc>
                <a:spcPts val="3669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Teže postići visok hit ratio — radni skup moze biti veci od</a:t>
            </a:r>
          </a:p>
          <a:p>
            <a:pPr algn="l">
              <a:lnSpc>
                <a:spcPts val="1581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shared_buffers. Seq scan moze izazvati cache pollution i potisnuti</a:t>
            </a:r>
          </a:p>
          <a:p>
            <a:pPr algn="l">
              <a:lnSpc>
                <a:spcPts val="3669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korisne stranice (LRU flooding).</a:t>
            </a:r>
          </a:p>
          <a:p>
            <a:pPr algn="l">
              <a:lnSpc>
                <a:spcPts val="3669"/>
              </a:lnSpc>
            </a:pPr>
            <a:r>
              <a:rPr lang="en-US" b="true" sz="2199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Preporuka</a:t>
            </a:r>
          </a:p>
          <a:p>
            <a:pPr algn="l">
              <a:lnSpc>
                <a:spcPts val="3669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Povećati shared_buffers i effective_cache_size. Koristiti</a:t>
            </a:r>
          </a:p>
          <a:p>
            <a:pPr algn="l">
              <a:lnSpc>
                <a:spcPts val="1581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particionisanje tabela. PostgreSQL ring buffer strategija štiti keš od</a:t>
            </a:r>
          </a:p>
          <a:p>
            <a:pPr algn="l">
              <a:lnSpc>
                <a:spcPts val="3669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seq scan zagadjenja.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747504" y="2879503"/>
            <a:ext cx="7768866" cy="1281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b="true" sz="2199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Karakteristike upita</a:t>
            </a:r>
          </a:p>
          <a:p>
            <a:pPr algn="l" rtl="true">
              <a:lnSpc>
                <a:spcPts val="2624"/>
              </a:lnSpc>
            </a:pPr>
          </a:p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Retki, obimni upiti koji skeniraju veliku količinu podataka. Full table scan je čest i nezaobilazan.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31520" y="9046397"/>
            <a:ext cx="17372152" cy="70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24"/>
              </a:lnSpc>
            </a:pPr>
            <a:r>
              <a:rPr lang="en-US" sz="21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Kada PostgreSQL detektuje sekvencijalni sken velike tabele, koristi mali kružni bafer od svega 256 KB umesto celog buffer pool-a. Na taj način, stranice koje se čitaju tokom seq scan-a ne istiskuju aktivne stranice iz glavnog keša — OLTP i OLAP upiti mogu koegzistirati bez međusobnog zagađivanja keša.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22960" y="8475459"/>
            <a:ext cx="446230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D16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Ring Buffer strategija (PostgreSQL)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85137" y="8129521"/>
            <a:ext cx="10113502" cy="1317698"/>
            <a:chOff x="0" y="0"/>
            <a:chExt cx="10113505" cy="131770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9986015" cy="1190755"/>
            </a:xfrm>
            <a:custGeom>
              <a:avLst/>
              <a:gdLst/>
              <a:ahLst/>
              <a:cxnLst/>
              <a:rect r="r" b="b" t="t" l="l"/>
              <a:pathLst>
                <a:path h="1190755" w="9986015">
                  <a:moveTo>
                    <a:pt x="0" y="0"/>
                  </a:moveTo>
                  <a:lnTo>
                    <a:pt x="0" y="1190755"/>
                  </a:lnTo>
                  <a:lnTo>
                    <a:pt x="9986015" y="1190755"/>
                  </a:lnTo>
                  <a:lnTo>
                    <a:pt x="9986015" y="0"/>
                  </a:lnTo>
                  <a:close/>
                </a:path>
              </a:pathLst>
            </a:custGeom>
            <a:solidFill>
              <a:srgbClr val="EF476F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9986524" cy="1190755"/>
            </a:xfrm>
            <a:custGeom>
              <a:avLst/>
              <a:gdLst/>
              <a:ahLst/>
              <a:cxnLst/>
              <a:rect r="r" b="b" t="t" l="l"/>
              <a:pathLst>
                <a:path h="1190755" w="9986524">
                  <a:moveTo>
                    <a:pt x="0" y="1190755"/>
                  </a:moveTo>
                  <a:lnTo>
                    <a:pt x="9986524" y="1190755"/>
                  </a:lnTo>
                  <a:lnTo>
                    <a:pt x="99865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85137" y="6575422"/>
            <a:ext cx="8560813" cy="1315336"/>
            <a:chOff x="0" y="0"/>
            <a:chExt cx="8560816" cy="131533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8433436" cy="1188339"/>
            </a:xfrm>
            <a:custGeom>
              <a:avLst/>
              <a:gdLst/>
              <a:ahLst/>
              <a:cxnLst/>
              <a:rect r="r" b="b" t="t" l="l"/>
              <a:pathLst>
                <a:path h="1188339" w="8433436">
                  <a:moveTo>
                    <a:pt x="0" y="0"/>
                  </a:moveTo>
                  <a:lnTo>
                    <a:pt x="0" y="1188339"/>
                  </a:lnTo>
                  <a:lnTo>
                    <a:pt x="8433436" y="1188339"/>
                  </a:lnTo>
                  <a:lnTo>
                    <a:pt x="8433436" y="0"/>
                  </a:lnTo>
                  <a:close/>
                </a:path>
              </a:pathLst>
            </a:custGeom>
            <a:solidFill>
              <a:srgbClr val="FFD166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0" y="63500"/>
              <a:ext cx="8433436" cy="1188339"/>
            </a:xfrm>
            <a:custGeom>
              <a:avLst/>
              <a:gdLst/>
              <a:ahLst/>
              <a:cxnLst/>
              <a:rect r="r" b="b" t="t" l="l"/>
              <a:pathLst>
                <a:path h="1188339" w="8433436">
                  <a:moveTo>
                    <a:pt x="0" y="1188339"/>
                  </a:moveTo>
                  <a:lnTo>
                    <a:pt x="8433436" y="1188339"/>
                  </a:lnTo>
                  <a:lnTo>
                    <a:pt x="843343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485137" y="4998415"/>
            <a:ext cx="7476439" cy="1392736"/>
            <a:chOff x="0" y="0"/>
            <a:chExt cx="7476439" cy="13927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63500" y="63500"/>
              <a:ext cx="7347209" cy="1265679"/>
            </a:xfrm>
            <a:custGeom>
              <a:avLst/>
              <a:gdLst/>
              <a:ahLst/>
              <a:cxnLst/>
              <a:rect r="r" b="b" t="t" l="l"/>
              <a:pathLst>
                <a:path h="1265679" w="7347209">
                  <a:moveTo>
                    <a:pt x="0" y="0"/>
                  </a:moveTo>
                  <a:lnTo>
                    <a:pt x="7347209" y="0"/>
                  </a:lnTo>
                  <a:lnTo>
                    <a:pt x="7347209" y="1265679"/>
                  </a:lnTo>
                  <a:lnTo>
                    <a:pt x="0" y="1265679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63500"/>
              <a:ext cx="7349495" cy="1265679"/>
            </a:xfrm>
            <a:custGeom>
              <a:avLst/>
              <a:gdLst/>
              <a:ahLst/>
              <a:cxnLst/>
              <a:rect r="r" b="b" t="t" l="l"/>
              <a:pathLst>
                <a:path h="1265679" w="7349495">
                  <a:moveTo>
                    <a:pt x="0" y="1265679"/>
                  </a:moveTo>
                  <a:lnTo>
                    <a:pt x="7349495" y="1265679"/>
                  </a:lnTo>
                  <a:lnTo>
                    <a:pt x="734949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485137" y="3387319"/>
            <a:ext cx="6346688" cy="1504217"/>
            <a:chOff x="0" y="0"/>
            <a:chExt cx="6346685" cy="150421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63500" y="63500"/>
              <a:ext cx="6218937" cy="1377186"/>
            </a:xfrm>
            <a:custGeom>
              <a:avLst/>
              <a:gdLst/>
              <a:ahLst/>
              <a:cxnLst/>
              <a:rect r="r" b="b" t="t" l="l"/>
              <a:pathLst>
                <a:path h="1377186" w="6218937">
                  <a:moveTo>
                    <a:pt x="0" y="0"/>
                  </a:moveTo>
                  <a:lnTo>
                    <a:pt x="6218937" y="0"/>
                  </a:lnTo>
                  <a:lnTo>
                    <a:pt x="6218937" y="1377186"/>
                  </a:lnTo>
                  <a:lnTo>
                    <a:pt x="0" y="1377186"/>
                  </a:lnTo>
                  <a:close/>
                </a:path>
              </a:pathLst>
            </a:custGeom>
            <a:solidFill>
              <a:srgbClr val="06D6A0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6219699" cy="1377186"/>
            </a:xfrm>
            <a:custGeom>
              <a:avLst/>
              <a:gdLst/>
              <a:ahLst/>
              <a:cxnLst/>
              <a:rect r="r" b="b" t="t" l="l"/>
              <a:pathLst>
                <a:path h="1377186" w="6219699">
                  <a:moveTo>
                    <a:pt x="0" y="1377186"/>
                  </a:moveTo>
                  <a:lnTo>
                    <a:pt x="6219699" y="1377186"/>
                  </a:lnTo>
                  <a:lnTo>
                    <a:pt x="621969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-63503" y="-63503"/>
            <a:ext cx="18414997" cy="1443733"/>
            <a:chOff x="0" y="0"/>
            <a:chExt cx="18415000" cy="144373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1640817" y="2899153"/>
            <a:ext cx="6162037" cy="2138677"/>
            <a:chOff x="0" y="0"/>
            <a:chExt cx="6162040" cy="2138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0" y="63500"/>
              <a:ext cx="6035039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39">
                  <a:moveTo>
                    <a:pt x="0" y="0"/>
                  </a:moveTo>
                  <a:lnTo>
                    <a:pt x="0" y="2011680"/>
                  </a:lnTo>
                  <a:lnTo>
                    <a:pt x="6035039" y="2011680"/>
                  </a:lnTo>
                  <a:lnTo>
                    <a:pt x="6035039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6035039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39">
                  <a:moveTo>
                    <a:pt x="0" y="2011680"/>
                  </a:moveTo>
                  <a:lnTo>
                    <a:pt x="6035039" y="2011680"/>
                  </a:lnTo>
                  <a:lnTo>
                    <a:pt x="603503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1640817" y="5240017"/>
            <a:ext cx="6162037" cy="2138677"/>
            <a:chOff x="0" y="0"/>
            <a:chExt cx="6162040" cy="2138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63500" y="63500"/>
              <a:ext cx="6035039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39">
                  <a:moveTo>
                    <a:pt x="0" y="0"/>
                  </a:moveTo>
                  <a:lnTo>
                    <a:pt x="0" y="2011680"/>
                  </a:lnTo>
                  <a:lnTo>
                    <a:pt x="6035039" y="2011680"/>
                  </a:lnTo>
                  <a:lnTo>
                    <a:pt x="6035039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63500" y="63500"/>
              <a:ext cx="6035039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39">
                  <a:moveTo>
                    <a:pt x="0" y="2011680"/>
                  </a:moveTo>
                  <a:lnTo>
                    <a:pt x="6035039" y="2011680"/>
                  </a:lnTo>
                  <a:lnTo>
                    <a:pt x="603503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1640817" y="7580881"/>
            <a:ext cx="6162037" cy="2138677"/>
            <a:chOff x="0" y="0"/>
            <a:chExt cx="6162040" cy="21386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63500" y="63500"/>
              <a:ext cx="6035039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39">
                  <a:moveTo>
                    <a:pt x="0" y="0"/>
                  </a:moveTo>
                  <a:lnTo>
                    <a:pt x="0" y="2011680"/>
                  </a:lnTo>
                  <a:lnTo>
                    <a:pt x="6035039" y="2011680"/>
                  </a:lnTo>
                  <a:lnTo>
                    <a:pt x="6035039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63500" y="63500"/>
              <a:ext cx="6035039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39">
                  <a:moveTo>
                    <a:pt x="0" y="2011680"/>
                  </a:moveTo>
                  <a:lnTo>
                    <a:pt x="6035039" y="2011680"/>
                  </a:lnTo>
                  <a:lnTo>
                    <a:pt x="603503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731520" y="205930"/>
            <a:ext cx="11726970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Velicina tabele vs shared_buffers — kljucni faktor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48640" y="1743189"/>
            <a:ext cx="16650538" cy="817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5"/>
              </a:lnSpc>
            </a:pPr>
            <a:r>
              <a:rPr lang="en-US" sz="2599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Kada tabela staje u shared_buffers, disk I/O je minimalan cak i pri prvom upitu. Kada tabela premašuje buffer pool, sistem postaje kriticki zavisan od stanja kesa.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14400" y="2970667"/>
            <a:ext cx="3679908" cy="484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b="true" sz="259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Poređenje iz naših testova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85800" y="8215617"/>
            <a:ext cx="3375679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shared_buffers preporuke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608696" y="8566747"/>
            <a:ext cx="64418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F1B2D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85800" y="6741528"/>
            <a:ext cx="356695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LRU evikcija postaje vidljiva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2512219" y="7039061"/>
            <a:ext cx="64418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F1B2D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768096" y="3630663"/>
            <a:ext cx="5217986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Mala baza (67 MB &lt; 128 MB buffer pool)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178643" y="4062689"/>
            <a:ext cx="64418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F1B2D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31520" y="5169903"/>
            <a:ext cx="5516280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Velika baza (287 MB &gt; 128 MB buffer pool)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353429" y="5603272"/>
            <a:ext cx="64418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F1B2D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31520" y="4100789"/>
            <a:ext cx="5829681" cy="70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sz="2199">
                <a:solidFill>
                  <a:srgbClr val="0F1B2D"/>
                </a:solidFill>
                <a:latin typeface="Calibri (MS)"/>
                <a:ea typeface="Calibri (MS)"/>
                <a:cs typeface="Calibri (MS)"/>
                <a:sym typeface="Calibri (MS)"/>
              </a:rPr>
              <a:t>diskread≈0pricoldcache|warmlakodostižan | razlika minimalna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31520" y="5603272"/>
            <a:ext cx="6704390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F1B2D"/>
                </a:solidFill>
                <a:latin typeface="Calibri (MS)"/>
                <a:ea typeface="Calibri (MS)"/>
                <a:cs typeface="Calibri (MS)"/>
                <a:sym typeface="Calibri (MS)"/>
              </a:rPr>
              <a:t>cold cache: 25.792 diskread,203ms|warmcache: 0 disk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31520" y="5936647"/>
            <a:ext cx="2711091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F1B2D"/>
                </a:solidFill>
                <a:latin typeface="Calibri (MS)"/>
                <a:ea typeface="Calibri (MS)"/>
                <a:cs typeface="Calibri (MS)"/>
                <a:sym typeface="Calibri (MS)"/>
              </a:rPr>
              <a:t>read, 3 ms | razlika 64×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685800" y="7039061"/>
            <a:ext cx="7205396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F1B2D"/>
                </a:solidFill>
                <a:latin typeface="Calibri (MS)"/>
                <a:ea typeface="Calibri (MS)"/>
                <a:cs typeface="Calibri (MS)"/>
                <a:sym typeface="Calibri (MS)"/>
              </a:rPr>
              <a:t>Stranice ucitaneSeqScan-ommogu biti izbacene pre ponovne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85800" y="7372436"/>
            <a:ext cx="5659936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F1B2D"/>
                </a:solidFill>
                <a:latin typeface="Calibri (MS)"/>
                <a:ea typeface="Calibri (MS)"/>
                <a:cs typeface="Calibri (MS)"/>
                <a:sym typeface="Calibri (MS)"/>
              </a:rPr>
              <a:t>upotrebe — cache pollution pri velikim tabelama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685800" y="8566747"/>
            <a:ext cx="9662141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F1B2D"/>
                </a:solidFill>
                <a:latin typeface="Calibri (MS)"/>
                <a:ea typeface="Calibri (MS)"/>
                <a:cs typeface="Calibri (MS)"/>
                <a:sym typeface="Calibri (MS)"/>
              </a:rPr>
              <a:t>Pocetnavrednost:25%RAM-a. Dedikovan server: do 40%. Promena zahteva restart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685800" y="8900122"/>
            <a:ext cx="1617669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F1B2D"/>
                </a:solidFill>
                <a:latin typeface="Calibri (MS)"/>
                <a:ea typeface="Calibri (MS)"/>
                <a:cs typeface="Calibri (MS)"/>
                <a:sym typeface="Calibri (MS)"/>
              </a:rPr>
              <a:t>PostgreSQL-a.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3860837" y="8776297"/>
            <a:ext cx="1756239" cy="70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24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shared_buffers konfiguracija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3697426" y="4094569"/>
            <a:ext cx="2089737" cy="70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24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brže warm vs cold (velika baza)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3598900" y="6435433"/>
            <a:ext cx="2290496" cy="70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24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tabela &gt; buffer pool — pravi I/O vidljiv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4145844" y="2968466"/>
            <a:ext cx="1174966" cy="111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b="true" sz="6000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64×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3509755" y="5309330"/>
            <a:ext cx="2472519" cy="111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b="true" sz="6000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287 MB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3509755" y="7650194"/>
            <a:ext cx="2472519" cy="111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b="true" sz="6000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128 MB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3697" y="1490977"/>
            <a:ext cx="8630917" cy="6162037"/>
            <a:chOff x="0" y="0"/>
            <a:chExt cx="8630920" cy="6162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8500491" cy="6035040"/>
            </a:xfrm>
            <a:custGeom>
              <a:avLst/>
              <a:gdLst/>
              <a:ahLst/>
              <a:cxnLst/>
              <a:rect r="r" b="b" t="t" l="l"/>
              <a:pathLst>
                <a:path h="6035040" w="8500491">
                  <a:moveTo>
                    <a:pt x="0" y="0"/>
                  </a:moveTo>
                  <a:lnTo>
                    <a:pt x="0" y="6035040"/>
                  </a:lnTo>
                  <a:lnTo>
                    <a:pt x="8500491" y="6035040"/>
                  </a:lnTo>
                  <a:lnTo>
                    <a:pt x="8500491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8503920" cy="914400"/>
            </a:xfrm>
            <a:custGeom>
              <a:avLst/>
              <a:gdLst/>
              <a:ahLst/>
              <a:cxnLst/>
              <a:rect r="r" b="b" t="t" l="l"/>
              <a:pathLst>
                <a:path h="914400" w="8503920">
                  <a:moveTo>
                    <a:pt x="0" y="0"/>
                  </a:moveTo>
                  <a:lnTo>
                    <a:pt x="0" y="914400"/>
                  </a:lnTo>
                  <a:lnTo>
                    <a:pt x="8503920" y="914400"/>
                  </a:lnTo>
                  <a:lnTo>
                    <a:pt x="8503920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337820" y="5092700"/>
              <a:ext cx="7954010" cy="768096"/>
            </a:xfrm>
            <a:custGeom>
              <a:avLst/>
              <a:gdLst/>
              <a:ahLst/>
              <a:cxnLst/>
              <a:rect r="r" b="b" t="t" l="l"/>
              <a:pathLst>
                <a:path h="768096" w="7954010">
                  <a:moveTo>
                    <a:pt x="0" y="0"/>
                  </a:moveTo>
                  <a:lnTo>
                    <a:pt x="0" y="768096"/>
                  </a:lnTo>
                  <a:lnTo>
                    <a:pt x="7954010" y="768096"/>
                  </a:lnTo>
                  <a:lnTo>
                    <a:pt x="7954010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8503920" cy="6035040"/>
            </a:xfrm>
            <a:custGeom>
              <a:avLst/>
              <a:gdLst/>
              <a:ahLst/>
              <a:cxnLst/>
              <a:rect r="r" b="b" t="t" l="l"/>
              <a:pathLst>
                <a:path h="6035040" w="8503920">
                  <a:moveTo>
                    <a:pt x="0" y="6035040"/>
                  </a:moveTo>
                  <a:lnTo>
                    <a:pt x="8503920" y="603504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0" y="63500"/>
              <a:ext cx="8503920" cy="914400"/>
            </a:xfrm>
            <a:custGeom>
              <a:avLst/>
              <a:gdLst/>
              <a:ahLst/>
              <a:cxnLst/>
              <a:rect r="r" b="b" t="t" l="l"/>
              <a:pathLst>
                <a:path h="914400" w="8503920">
                  <a:moveTo>
                    <a:pt x="0" y="914400"/>
                  </a:moveTo>
                  <a:lnTo>
                    <a:pt x="8503920" y="91440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337820" y="5092700"/>
              <a:ext cx="7955280" cy="768096"/>
            </a:xfrm>
            <a:custGeom>
              <a:avLst/>
              <a:gdLst/>
              <a:ahLst/>
              <a:cxnLst/>
              <a:rect r="r" b="b" t="t" l="l"/>
              <a:pathLst>
                <a:path h="768096" w="7955280">
                  <a:moveTo>
                    <a:pt x="0" y="768096"/>
                  </a:moveTo>
                  <a:lnTo>
                    <a:pt x="7955280" y="768096"/>
                  </a:lnTo>
                  <a:lnTo>
                    <a:pt x="795528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-63503" y="-63503"/>
            <a:ext cx="18414997" cy="1443733"/>
            <a:chOff x="0" y="0"/>
            <a:chExt cx="18415000" cy="144373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354817" y="1490977"/>
            <a:ext cx="8630917" cy="6162037"/>
            <a:chOff x="0" y="0"/>
            <a:chExt cx="8630920" cy="61620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8500491" cy="6035040"/>
            </a:xfrm>
            <a:custGeom>
              <a:avLst/>
              <a:gdLst/>
              <a:ahLst/>
              <a:cxnLst/>
              <a:rect r="r" b="b" t="t" l="l"/>
              <a:pathLst>
                <a:path h="6035040" w="8500491">
                  <a:moveTo>
                    <a:pt x="0" y="0"/>
                  </a:moveTo>
                  <a:lnTo>
                    <a:pt x="0" y="6035040"/>
                  </a:lnTo>
                  <a:lnTo>
                    <a:pt x="8500491" y="6035040"/>
                  </a:lnTo>
                  <a:lnTo>
                    <a:pt x="8500491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63500" y="63500"/>
              <a:ext cx="8503920" cy="914400"/>
            </a:xfrm>
            <a:custGeom>
              <a:avLst/>
              <a:gdLst/>
              <a:ahLst/>
              <a:cxnLst/>
              <a:rect r="r" b="b" t="t" l="l"/>
              <a:pathLst>
                <a:path h="914400" w="8503920">
                  <a:moveTo>
                    <a:pt x="0" y="0"/>
                  </a:moveTo>
                  <a:lnTo>
                    <a:pt x="0" y="914400"/>
                  </a:lnTo>
                  <a:lnTo>
                    <a:pt x="8503920" y="914400"/>
                  </a:lnTo>
                  <a:lnTo>
                    <a:pt x="8503920" y="0"/>
                  </a:lnTo>
                  <a:close/>
                </a:path>
              </a:pathLst>
            </a:custGeom>
            <a:solidFill>
              <a:srgbClr val="06D6A0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337820" y="5092700"/>
              <a:ext cx="7954010" cy="768096"/>
            </a:xfrm>
            <a:custGeom>
              <a:avLst/>
              <a:gdLst/>
              <a:ahLst/>
              <a:cxnLst/>
              <a:rect r="r" b="b" t="t" l="l"/>
              <a:pathLst>
                <a:path h="768096" w="7954010">
                  <a:moveTo>
                    <a:pt x="0" y="0"/>
                  </a:moveTo>
                  <a:lnTo>
                    <a:pt x="0" y="768096"/>
                  </a:lnTo>
                  <a:lnTo>
                    <a:pt x="7954010" y="768096"/>
                  </a:lnTo>
                  <a:lnTo>
                    <a:pt x="7954010" y="0"/>
                  </a:lnTo>
                  <a:close/>
                </a:path>
              </a:pathLst>
            </a:custGeom>
            <a:solidFill>
              <a:srgbClr val="06D6A0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8503920" cy="6035040"/>
            </a:xfrm>
            <a:custGeom>
              <a:avLst/>
              <a:gdLst/>
              <a:ahLst/>
              <a:cxnLst/>
              <a:rect r="r" b="b" t="t" l="l"/>
              <a:pathLst>
                <a:path h="6035040" w="8503920">
                  <a:moveTo>
                    <a:pt x="0" y="6035040"/>
                  </a:moveTo>
                  <a:lnTo>
                    <a:pt x="8503920" y="603504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63500" y="63500"/>
              <a:ext cx="8503920" cy="914400"/>
            </a:xfrm>
            <a:custGeom>
              <a:avLst/>
              <a:gdLst/>
              <a:ahLst/>
              <a:cxnLst/>
              <a:rect r="r" b="b" t="t" l="l"/>
              <a:pathLst>
                <a:path h="914400" w="8503920">
                  <a:moveTo>
                    <a:pt x="0" y="914400"/>
                  </a:moveTo>
                  <a:lnTo>
                    <a:pt x="8503920" y="91440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337820" y="5092700"/>
              <a:ext cx="7955280" cy="768096"/>
            </a:xfrm>
            <a:custGeom>
              <a:avLst/>
              <a:gdLst/>
              <a:ahLst/>
              <a:cxnLst/>
              <a:rect r="r" b="b" t="t" l="l"/>
              <a:pathLst>
                <a:path h="768096" w="7955280">
                  <a:moveTo>
                    <a:pt x="0" y="768096"/>
                  </a:moveTo>
                  <a:lnTo>
                    <a:pt x="7955280" y="768096"/>
                  </a:lnTo>
                  <a:lnTo>
                    <a:pt x="795528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731520" y="205930"/>
            <a:ext cx="4074843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Testno okruženje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31520" y="1665294"/>
            <a:ext cx="1989592" cy="600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Manja baza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692640" y="1665294"/>
            <a:ext cx="1721672" cy="600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b="true" sz="3199">
                <a:solidFill>
                  <a:srgbClr val="0F1B2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Veća baza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22960" y="2743200"/>
            <a:ext cx="921906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Tabela: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22960" y="3657600"/>
            <a:ext cx="1023318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Redova: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22960" y="4572000"/>
            <a:ext cx="1072048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Veličina: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822960" y="5486400"/>
            <a:ext cx="199942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shared_buffers: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57200" y="7777467"/>
            <a:ext cx="11811381" cy="1526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b="true" sz="2400">
                <a:solidFill>
                  <a:srgbClr val="8BA8B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Kreiranje tabela i testni upiti:</a:t>
            </a:r>
          </a:p>
          <a:p>
            <a:pPr algn="l">
              <a:lnSpc>
                <a:spcPts val="3455"/>
              </a:lnSpc>
            </a:pPr>
            <a:r>
              <a:rPr lang="en-US" sz="1999">
                <a:solidFill>
                  <a:srgbClr val="00B4D8"/>
                </a:solidFill>
                <a:latin typeface="Courier New"/>
                <a:ea typeface="Courier New"/>
                <a:cs typeface="Courier New"/>
                <a:sym typeface="Courier New"/>
              </a:rPr>
              <a:t>CREATE TABLE test_cache (id BIGSERIAL PRIMARY KEY, value INT, payload TEXT); INSERT INTO test_cache VALUES ... generate_series(1, 500000);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840480" y="4583163"/>
            <a:ext cx="831437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67 MB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840480" y="5497563"/>
            <a:ext cx="989009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128 MB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3840480" y="2754363"/>
            <a:ext cx="138795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test_cache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840480" y="3668763"/>
            <a:ext cx="2000326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500.000 redova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784080" y="2743200"/>
            <a:ext cx="921906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Tabela: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784080" y="3657600"/>
            <a:ext cx="1023318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Redova: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784080" y="4572000"/>
            <a:ext cx="1072048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Veličina: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784080" y="5486400"/>
            <a:ext cx="199942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shared_buffers: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801600" y="4583163"/>
            <a:ext cx="989009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287 MB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801600" y="5497563"/>
            <a:ext cx="989009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128 MB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801600" y="2754363"/>
            <a:ext cx="218705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test_cache_large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801600" y="3668763"/>
            <a:ext cx="2240937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3.000.000 redova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914400" y="6721507"/>
            <a:ext cx="5956430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b="true" sz="21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→ Staje u buffer pool → warm cache lako dostižan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875520" y="6721507"/>
            <a:ext cx="5712257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b="true" sz="2199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→ Premašuje buffer pool → pravi disk I/O vidljiv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457200" y="9387916"/>
            <a:ext cx="2020510" cy="338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B4D8"/>
                </a:solidFill>
                <a:latin typeface="Courier New"/>
                <a:ea typeface="Courier New"/>
                <a:cs typeface="Courier New"/>
                <a:sym typeface="Courier New"/>
              </a:rPr>
              <a:t>DISCARD ALL; 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2742905" y="9387916"/>
            <a:ext cx="4506982" cy="338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B4D8"/>
                </a:solidFill>
                <a:latin typeface="Courier New"/>
                <a:ea typeface="Courier New"/>
                <a:cs typeface="Courier New"/>
                <a:sym typeface="Courier New"/>
              </a:rPr>
              <a:t>-- resetovanje keša pre testa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457200" y="9826828"/>
            <a:ext cx="10878903" cy="338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B4D8"/>
                </a:solidFill>
                <a:latin typeface="Courier New"/>
                <a:ea typeface="Courier New"/>
                <a:cs typeface="Courier New"/>
                <a:sym typeface="Courier New"/>
              </a:rPr>
              <a:t>EXPLAIN (ANALYZE, BUFFERS) SELECT * FROM test_cache WHERE value = 500;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316736"/>
            <a:chOff x="0" y="0"/>
            <a:chExt cx="18288000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393697" y="6337297"/>
            <a:ext cx="17500597" cy="1132837"/>
            <a:chOff x="0" y="0"/>
            <a:chExt cx="17500600" cy="1132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63500" y="63500"/>
              <a:ext cx="173736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7373600">
                  <a:moveTo>
                    <a:pt x="0" y="0"/>
                  </a:moveTo>
                  <a:lnTo>
                    <a:pt x="0" y="1005840"/>
                  </a:lnTo>
                  <a:lnTo>
                    <a:pt x="17373600" y="1005840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128016" cy="1005586"/>
            </a:xfrm>
            <a:custGeom>
              <a:avLst/>
              <a:gdLst/>
              <a:ahLst/>
              <a:cxnLst/>
              <a:rect r="r" b="b" t="t" l="l"/>
              <a:pathLst>
                <a:path h="1005586" w="128016">
                  <a:moveTo>
                    <a:pt x="0" y="0"/>
                  </a:moveTo>
                  <a:lnTo>
                    <a:pt x="0" y="1005586"/>
                  </a:lnTo>
                  <a:lnTo>
                    <a:pt x="128016" y="100558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FFD166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393697" y="7544305"/>
            <a:ext cx="17500597" cy="1132837"/>
            <a:chOff x="0" y="0"/>
            <a:chExt cx="17500600" cy="1132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63500" y="63500"/>
              <a:ext cx="173736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7373600">
                  <a:moveTo>
                    <a:pt x="0" y="0"/>
                  </a:moveTo>
                  <a:lnTo>
                    <a:pt x="0" y="1005840"/>
                  </a:lnTo>
                  <a:lnTo>
                    <a:pt x="17373600" y="1005840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3500" y="63500"/>
              <a:ext cx="128016" cy="1005586"/>
            </a:xfrm>
            <a:custGeom>
              <a:avLst/>
              <a:gdLst/>
              <a:ahLst/>
              <a:cxnLst/>
              <a:rect r="r" b="b" t="t" l="l"/>
              <a:pathLst>
                <a:path h="1005586" w="128016">
                  <a:moveTo>
                    <a:pt x="0" y="0"/>
                  </a:moveTo>
                  <a:lnTo>
                    <a:pt x="0" y="1005586"/>
                  </a:lnTo>
                  <a:lnTo>
                    <a:pt x="128016" y="100558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6D6A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393697" y="8751313"/>
            <a:ext cx="17500597" cy="1132837"/>
            <a:chOff x="0" y="0"/>
            <a:chExt cx="17500600" cy="11328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173736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7373600">
                  <a:moveTo>
                    <a:pt x="0" y="0"/>
                  </a:moveTo>
                  <a:lnTo>
                    <a:pt x="0" y="1005840"/>
                  </a:lnTo>
                  <a:lnTo>
                    <a:pt x="17373600" y="1005840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63500" y="63500"/>
              <a:ext cx="128016" cy="1005586"/>
            </a:xfrm>
            <a:custGeom>
              <a:avLst/>
              <a:gdLst/>
              <a:ahLst/>
              <a:cxnLst/>
              <a:rect r="r" b="b" t="t" l="l"/>
              <a:pathLst>
                <a:path h="1005586" w="128016">
                  <a:moveTo>
                    <a:pt x="0" y="0"/>
                  </a:moveTo>
                  <a:lnTo>
                    <a:pt x="0" y="1005586"/>
                  </a:lnTo>
                  <a:lnTo>
                    <a:pt x="128016" y="100558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731520" y="1947920"/>
            <a:ext cx="13973175" cy="3190875"/>
            <a:chOff x="0" y="0"/>
            <a:chExt cx="18630900" cy="42545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8630900" cy="4254500"/>
            </a:xfrm>
            <a:custGeom>
              <a:avLst/>
              <a:gdLst/>
              <a:ahLst/>
              <a:cxnLst/>
              <a:rect r="r" b="b" t="t" l="l"/>
              <a:pathLst>
                <a:path h="4254500" w="18630900">
                  <a:moveTo>
                    <a:pt x="0" y="0"/>
                  </a:moveTo>
                  <a:lnTo>
                    <a:pt x="18630900" y="0"/>
                  </a:lnTo>
                  <a:lnTo>
                    <a:pt x="18630900" y="4254500"/>
                  </a:lnTo>
                  <a:lnTo>
                    <a:pt x="0" y="4254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0" y="0"/>
            <a:ext cx="18288000" cy="1316736"/>
            <a:chOff x="0" y="0"/>
            <a:chExt cx="18288000" cy="131673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393697" y="6337297"/>
            <a:ext cx="17500597" cy="1132837"/>
            <a:chOff x="0" y="0"/>
            <a:chExt cx="17500600" cy="11328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0" y="63500"/>
              <a:ext cx="173736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7373600">
                  <a:moveTo>
                    <a:pt x="0" y="1005840"/>
                  </a:moveTo>
                  <a:lnTo>
                    <a:pt x="17373600" y="1005840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128016" cy="1005840"/>
            </a:xfrm>
            <a:custGeom>
              <a:avLst/>
              <a:gdLst/>
              <a:ahLst/>
              <a:cxnLst/>
              <a:rect r="r" b="b" t="t" l="l"/>
              <a:pathLst>
                <a:path h="1005840" w="128016">
                  <a:moveTo>
                    <a:pt x="0" y="1005840"/>
                  </a:moveTo>
                  <a:lnTo>
                    <a:pt x="128016" y="10058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393697" y="7544305"/>
            <a:ext cx="17500597" cy="1132837"/>
            <a:chOff x="0" y="0"/>
            <a:chExt cx="17500600" cy="11328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63500" y="63500"/>
              <a:ext cx="173736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7373600">
                  <a:moveTo>
                    <a:pt x="0" y="1005840"/>
                  </a:moveTo>
                  <a:lnTo>
                    <a:pt x="17373600" y="1005840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63500" y="63500"/>
              <a:ext cx="128016" cy="1005840"/>
            </a:xfrm>
            <a:custGeom>
              <a:avLst/>
              <a:gdLst/>
              <a:ahLst/>
              <a:cxnLst/>
              <a:rect r="r" b="b" t="t" l="l"/>
              <a:pathLst>
                <a:path h="1005840" w="128016">
                  <a:moveTo>
                    <a:pt x="0" y="1005840"/>
                  </a:moveTo>
                  <a:lnTo>
                    <a:pt x="128016" y="10058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393697" y="8751313"/>
            <a:ext cx="17500597" cy="1132837"/>
            <a:chOff x="0" y="0"/>
            <a:chExt cx="17500600" cy="11328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63500" y="63500"/>
              <a:ext cx="173736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7373600">
                  <a:moveTo>
                    <a:pt x="0" y="1005840"/>
                  </a:moveTo>
                  <a:lnTo>
                    <a:pt x="17373600" y="1005840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63500" y="63500"/>
              <a:ext cx="128016" cy="1005840"/>
            </a:xfrm>
            <a:custGeom>
              <a:avLst/>
              <a:gdLst/>
              <a:ahLst/>
              <a:cxnLst/>
              <a:rect r="r" b="b" t="t" l="l"/>
              <a:pathLst>
                <a:path h="1005840" w="128016">
                  <a:moveTo>
                    <a:pt x="0" y="1005840"/>
                  </a:moveTo>
                  <a:lnTo>
                    <a:pt x="128016" y="10058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731520" y="205930"/>
            <a:ext cx="10499560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Rezultati — Mala baza (500k redova, 67 MB)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22960" y="7863078"/>
            <a:ext cx="996613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6D6A0"/>
                </a:solidFill>
                <a:latin typeface="Calibri (MS)"/>
                <a:ea typeface="Calibri (MS)"/>
                <a:cs typeface="Calibri (MS)"/>
                <a:sym typeface="Calibri (MS)"/>
              </a:rPr>
              <a:t>Warm cache: 0.68 ms vs cold 1.56 ms — isti plan, samo stanje keša je drugačije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22960" y="6656070"/>
            <a:ext cx="1070541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D166"/>
                </a:solidFill>
                <a:latin typeface="Calibri (MS)"/>
                <a:ea typeface="Calibri (MS)"/>
                <a:cs typeface="Calibri (MS)"/>
                <a:sym typeface="Calibri (MS)"/>
              </a:rPr>
              <a:t>Seq Scan čita 11× više stranica (5.682 vs 510) — ali baza staje u keš, pa nema disk I/O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22960" y="9070086"/>
            <a:ext cx="1087893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B4D8"/>
                </a:solidFill>
                <a:latin typeface="Calibri (MS)"/>
                <a:ea typeface="Calibri (MS)"/>
                <a:cs typeface="Calibri (MS)"/>
                <a:sym typeface="Calibri (MS)"/>
              </a:rPr>
              <a:t>Optimizator ne menja plan između izvršavanja — jedina promena je buffer pool stanje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3697" y="1490977"/>
            <a:ext cx="8630917" cy="7716517"/>
            <a:chOff x="0" y="0"/>
            <a:chExt cx="8630920" cy="77165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8503666" cy="7589520"/>
            </a:xfrm>
            <a:custGeom>
              <a:avLst/>
              <a:gdLst/>
              <a:ahLst/>
              <a:cxnLst/>
              <a:rect r="r" b="b" t="t" l="l"/>
              <a:pathLst>
                <a:path h="7589520" w="8503666">
                  <a:moveTo>
                    <a:pt x="0" y="0"/>
                  </a:moveTo>
                  <a:lnTo>
                    <a:pt x="0" y="7589520"/>
                  </a:lnTo>
                  <a:lnTo>
                    <a:pt x="8503666" y="7589520"/>
                  </a:lnTo>
                  <a:lnTo>
                    <a:pt x="8503666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8503031" cy="950976"/>
            </a:xfrm>
            <a:custGeom>
              <a:avLst/>
              <a:gdLst/>
              <a:ahLst/>
              <a:cxnLst/>
              <a:rect r="r" b="b" t="t" l="l"/>
              <a:pathLst>
                <a:path h="950976" w="8503031">
                  <a:moveTo>
                    <a:pt x="0" y="0"/>
                  </a:moveTo>
                  <a:lnTo>
                    <a:pt x="0" y="950976"/>
                  </a:lnTo>
                  <a:lnTo>
                    <a:pt x="8503031" y="950976"/>
                  </a:lnTo>
                  <a:lnTo>
                    <a:pt x="8503031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337820" y="6775196"/>
              <a:ext cx="7955280" cy="694944"/>
            </a:xfrm>
            <a:custGeom>
              <a:avLst/>
              <a:gdLst/>
              <a:ahLst/>
              <a:cxnLst/>
              <a:rect r="r" b="b" t="t" l="l"/>
              <a:pathLst>
                <a:path h="694944" w="7955280">
                  <a:moveTo>
                    <a:pt x="0" y="0"/>
                  </a:moveTo>
                  <a:lnTo>
                    <a:pt x="0" y="694944"/>
                  </a:lnTo>
                  <a:lnTo>
                    <a:pt x="7955280" y="694944"/>
                  </a:lnTo>
                  <a:lnTo>
                    <a:pt x="7955280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8503920" cy="7589520"/>
            </a:xfrm>
            <a:custGeom>
              <a:avLst/>
              <a:gdLst/>
              <a:ahLst/>
              <a:cxnLst/>
              <a:rect r="r" b="b" t="t" l="l"/>
              <a:pathLst>
                <a:path h="7589520" w="8503920">
                  <a:moveTo>
                    <a:pt x="0" y="7589520"/>
                  </a:moveTo>
                  <a:lnTo>
                    <a:pt x="8503920" y="758952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0" y="63500"/>
              <a:ext cx="8503920" cy="950976"/>
            </a:xfrm>
            <a:custGeom>
              <a:avLst/>
              <a:gdLst/>
              <a:ahLst/>
              <a:cxnLst/>
              <a:rect r="r" b="b" t="t" l="l"/>
              <a:pathLst>
                <a:path h="950976" w="8503920">
                  <a:moveTo>
                    <a:pt x="0" y="950976"/>
                  </a:moveTo>
                  <a:lnTo>
                    <a:pt x="8503920" y="950976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337820" y="6775196"/>
              <a:ext cx="7955280" cy="694944"/>
            </a:xfrm>
            <a:custGeom>
              <a:avLst/>
              <a:gdLst/>
              <a:ahLst/>
              <a:cxnLst/>
              <a:rect r="r" b="b" t="t" l="l"/>
              <a:pathLst>
                <a:path h="694944" w="7955280">
                  <a:moveTo>
                    <a:pt x="0" y="694944"/>
                  </a:moveTo>
                  <a:lnTo>
                    <a:pt x="7955280" y="694944"/>
                  </a:lnTo>
                  <a:lnTo>
                    <a:pt x="795528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-63503" y="-63503"/>
            <a:ext cx="18414997" cy="1443733"/>
            <a:chOff x="0" y="0"/>
            <a:chExt cx="18415000" cy="144373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354817" y="1490977"/>
            <a:ext cx="8630917" cy="7716517"/>
            <a:chOff x="0" y="0"/>
            <a:chExt cx="8630920" cy="77165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8503666" cy="7589520"/>
            </a:xfrm>
            <a:custGeom>
              <a:avLst/>
              <a:gdLst/>
              <a:ahLst/>
              <a:cxnLst/>
              <a:rect r="r" b="b" t="t" l="l"/>
              <a:pathLst>
                <a:path h="7589520" w="8503666">
                  <a:moveTo>
                    <a:pt x="0" y="0"/>
                  </a:moveTo>
                  <a:lnTo>
                    <a:pt x="0" y="7589520"/>
                  </a:lnTo>
                  <a:lnTo>
                    <a:pt x="8503666" y="7589520"/>
                  </a:lnTo>
                  <a:lnTo>
                    <a:pt x="8503666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63500" y="63500"/>
              <a:ext cx="8503031" cy="950976"/>
            </a:xfrm>
            <a:custGeom>
              <a:avLst/>
              <a:gdLst/>
              <a:ahLst/>
              <a:cxnLst/>
              <a:rect r="r" b="b" t="t" l="l"/>
              <a:pathLst>
                <a:path h="950976" w="8503031">
                  <a:moveTo>
                    <a:pt x="0" y="0"/>
                  </a:moveTo>
                  <a:lnTo>
                    <a:pt x="0" y="950976"/>
                  </a:lnTo>
                  <a:lnTo>
                    <a:pt x="8503031" y="950976"/>
                  </a:lnTo>
                  <a:lnTo>
                    <a:pt x="8503031" y="0"/>
                  </a:lnTo>
                  <a:close/>
                </a:path>
              </a:pathLst>
            </a:custGeom>
            <a:solidFill>
              <a:srgbClr val="FFD166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337820" y="6775196"/>
              <a:ext cx="7955280" cy="694944"/>
            </a:xfrm>
            <a:custGeom>
              <a:avLst/>
              <a:gdLst/>
              <a:ahLst/>
              <a:cxnLst/>
              <a:rect r="r" b="b" t="t" l="l"/>
              <a:pathLst>
                <a:path h="694944" w="7955280">
                  <a:moveTo>
                    <a:pt x="0" y="0"/>
                  </a:moveTo>
                  <a:lnTo>
                    <a:pt x="0" y="694944"/>
                  </a:lnTo>
                  <a:lnTo>
                    <a:pt x="7955280" y="694944"/>
                  </a:lnTo>
                  <a:lnTo>
                    <a:pt x="7955280" y="0"/>
                  </a:lnTo>
                  <a:close/>
                </a:path>
              </a:pathLst>
            </a:custGeom>
            <a:solidFill>
              <a:srgbClr val="FFD166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8503920" cy="7589520"/>
            </a:xfrm>
            <a:custGeom>
              <a:avLst/>
              <a:gdLst/>
              <a:ahLst/>
              <a:cxnLst/>
              <a:rect r="r" b="b" t="t" l="l"/>
              <a:pathLst>
                <a:path h="7589520" w="8503920">
                  <a:moveTo>
                    <a:pt x="0" y="7589520"/>
                  </a:moveTo>
                  <a:lnTo>
                    <a:pt x="8503920" y="758952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63500" y="63500"/>
              <a:ext cx="8503920" cy="950976"/>
            </a:xfrm>
            <a:custGeom>
              <a:avLst/>
              <a:gdLst/>
              <a:ahLst/>
              <a:cxnLst/>
              <a:rect r="r" b="b" t="t" l="l"/>
              <a:pathLst>
                <a:path h="950976" w="8503920">
                  <a:moveTo>
                    <a:pt x="0" y="950976"/>
                  </a:moveTo>
                  <a:lnTo>
                    <a:pt x="8503920" y="950976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337820" y="6775196"/>
              <a:ext cx="7955280" cy="694944"/>
            </a:xfrm>
            <a:custGeom>
              <a:avLst/>
              <a:gdLst/>
              <a:ahLst/>
              <a:cxnLst/>
              <a:rect r="r" b="b" t="t" l="l"/>
              <a:pathLst>
                <a:path h="694944" w="7955280">
                  <a:moveTo>
                    <a:pt x="0" y="694944"/>
                  </a:moveTo>
                  <a:lnTo>
                    <a:pt x="7955280" y="694944"/>
                  </a:lnTo>
                  <a:lnTo>
                    <a:pt x="795528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731520" y="205930"/>
            <a:ext cx="9140000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Uticaj selektivnosti na plan izvršavanja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31520" y="1838115"/>
            <a:ext cx="3964572" cy="5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b="true" sz="3000">
                <a:solidFill>
                  <a:srgbClr val="0F1B2D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WHERE value &lt; 200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692640" y="1838115"/>
            <a:ext cx="3964572" cy="5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b="true" sz="3000">
                <a:solidFill>
                  <a:srgbClr val="0F1B2D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WHERE value &lt; 800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22960" y="3898392"/>
            <a:ext cx="627412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Plan: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22960" y="4922520"/>
            <a:ext cx="925706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Vreme: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22960" y="5946648"/>
            <a:ext cx="1373829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Shared hit: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822960" y="6970776"/>
            <a:ext cx="161034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Shared read: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22960" y="2874264"/>
            <a:ext cx="161702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Selektivnost: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566160" y="6981939"/>
            <a:ext cx="31514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66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566160" y="5957811"/>
            <a:ext cx="713327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5.706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3566160" y="4933683"/>
            <a:ext cx="1002973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27.3 ms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566160" y="2885427"/>
            <a:ext cx="1584388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~20% tabele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3566160" y="3776205"/>
            <a:ext cx="2567626" cy="750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Bitmap Index Scan</a:t>
            </a:r>
          </a:p>
          <a:p>
            <a:pPr algn="l">
              <a:lnSpc>
                <a:spcPts val="2851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+ Bitmap Heap Scan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784080" y="3898392"/>
            <a:ext cx="627412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Plan: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784080" y="4922520"/>
            <a:ext cx="925706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Vreme: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784080" y="5946648"/>
            <a:ext cx="1373829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Shared hit: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784080" y="6970776"/>
            <a:ext cx="161034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Shared read: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784080" y="2874264"/>
            <a:ext cx="161702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Selektivnost: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527280" y="6981939"/>
            <a:ext cx="157572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527280" y="5957811"/>
            <a:ext cx="713327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5.682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527280" y="4933683"/>
            <a:ext cx="1002973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D16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42.6 ms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527280" y="3909555"/>
            <a:ext cx="1137923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Seq Scan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527280" y="2885427"/>
            <a:ext cx="1584388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~80% tabele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859536" y="8289341"/>
            <a:ext cx="7551239" cy="634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999">
                <a:solidFill>
                  <a:srgbClr val="00B4D8"/>
                </a:solidFill>
                <a:latin typeface="Calibri (MS)"/>
                <a:ea typeface="Calibri (MS)"/>
                <a:cs typeface="Calibri (MS)"/>
                <a:sym typeface="Calibri (MS)"/>
              </a:rPr>
              <a:t>→ Indeks isplativ — grupisano čitanje heap blokova smanjuje nasumični I/O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820656" y="8394116"/>
            <a:ext cx="7741425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FFD166"/>
                </a:solidFill>
                <a:latin typeface="Calibri (MS)"/>
                <a:ea typeface="Calibri (MS)"/>
                <a:cs typeface="Calibri (MS)"/>
                <a:sym typeface="Calibri (MS)"/>
              </a:rPr>
              <a:t>→ Index bi generisao previše nasumičnih pristupa — Seq Scan je efikasniji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457200" y="9305182"/>
            <a:ext cx="17024156" cy="702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sz="2199" i="true">
                <a:solidFill>
                  <a:srgbClr val="8BA8BE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 value &lt; 200 (Bitmap) ima više shared read (66) nego value &lt; 800 (Seq Scan, 0). Bitmap pristupa nasumičnim blokovima po celoj tabeli, dok Seq Scan koristi podatke koji su već u kešu iz prethodnih testova.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316736"/>
            <a:chOff x="0" y="0"/>
            <a:chExt cx="18288000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393697" y="6337297"/>
            <a:ext cx="17500597" cy="1132837"/>
            <a:chOff x="0" y="0"/>
            <a:chExt cx="17500600" cy="1132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63500" y="63500"/>
              <a:ext cx="173736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7373600">
                  <a:moveTo>
                    <a:pt x="0" y="0"/>
                  </a:moveTo>
                  <a:lnTo>
                    <a:pt x="0" y="1005840"/>
                  </a:lnTo>
                  <a:lnTo>
                    <a:pt x="17373600" y="1005840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128016" cy="1005586"/>
            </a:xfrm>
            <a:custGeom>
              <a:avLst/>
              <a:gdLst/>
              <a:ahLst/>
              <a:cxnLst/>
              <a:rect r="r" b="b" t="t" l="l"/>
              <a:pathLst>
                <a:path h="1005586" w="128016">
                  <a:moveTo>
                    <a:pt x="0" y="0"/>
                  </a:moveTo>
                  <a:lnTo>
                    <a:pt x="0" y="1005586"/>
                  </a:lnTo>
                  <a:lnTo>
                    <a:pt x="128016" y="100558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FFD166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393697" y="7544305"/>
            <a:ext cx="17500597" cy="1132837"/>
            <a:chOff x="0" y="0"/>
            <a:chExt cx="17500600" cy="1132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63500" y="63500"/>
              <a:ext cx="173736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7373600">
                  <a:moveTo>
                    <a:pt x="0" y="0"/>
                  </a:moveTo>
                  <a:lnTo>
                    <a:pt x="0" y="1005840"/>
                  </a:lnTo>
                  <a:lnTo>
                    <a:pt x="17373600" y="1005840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3500" y="63500"/>
              <a:ext cx="128016" cy="1005586"/>
            </a:xfrm>
            <a:custGeom>
              <a:avLst/>
              <a:gdLst/>
              <a:ahLst/>
              <a:cxnLst/>
              <a:rect r="r" b="b" t="t" l="l"/>
              <a:pathLst>
                <a:path h="1005586" w="128016">
                  <a:moveTo>
                    <a:pt x="0" y="0"/>
                  </a:moveTo>
                  <a:lnTo>
                    <a:pt x="0" y="1005586"/>
                  </a:lnTo>
                  <a:lnTo>
                    <a:pt x="128016" y="100558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6D6A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393697" y="8751313"/>
            <a:ext cx="17500597" cy="1132837"/>
            <a:chOff x="0" y="0"/>
            <a:chExt cx="17500600" cy="11328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173736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7373600">
                  <a:moveTo>
                    <a:pt x="0" y="0"/>
                  </a:moveTo>
                  <a:lnTo>
                    <a:pt x="0" y="1005840"/>
                  </a:lnTo>
                  <a:lnTo>
                    <a:pt x="17373600" y="1005840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63500" y="63500"/>
              <a:ext cx="128016" cy="1005586"/>
            </a:xfrm>
            <a:custGeom>
              <a:avLst/>
              <a:gdLst/>
              <a:ahLst/>
              <a:cxnLst/>
              <a:rect r="r" b="b" t="t" l="l"/>
              <a:pathLst>
                <a:path h="1005586" w="128016">
                  <a:moveTo>
                    <a:pt x="0" y="0"/>
                  </a:moveTo>
                  <a:lnTo>
                    <a:pt x="0" y="1005586"/>
                  </a:lnTo>
                  <a:lnTo>
                    <a:pt x="128016" y="100558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731520" y="2102529"/>
            <a:ext cx="15068550" cy="3409950"/>
            <a:chOff x="0" y="0"/>
            <a:chExt cx="20091400" cy="45466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0091400" cy="4546600"/>
            </a:xfrm>
            <a:custGeom>
              <a:avLst/>
              <a:gdLst/>
              <a:ahLst/>
              <a:cxnLst/>
              <a:rect r="r" b="b" t="t" l="l"/>
              <a:pathLst>
                <a:path h="4546600" w="20091400">
                  <a:moveTo>
                    <a:pt x="0" y="0"/>
                  </a:moveTo>
                  <a:lnTo>
                    <a:pt x="20091400" y="0"/>
                  </a:lnTo>
                  <a:lnTo>
                    <a:pt x="20091400" y="4546600"/>
                  </a:lnTo>
                  <a:lnTo>
                    <a:pt x="0" y="4546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0" y="0"/>
            <a:ext cx="18288000" cy="1316736"/>
            <a:chOff x="0" y="0"/>
            <a:chExt cx="18288000" cy="131673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393697" y="6337297"/>
            <a:ext cx="17500597" cy="1132837"/>
            <a:chOff x="0" y="0"/>
            <a:chExt cx="17500600" cy="11328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0" y="63500"/>
              <a:ext cx="173736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7373600">
                  <a:moveTo>
                    <a:pt x="0" y="1005840"/>
                  </a:moveTo>
                  <a:lnTo>
                    <a:pt x="17373600" y="1005840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128016" cy="1005840"/>
            </a:xfrm>
            <a:custGeom>
              <a:avLst/>
              <a:gdLst/>
              <a:ahLst/>
              <a:cxnLst/>
              <a:rect r="r" b="b" t="t" l="l"/>
              <a:pathLst>
                <a:path h="1005840" w="128016">
                  <a:moveTo>
                    <a:pt x="0" y="1005840"/>
                  </a:moveTo>
                  <a:lnTo>
                    <a:pt x="128016" y="10058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393697" y="7544305"/>
            <a:ext cx="17500597" cy="1132837"/>
            <a:chOff x="0" y="0"/>
            <a:chExt cx="17500600" cy="11328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63500" y="63500"/>
              <a:ext cx="173736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7373600">
                  <a:moveTo>
                    <a:pt x="0" y="1005840"/>
                  </a:moveTo>
                  <a:lnTo>
                    <a:pt x="17373600" y="1005840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63500" y="63500"/>
              <a:ext cx="128016" cy="1005840"/>
            </a:xfrm>
            <a:custGeom>
              <a:avLst/>
              <a:gdLst/>
              <a:ahLst/>
              <a:cxnLst/>
              <a:rect r="r" b="b" t="t" l="l"/>
              <a:pathLst>
                <a:path h="1005840" w="128016">
                  <a:moveTo>
                    <a:pt x="0" y="1005840"/>
                  </a:moveTo>
                  <a:lnTo>
                    <a:pt x="128016" y="10058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393697" y="8751313"/>
            <a:ext cx="17500597" cy="1132837"/>
            <a:chOff x="0" y="0"/>
            <a:chExt cx="17500600" cy="11328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63500" y="63500"/>
              <a:ext cx="173736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7373600">
                  <a:moveTo>
                    <a:pt x="0" y="1005840"/>
                  </a:moveTo>
                  <a:lnTo>
                    <a:pt x="17373600" y="1005840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63500" y="63500"/>
              <a:ext cx="128016" cy="1005840"/>
            </a:xfrm>
            <a:custGeom>
              <a:avLst/>
              <a:gdLst/>
              <a:ahLst/>
              <a:cxnLst/>
              <a:rect r="r" b="b" t="t" l="l"/>
              <a:pathLst>
                <a:path h="1005840" w="128016">
                  <a:moveTo>
                    <a:pt x="0" y="1005840"/>
                  </a:moveTo>
                  <a:lnTo>
                    <a:pt x="128016" y="10058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731520" y="205930"/>
            <a:ext cx="10693232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Rezultati — Velika baza (3M redova, 287 MB)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22960" y="7863078"/>
            <a:ext cx="1069980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6D6A0"/>
                </a:solidFill>
                <a:latin typeface="Calibri (MS)"/>
                <a:ea typeface="Calibri (MS)"/>
                <a:cs typeface="Calibri (MS)"/>
                <a:sym typeface="Calibri (MS)"/>
              </a:rPr>
              <a:t>Warm cache: 3.2 ms vs cold 20.2 ms — 6.4× brže, disk read pada na 0 (100% hit rate)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22960" y="6656070"/>
            <a:ext cx="10959389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D166"/>
                </a:solidFill>
                <a:latin typeface="Calibri (MS)"/>
                <a:ea typeface="Calibri (MS)"/>
                <a:cs typeface="Calibri (MS)"/>
                <a:sym typeface="Calibri (MS)"/>
              </a:rPr>
              <a:t>Seq Scan bez indeksa čita 28.096 stranica — od toga 25.792 sa diska (hit rate samo 8%)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22960" y="9070086"/>
            <a:ext cx="11511353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B4D8"/>
                </a:solidFill>
                <a:latin typeface="Calibri (MS)"/>
                <a:ea typeface="Calibri (MS)"/>
                <a:cs typeface="Calibri (MS)"/>
                <a:sym typeface="Calibri (MS)"/>
              </a:rPr>
              <a:t>Indeks ubrzava 10× čak i pri hladnom kešu (20 ms vs 203 ms) — eliminisanjem 90% stranica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3697" y="1490977"/>
            <a:ext cx="8630917" cy="7716517"/>
            <a:chOff x="0" y="0"/>
            <a:chExt cx="8630920" cy="77165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8503666" cy="7589520"/>
            </a:xfrm>
            <a:custGeom>
              <a:avLst/>
              <a:gdLst/>
              <a:ahLst/>
              <a:cxnLst/>
              <a:rect r="r" b="b" t="t" l="l"/>
              <a:pathLst>
                <a:path h="7589520" w="8503666">
                  <a:moveTo>
                    <a:pt x="0" y="0"/>
                  </a:moveTo>
                  <a:lnTo>
                    <a:pt x="0" y="7589520"/>
                  </a:lnTo>
                  <a:lnTo>
                    <a:pt x="8503666" y="7589520"/>
                  </a:lnTo>
                  <a:lnTo>
                    <a:pt x="8503666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8503031" cy="950976"/>
            </a:xfrm>
            <a:custGeom>
              <a:avLst/>
              <a:gdLst/>
              <a:ahLst/>
              <a:cxnLst/>
              <a:rect r="r" b="b" t="t" l="l"/>
              <a:pathLst>
                <a:path h="950976" w="8503031">
                  <a:moveTo>
                    <a:pt x="0" y="0"/>
                  </a:moveTo>
                  <a:lnTo>
                    <a:pt x="0" y="950976"/>
                  </a:lnTo>
                  <a:lnTo>
                    <a:pt x="8503031" y="950976"/>
                  </a:lnTo>
                  <a:lnTo>
                    <a:pt x="8503031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337820" y="6775196"/>
              <a:ext cx="7955280" cy="694944"/>
            </a:xfrm>
            <a:custGeom>
              <a:avLst/>
              <a:gdLst/>
              <a:ahLst/>
              <a:cxnLst/>
              <a:rect r="r" b="b" t="t" l="l"/>
              <a:pathLst>
                <a:path h="694944" w="7955280">
                  <a:moveTo>
                    <a:pt x="0" y="0"/>
                  </a:moveTo>
                  <a:lnTo>
                    <a:pt x="0" y="694944"/>
                  </a:lnTo>
                  <a:lnTo>
                    <a:pt x="7955280" y="694944"/>
                  </a:lnTo>
                  <a:lnTo>
                    <a:pt x="7955280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8503920" cy="7589520"/>
            </a:xfrm>
            <a:custGeom>
              <a:avLst/>
              <a:gdLst/>
              <a:ahLst/>
              <a:cxnLst/>
              <a:rect r="r" b="b" t="t" l="l"/>
              <a:pathLst>
                <a:path h="7589520" w="8503920">
                  <a:moveTo>
                    <a:pt x="0" y="7589520"/>
                  </a:moveTo>
                  <a:lnTo>
                    <a:pt x="8503920" y="758952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0" y="63500"/>
              <a:ext cx="8503920" cy="950976"/>
            </a:xfrm>
            <a:custGeom>
              <a:avLst/>
              <a:gdLst/>
              <a:ahLst/>
              <a:cxnLst/>
              <a:rect r="r" b="b" t="t" l="l"/>
              <a:pathLst>
                <a:path h="950976" w="8503920">
                  <a:moveTo>
                    <a:pt x="0" y="950976"/>
                  </a:moveTo>
                  <a:lnTo>
                    <a:pt x="8503920" y="950976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337820" y="6775196"/>
              <a:ext cx="7955280" cy="694944"/>
            </a:xfrm>
            <a:custGeom>
              <a:avLst/>
              <a:gdLst/>
              <a:ahLst/>
              <a:cxnLst/>
              <a:rect r="r" b="b" t="t" l="l"/>
              <a:pathLst>
                <a:path h="694944" w="7955280">
                  <a:moveTo>
                    <a:pt x="0" y="694944"/>
                  </a:moveTo>
                  <a:lnTo>
                    <a:pt x="7955280" y="694944"/>
                  </a:lnTo>
                  <a:lnTo>
                    <a:pt x="795528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-63503" y="-63503"/>
            <a:ext cx="18414997" cy="1443733"/>
            <a:chOff x="0" y="0"/>
            <a:chExt cx="18415000" cy="144373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354817" y="1490977"/>
            <a:ext cx="8630917" cy="7716517"/>
            <a:chOff x="0" y="0"/>
            <a:chExt cx="8630920" cy="77165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8503666" cy="7589520"/>
            </a:xfrm>
            <a:custGeom>
              <a:avLst/>
              <a:gdLst/>
              <a:ahLst/>
              <a:cxnLst/>
              <a:rect r="r" b="b" t="t" l="l"/>
              <a:pathLst>
                <a:path h="7589520" w="8503666">
                  <a:moveTo>
                    <a:pt x="0" y="0"/>
                  </a:moveTo>
                  <a:lnTo>
                    <a:pt x="0" y="7589520"/>
                  </a:lnTo>
                  <a:lnTo>
                    <a:pt x="8503666" y="7589520"/>
                  </a:lnTo>
                  <a:lnTo>
                    <a:pt x="8503666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63500" y="63500"/>
              <a:ext cx="8503031" cy="950976"/>
            </a:xfrm>
            <a:custGeom>
              <a:avLst/>
              <a:gdLst/>
              <a:ahLst/>
              <a:cxnLst/>
              <a:rect r="r" b="b" t="t" l="l"/>
              <a:pathLst>
                <a:path h="950976" w="8503031">
                  <a:moveTo>
                    <a:pt x="0" y="0"/>
                  </a:moveTo>
                  <a:lnTo>
                    <a:pt x="0" y="950976"/>
                  </a:lnTo>
                  <a:lnTo>
                    <a:pt x="8503031" y="950976"/>
                  </a:lnTo>
                  <a:lnTo>
                    <a:pt x="8503031" y="0"/>
                  </a:lnTo>
                  <a:close/>
                </a:path>
              </a:pathLst>
            </a:custGeom>
            <a:solidFill>
              <a:srgbClr val="FFD166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337820" y="6775196"/>
              <a:ext cx="7955280" cy="694944"/>
            </a:xfrm>
            <a:custGeom>
              <a:avLst/>
              <a:gdLst/>
              <a:ahLst/>
              <a:cxnLst/>
              <a:rect r="r" b="b" t="t" l="l"/>
              <a:pathLst>
                <a:path h="694944" w="7955280">
                  <a:moveTo>
                    <a:pt x="0" y="0"/>
                  </a:moveTo>
                  <a:lnTo>
                    <a:pt x="0" y="694944"/>
                  </a:lnTo>
                  <a:lnTo>
                    <a:pt x="7955280" y="694944"/>
                  </a:lnTo>
                  <a:lnTo>
                    <a:pt x="7955280" y="0"/>
                  </a:lnTo>
                  <a:close/>
                </a:path>
              </a:pathLst>
            </a:custGeom>
            <a:solidFill>
              <a:srgbClr val="FFD166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8503920" cy="7589520"/>
            </a:xfrm>
            <a:custGeom>
              <a:avLst/>
              <a:gdLst/>
              <a:ahLst/>
              <a:cxnLst/>
              <a:rect r="r" b="b" t="t" l="l"/>
              <a:pathLst>
                <a:path h="7589520" w="8503920">
                  <a:moveTo>
                    <a:pt x="0" y="7589520"/>
                  </a:moveTo>
                  <a:lnTo>
                    <a:pt x="8503920" y="7589520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63500" y="63500"/>
              <a:ext cx="8503920" cy="950976"/>
            </a:xfrm>
            <a:custGeom>
              <a:avLst/>
              <a:gdLst/>
              <a:ahLst/>
              <a:cxnLst/>
              <a:rect r="r" b="b" t="t" l="l"/>
              <a:pathLst>
                <a:path h="950976" w="8503920">
                  <a:moveTo>
                    <a:pt x="0" y="950976"/>
                  </a:moveTo>
                  <a:lnTo>
                    <a:pt x="8503920" y="950976"/>
                  </a:lnTo>
                  <a:lnTo>
                    <a:pt x="8503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337820" y="6775196"/>
              <a:ext cx="7955280" cy="694944"/>
            </a:xfrm>
            <a:custGeom>
              <a:avLst/>
              <a:gdLst/>
              <a:ahLst/>
              <a:cxnLst/>
              <a:rect r="r" b="b" t="t" l="l"/>
              <a:pathLst>
                <a:path h="694944" w="7955280">
                  <a:moveTo>
                    <a:pt x="0" y="694944"/>
                  </a:moveTo>
                  <a:lnTo>
                    <a:pt x="7955280" y="694944"/>
                  </a:lnTo>
                  <a:lnTo>
                    <a:pt x="795528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731520" y="205930"/>
            <a:ext cx="11010729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Uticaj selektivnosti — Velika baza (3M redova)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31520" y="1838115"/>
            <a:ext cx="3964572" cy="5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b="true" sz="3000">
                <a:solidFill>
                  <a:srgbClr val="0F1B2D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WHERE value &lt; 200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692640" y="1838115"/>
            <a:ext cx="3964572" cy="5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b="true" sz="3000">
                <a:solidFill>
                  <a:srgbClr val="0F1B2D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WHERE value &lt; 800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22960" y="3898392"/>
            <a:ext cx="627412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Plan: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22960" y="4922520"/>
            <a:ext cx="925706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Vreme: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22960" y="5946648"/>
            <a:ext cx="1373829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Shared hit: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822960" y="6970776"/>
            <a:ext cx="161034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Shared read: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22960" y="2874264"/>
            <a:ext cx="161702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Selektivnost: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566160" y="5957811"/>
            <a:ext cx="472716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702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566160" y="6981939"/>
            <a:ext cx="870899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28.367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3566160" y="4933683"/>
            <a:ext cx="1160545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243.8 ms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566160" y="2885427"/>
            <a:ext cx="1584388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~60% tabele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3566160" y="3776205"/>
            <a:ext cx="2567626" cy="750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Bitmap Index Scan</a:t>
            </a:r>
          </a:p>
          <a:p>
            <a:pPr algn="l">
              <a:lnSpc>
                <a:spcPts val="2851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+ Bitmap Heap Scan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784080" y="3898392"/>
            <a:ext cx="627412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Plan: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784080" y="4922520"/>
            <a:ext cx="925706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Vreme: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784080" y="5946648"/>
            <a:ext cx="1373829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Shared hit: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784080" y="6970776"/>
            <a:ext cx="1610344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Shared read: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784080" y="2874264"/>
            <a:ext cx="1617021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Selektivnost: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527280" y="5957811"/>
            <a:ext cx="870899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16.210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527280" y="6981939"/>
            <a:ext cx="870899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11.886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527280" y="3909555"/>
            <a:ext cx="1137923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Seq Scan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527280" y="4933683"/>
            <a:ext cx="1160545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D16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918.4 ms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527280" y="2885427"/>
            <a:ext cx="1584388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~80% tabele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859536" y="8289341"/>
            <a:ext cx="7567565" cy="634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999">
                <a:solidFill>
                  <a:srgbClr val="00B4D8"/>
                </a:solidFill>
                <a:latin typeface="Calibri (MS)"/>
                <a:ea typeface="Calibri (MS)"/>
                <a:cs typeface="Calibri (MS)"/>
                <a:sym typeface="Calibri (MS)"/>
              </a:rPr>
              <a:t>→ Indeks koristi grupisano citanje, ali je 60% tabele previse — overhead indeksa vidljiv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820656" y="8394116"/>
            <a:ext cx="7609799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FFD166"/>
                </a:solidFill>
                <a:latin typeface="Calibri (MS)"/>
                <a:ea typeface="Calibri (MS)"/>
                <a:cs typeface="Calibri (MS)"/>
                <a:sym typeface="Calibri (MS)"/>
              </a:rPr>
              <a:t>→ Seq Scan ispravno bira optimizer — indeks bi bio sporiji za 80% tabele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457200" y="9305182"/>
            <a:ext cx="17304868" cy="702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4"/>
              </a:lnSpc>
            </a:pPr>
            <a:r>
              <a:rPr lang="en-US" sz="2199" i="true">
                <a:solidFill>
                  <a:srgbClr val="8BA8BE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 Granica efikasnosti indeksa: pri &gt;20% tabele, Bitmap Scan postaje skuplji od Seq Scan. Na velikoj bazi (287MB &gt; shared_buffers), cold cache drasticno pojacava razliku — hit rate pada na 2.5% pri value &lt; 200.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316736"/>
            <a:chOff x="0" y="0"/>
            <a:chExt cx="18288000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612880" y="1609344"/>
            <a:ext cx="6217920" cy="2157984"/>
            <a:chOff x="0" y="0"/>
            <a:chExt cx="6217920" cy="2157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217920" cy="2157984"/>
            </a:xfrm>
            <a:custGeom>
              <a:avLst/>
              <a:gdLst/>
              <a:ahLst/>
              <a:cxnLst/>
              <a:rect r="r" b="b" t="t" l="l"/>
              <a:pathLst>
                <a:path h="2157984" w="6217920">
                  <a:moveTo>
                    <a:pt x="0" y="0"/>
                  </a:moveTo>
                  <a:lnTo>
                    <a:pt x="0" y="2157984"/>
                  </a:lnTo>
                  <a:lnTo>
                    <a:pt x="6217920" y="2157984"/>
                  </a:lnTo>
                  <a:lnTo>
                    <a:pt x="621792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612880" y="4133088"/>
            <a:ext cx="6217920" cy="2157984"/>
            <a:chOff x="0" y="0"/>
            <a:chExt cx="6217920" cy="215798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217920" cy="2157984"/>
            </a:xfrm>
            <a:custGeom>
              <a:avLst/>
              <a:gdLst/>
              <a:ahLst/>
              <a:cxnLst/>
              <a:rect r="r" b="b" t="t" l="l"/>
              <a:pathLst>
                <a:path h="2157984" w="6217920">
                  <a:moveTo>
                    <a:pt x="0" y="0"/>
                  </a:moveTo>
                  <a:lnTo>
                    <a:pt x="0" y="2157984"/>
                  </a:lnTo>
                  <a:lnTo>
                    <a:pt x="6217920" y="2157984"/>
                  </a:lnTo>
                  <a:lnTo>
                    <a:pt x="621792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393697" y="6593329"/>
            <a:ext cx="17500597" cy="3400549"/>
            <a:chOff x="0" y="0"/>
            <a:chExt cx="17500600" cy="340055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1219180" y="63500"/>
              <a:ext cx="6217920" cy="2157984"/>
            </a:xfrm>
            <a:custGeom>
              <a:avLst/>
              <a:gdLst/>
              <a:ahLst/>
              <a:cxnLst/>
              <a:rect r="r" b="b" t="t" l="l"/>
              <a:pathLst>
                <a:path h="2157984" w="6217920">
                  <a:moveTo>
                    <a:pt x="0" y="0"/>
                  </a:moveTo>
                  <a:lnTo>
                    <a:pt x="0" y="2157984"/>
                  </a:lnTo>
                  <a:lnTo>
                    <a:pt x="6217920" y="2157984"/>
                  </a:lnTo>
                  <a:lnTo>
                    <a:pt x="621792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2331212"/>
              <a:ext cx="173736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7373600">
                  <a:moveTo>
                    <a:pt x="0" y="0"/>
                  </a:moveTo>
                  <a:lnTo>
                    <a:pt x="0" y="1005840"/>
                  </a:lnTo>
                  <a:lnTo>
                    <a:pt x="17373600" y="1005840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63500" y="2331212"/>
              <a:ext cx="128016" cy="1005586"/>
            </a:xfrm>
            <a:custGeom>
              <a:avLst/>
              <a:gdLst/>
              <a:ahLst/>
              <a:cxnLst/>
              <a:rect r="r" b="b" t="t" l="l"/>
              <a:pathLst>
                <a:path h="1005586" w="128016">
                  <a:moveTo>
                    <a:pt x="0" y="0"/>
                  </a:moveTo>
                  <a:lnTo>
                    <a:pt x="0" y="1005586"/>
                  </a:lnTo>
                  <a:lnTo>
                    <a:pt x="128016" y="1005586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FFD166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521208" y="1609344"/>
            <a:ext cx="10668000" cy="6848475"/>
            <a:chOff x="0" y="0"/>
            <a:chExt cx="14224000" cy="91313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24000" cy="9131300"/>
            </a:xfrm>
            <a:custGeom>
              <a:avLst/>
              <a:gdLst/>
              <a:ahLst/>
              <a:cxnLst/>
              <a:rect r="r" b="b" t="t" l="l"/>
              <a:pathLst>
                <a:path h="9131300" w="14224000">
                  <a:moveTo>
                    <a:pt x="0" y="0"/>
                  </a:moveTo>
                  <a:lnTo>
                    <a:pt x="14224000" y="0"/>
                  </a:lnTo>
                  <a:lnTo>
                    <a:pt x="14224000" y="9131300"/>
                  </a:lnTo>
                  <a:lnTo>
                    <a:pt x="0" y="9131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0" y="0"/>
            <a:ext cx="18288000" cy="1316736"/>
            <a:chOff x="0" y="0"/>
            <a:chExt cx="18288000" cy="131673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1612880" y="1609344"/>
            <a:ext cx="6217920" cy="2157984"/>
            <a:chOff x="0" y="0"/>
            <a:chExt cx="6217920" cy="215798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217920" cy="2157984"/>
            </a:xfrm>
            <a:custGeom>
              <a:avLst/>
              <a:gdLst/>
              <a:ahLst/>
              <a:cxnLst/>
              <a:rect r="r" b="b" t="t" l="l"/>
              <a:pathLst>
                <a:path h="2157984" w="6217920">
                  <a:moveTo>
                    <a:pt x="0" y="2157984"/>
                  </a:moveTo>
                  <a:lnTo>
                    <a:pt x="6217920" y="2157984"/>
                  </a:lnTo>
                  <a:lnTo>
                    <a:pt x="6217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1612880" y="4133088"/>
            <a:ext cx="6217920" cy="2157984"/>
            <a:chOff x="0" y="0"/>
            <a:chExt cx="6217920" cy="215798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217920" cy="2157984"/>
            </a:xfrm>
            <a:custGeom>
              <a:avLst/>
              <a:gdLst/>
              <a:ahLst/>
              <a:cxnLst/>
              <a:rect r="r" b="b" t="t" l="l"/>
              <a:pathLst>
                <a:path h="2157984" w="6217920">
                  <a:moveTo>
                    <a:pt x="0" y="2157984"/>
                  </a:moveTo>
                  <a:lnTo>
                    <a:pt x="6217920" y="2157984"/>
                  </a:lnTo>
                  <a:lnTo>
                    <a:pt x="6217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393697" y="6593329"/>
            <a:ext cx="17500597" cy="3400549"/>
            <a:chOff x="0" y="0"/>
            <a:chExt cx="17500600" cy="340055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11219180" y="63500"/>
              <a:ext cx="6217920" cy="2157984"/>
            </a:xfrm>
            <a:custGeom>
              <a:avLst/>
              <a:gdLst/>
              <a:ahLst/>
              <a:cxnLst/>
              <a:rect r="r" b="b" t="t" l="l"/>
              <a:pathLst>
                <a:path h="2157984" w="6217920">
                  <a:moveTo>
                    <a:pt x="0" y="2157984"/>
                  </a:moveTo>
                  <a:lnTo>
                    <a:pt x="6217920" y="2157984"/>
                  </a:lnTo>
                  <a:lnTo>
                    <a:pt x="62179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63500" y="2331212"/>
              <a:ext cx="173736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7373600">
                  <a:moveTo>
                    <a:pt x="0" y="1005840"/>
                  </a:moveTo>
                  <a:lnTo>
                    <a:pt x="17373600" y="1005840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63500" y="2331212"/>
              <a:ext cx="128016" cy="1005840"/>
            </a:xfrm>
            <a:custGeom>
              <a:avLst/>
              <a:gdLst/>
              <a:ahLst/>
              <a:cxnLst/>
              <a:rect r="r" b="b" t="t" l="l"/>
              <a:pathLst>
                <a:path h="1005840" w="128016">
                  <a:moveTo>
                    <a:pt x="0" y="1005840"/>
                  </a:moveTo>
                  <a:lnTo>
                    <a:pt x="128016" y="1005840"/>
                  </a:lnTo>
                  <a:lnTo>
                    <a:pt x="128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731520" y="205930"/>
            <a:ext cx="13560981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Mala vs Velika baza — kada buffer pool postaje presudan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531872" y="6852380"/>
            <a:ext cx="2427265" cy="18020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8"/>
              </a:lnSpc>
            </a:pPr>
            <a:r>
              <a:rPr lang="en-US" b="true" sz="6000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</a:t>
            </a:r>
          </a:p>
          <a:p>
            <a:pPr algn="ctr">
              <a:lnSpc>
                <a:spcPts val="2624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disk čitanja</a:t>
            </a:r>
          </a:p>
          <a:p>
            <a:pPr algn="ctr">
              <a:lnSpc>
                <a:spcPts val="2624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Seq Scan (mala baza)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956030" y="4204811"/>
            <a:ext cx="1562071" cy="111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b="true" sz="6000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~64×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4190869" y="5354155"/>
            <a:ext cx="64418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3506421" y="1804892"/>
            <a:ext cx="2479157" cy="18020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58"/>
              </a:lnSpc>
            </a:pPr>
            <a:r>
              <a:rPr lang="en-US" b="true" sz="6000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25.792</a:t>
            </a:r>
          </a:p>
          <a:p>
            <a:pPr algn="ctr">
              <a:lnSpc>
                <a:spcPts val="2624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disk čitanja</a:t>
            </a:r>
          </a:p>
          <a:p>
            <a:pPr algn="ctr">
              <a:lnSpc>
                <a:spcPts val="2624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SeqScan cold(velika)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920530" y="3163786"/>
            <a:ext cx="64418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697369" y="5354155"/>
            <a:ext cx="2089737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bržewarm vscold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016009" y="5687530"/>
            <a:ext cx="1439723" cy="40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(velika baza)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22960" y="9039225"/>
            <a:ext cx="16875976" cy="750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2400">
                <a:solidFill>
                  <a:srgbClr val="E8F4F8"/>
                </a:solidFill>
                <a:latin typeface="Calibri (MS)"/>
                <a:ea typeface="Calibri (MS)"/>
                <a:cs typeface="Calibri (MS)"/>
                <a:sym typeface="Calibri (MS)"/>
              </a:rPr>
              <a:t>Kada baza premašuje shared_buffers, buffer pool postaje presudan — cold cache generiše masovan disk I/O, warm cache eliminiše ga potpuno. Razlika: 203 ms → 3 ms.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3503" y="-63503"/>
            <a:ext cx="18414997" cy="1443733"/>
            <a:chOff x="0" y="0"/>
            <a:chExt cx="18415000" cy="1443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0"/>
                  </a:moveTo>
                  <a:lnTo>
                    <a:pt x="0" y="1316736"/>
                  </a:lnTo>
                  <a:lnTo>
                    <a:pt x="18288000" y="1316736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182880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8288000">
                  <a:moveTo>
                    <a:pt x="0" y="1316736"/>
                  </a:moveTo>
                  <a:lnTo>
                    <a:pt x="18288000" y="1316736"/>
                  </a:lnTo>
                  <a:lnTo>
                    <a:pt x="18288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393697" y="1545841"/>
            <a:ext cx="17500597" cy="1315717"/>
            <a:chOff x="0" y="0"/>
            <a:chExt cx="17500600" cy="131572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1737360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7373600">
                  <a:moveTo>
                    <a:pt x="0" y="0"/>
                  </a:moveTo>
                  <a:lnTo>
                    <a:pt x="0" y="1188720"/>
                  </a:lnTo>
                  <a:lnTo>
                    <a:pt x="17373600" y="1188720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0" y="63500"/>
              <a:ext cx="950976" cy="1188720"/>
            </a:xfrm>
            <a:custGeom>
              <a:avLst/>
              <a:gdLst/>
              <a:ahLst/>
              <a:cxnLst/>
              <a:rect r="r" b="b" t="t" l="l"/>
              <a:pathLst>
                <a:path h="1188720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1188720"/>
                  </a:lnTo>
                  <a:lnTo>
                    <a:pt x="0" y="1188720"/>
                  </a:lnTo>
                  <a:close/>
                </a:path>
              </a:pathLst>
            </a:custGeom>
            <a:solidFill>
              <a:srgbClr val="06D6A0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3500" y="63500"/>
              <a:ext cx="1737360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7373600">
                  <a:moveTo>
                    <a:pt x="0" y="1188720"/>
                  </a:moveTo>
                  <a:lnTo>
                    <a:pt x="17373600" y="1188720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3500" y="63500"/>
              <a:ext cx="950976" cy="1188720"/>
            </a:xfrm>
            <a:custGeom>
              <a:avLst/>
              <a:gdLst/>
              <a:ahLst/>
              <a:cxnLst/>
              <a:rect r="r" b="b" t="t" l="l"/>
              <a:pathLst>
                <a:path h="1188720" w="950976">
                  <a:moveTo>
                    <a:pt x="0" y="1188720"/>
                  </a:moveTo>
                  <a:lnTo>
                    <a:pt x="950976" y="1188720"/>
                  </a:lnTo>
                  <a:lnTo>
                    <a:pt x="9509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393697" y="2935729"/>
            <a:ext cx="17500597" cy="1315717"/>
            <a:chOff x="0" y="0"/>
            <a:chExt cx="17500600" cy="131572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1737360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7373600">
                  <a:moveTo>
                    <a:pt x="0" y="0"/>
                  </a:moveTo>
                  <a:lnTo>
                    <a:pt x="0" y="1188720"/>
                  </a:lnTo>
                  <a:lnTo>
                    <a:pt x="17373600" y="1188720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63500" y="63500"/>
              <a:ext cx="950976" cy="1188720"/>
            </a:xfrm>
            <a:custGeom>
              <a:avLst/>
              <a:gdLst/>
              <a:ahLst/>
              <a:cxnLst/>
              <a:rect r="r" b="b" t="t" l="l"/>
              <a:pathLst>
                <a:path h="1188720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1188720"/>
                  </a:lnTo>
                  <a:lnTo>
                    <a:pt x="0" y="118872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1737360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7373600">
                  <a:moveTo>
                    <a:pt x="0" y="1188720"/>
                  </a:moveTo>
                  <a:lnTo>
                    <a:pt x="17373600" y="1188720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63500" y="63500"/>
              <a:ext cx="950976" cy="1188720"/>
            </a:xfrm>
            <a:custGeom>
              <a:avLst/>
              <a:gdLst/>
              <a:ahLst/>
              <a:cxnLst/>
              <a:rect r="r" b="b" t="t" l="l"/>
              <a:pathLst>
                <a:path h="1188720" w="950976">
                  <a:moveTo>
                    <a:pt x="0" y="1188720"/>
                  </a:moveTo>
                  <a:lnTo>
                    <a:pt x="950976" y="1188720"/>
                  </a:lnTo>
                  <a:lnTo>
                    <a:pt x="9509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393697" y="4325617"/>
            <a:ext cx="17500597" cy="1315717"/>
            <a:chOff x="0" y="0"/>
            <a:chExt cx="17500600" cy="13157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1737360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7373600">
                  <a:moveTo>
                    <a:pt x="0" y="0"/>
                  </a:moveTo>
                  <a:lnTo>
                    <a:pt x="0" y="1188719"/>
                  </a:lnTo>
                  <a:lnTo>
                    <a:pt x="17373600" y="1188719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63500" y="63500"/>
              <a:ext cx="950976" cy="1188720"/>
            </a:xfrm>
            <a:custGeom>
              <a:avLst/>
              <a:gdLst/>
              <a:ahLst/>
              <a:cxnLst/>
              <a:rect r="r" b="b" t="t" l="l"/>
              <a:pathLst>
                <a:path h="1188720" w="950976">
                  <a:moveTo>
                    <a:pt x="0" y="0"/>
                  </a:moveTo>
                  <a:lnTo>
                    <a:pt x="0" y="1188719"/>
                  </a:lnTo>
                  <a:lnTo>
                    <a:pt x="950976" y="1188719"/>
                  </a:lnTo>
                  <a:lnTo>
                    <a:pt x="950976" y="0"/>
                  </a:lnTo>
                  <a:close/>
                </a:path>
              </a:pathLst>
            </a:custGeom>
            <a:solidFill>
              <a:srgbClr val="FFD166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63500" y="63500"/>
              <a:ext cx="1737360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7373600">
                  <a:moveTo>
                    <a:pt x="0" y="1188719"/>
                  </a:moveTo>
                  <a:lnTo>
                    <a:pt x="17373600" y="1188719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950976" cy="1188720"/>
            </a:xfrm>
            <a:custGeom>
              <a:avLst/>
              <a:gdLst/>
              <a:ahLst/>
              <a:cxnLst/>
              <a:rect r="r" b="b" t="t" l="l"/>
              <a:pathLst>
                <a:path h="1188720" w="950976">
                  <a:moveTo>
                    <a:pt x="0" y="1188719"/>
                  </a:moveTo>
                  <a:lnTo>
                    <a:pt x="950976" y="1188719"/>
                  </a:lnTo>
                  <a:lnTo>
                    <a:pt x="9509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393697" y="5715505"/>
            <a:ext cx="17500597" cy="1315717"/>
            <a:chOff x="0" y="0"/>
            <a:chExt cx="17500600" cy="13157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63500" y="63500"/>
              <a:ext cx="1737360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7373600">
                  <a:moveTo>
                    <a:pt x="0" y="0"/>
                  </a:moveTo>
                  <a:lnTo>
                    <a:pt x="0" y="1188720"/>
                  </a:lnTo>
                  <a:lnTo>
                    <a:pt x="17373600" y="1188720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63500" y="63500"/>
              <a:ext cx="950976" cy="1188720"/>
            </a:xfrm>
            <a:custGeom>
              <a:avLst/>
              <a:gdLst/>
              <a:ahLst/>
              <a:cxnLst/>
              <a:rect r="r" b="b" t="t" l="l"/>
              <a:pathLst>
                <a:path h="1188720" w="950976">
                  <a:moveTo>
                    <a:pt x="0" y="0"/>
                  </a:moveTo>
                  <a:lnTo>
                    <a:pt x="0" y="1188720"/>
                  </a:lnTo>
                  <a:lnTo>
                    <a:pt x="950976" y="1188720"/>
                  </a:lnTo>
                  <a:lnTo>
                    <a:pt x="950976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63500" y="63500"/>
              <a:ext cx="1737360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7373600">
                  <a:moveTo>
                    <a:pt x="0" y="1188720"/>
                  </a:moveTo>
                  <a:lnTo>
                    <a:pt x="17373600" y="1188720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63500" y="63500"/>
              <a:ext cx="950976" cy="1188720"/>
            </a:xfrm>
            <a:custGeom>
              <a:avLst/>
              <a:gdLst/>
              <a:ahLst/>
              <a:cxnLst/>
              <a:rect r="r" b="b" t="t" l="l"/>
              <a:pathLst>
                <a:path h="1188720" w="950976">
                  <a:moveTo>
                    <a:pt x="0" y="1188720"/>
                  </a:moveTo>
                  <a:lnTo>
                    <a:pt x="950976" y="1188720"/>
                  </a:lnTo>
                  <a:lnTo>
                    <a:pt x="9509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393697" y="7105393"/>
            <a:ext cx="17500597" cy="1315717"/>
            <a:chOff x="0" y="0"/>
            <a:chExt cx="17500600" cy="13157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63500" y="63500"/>
              <a:ext cx="1737360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7373600">
                  <a:moveTo>
                    <a:pt x="0" y="0"/>
                  </a:moveTo>
                  <a:lnTo>
                    <a:pt x="0" y="1188720"/>
                  </a:lnTo>
                  <a:lnTo>
                    <a:pt x="17373600" y="1188720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63500" y="63500"/>
              <a:ext cx="950976" cy="1188720"/>
            </a:xfrm>
            <a:custGeom>
              <a:avLst/>
              <a:gdLst/>
              <a:ahLst/>
              <a:cxnLst/>
              <a:rect r="r" b="b" t="t" l="l"/>
              <a:pathLst>
                <a:path h="1188720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1188720"/>
                  </a:lnTo>
                  <a:lnTo>
                    <a:pt x="0" y="1188720"/>
                  </a:lnTo>
                  <a:close/>
                </a:path>
              </a:pathLst>
            </a:custGeom>
            <a:solidFill>
              <a:srgbClr val="EF476F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63500" y="63500"/>
              <a:ext cx="1737360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7373600">
                  <a:moveTo>
                    <a:pt x="0" y="1188720"/>
                  </a:moveTo>
                  <a:lnTo>
                    <a:pt x="17373600" y="1188720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63500" y="63500"/>
              <a:ext cx="950976" cy="1188720"/>
            </a:xfrm>
            <a:custGeom>
              <a:avLst/>
              <a:gdLst/>
              <a:ahLst/>
              <a:cxnLst/>
              <a:rect r="r" b="b" t="t" l="l"/>
              <a:pathLst>
                <a:path h="1188720" w="950976">
                  <a:moveTo>
                    <a:pt x="0" y="1188720"/>
                  </a:moveTo>
                  <a:lnTo>
                    <a:pt x="950976" y="1188720"/>
                  </a:lnTo>
                  <a:lnTo>
                    <a:pt x="9509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-63503" y="8495281"/>
            <a:ext cx="18414997" cy="1855213"/>
            <a:chOff x="0" y="0"/>
            <a:chExt cx="18415000" cy="185521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520700" y="63500"/>
              <a:ext cx="1737360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7373600">
                  <a:moveTo>
                    <a:pt x="0" y="0"/>
                  </a:moveTo>
                  <a:lnTo>
                    <a:pt x="0" y="1188720"/>
                  </a:lnTo>
                  <a:lnTo>
                    <a:pt x="17373600" y="1188720"/>
                  </a:lnTo>
                  <a:lnTo>
                    <a:pt x="17373600" y="0"/>
                  </a:lnTo>
                  <a:close/>
                </a:path>
              </a:pathLst>
            </a:custGeom>
            <a:solidFill>
              <a:srgbClr val="1A2E4A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520700" y="63500"/>
              <a:ext cx="950976" cy="1188720"/>
            </a:xfrm>
            <a:custGeom>
              <a:avLst/>
              <a:gdLst/>
              <a:ahLst/>
              <a:cxnLst/>
              <a:rect r="r" b="b" t="t" l="l"/>
              <a:pathLst>
                <a:path h="1188720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1188720"/>
                  </a:lnTo>
                  <a:lnTo>
                    <a:pt x="0" y="1188720"/>
                  </a:lnTo>
                  <a:close/>
                </a:path>
              </a:pathLst>
            </a:custGeom>
            <a:solidFill>
              <a:srgbClr val="06D6A0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63500" y="1197356"/>
              <a:ext cx="18288000" cy="594360"/>
            </a:xfrm>
            <a:custGeom>
              <a:avLst/>
              <a:gdLst/>
              <a:ahLst/>
              <a:cxnLst/>
              <a:rect r="r" b="b" t="t" l="l"/>
              <a:pathLst>
                <a:path h="594360" w="18288000">
                  <a:moveTo>
                    <a:pt x="0" y="0"/>
                  </a:moveTo>
                  <a:lnTo>
                    <a:pt x="0" y="594360"/>
                  </a:lnTo>
                  <a:lnTo>
                    <a:pt x="18288000" y="594360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00B4D8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520700" y="63500"/>
              <a:ext cx="1737360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7373600">
                  <a:moveTo>
                    <a:pt x="0" y="1188720"/>
                  </a:moveTo>
                  <a:lnTo>
                    <a:pt x="17373600" y="1188720"/>
                  </a:lnTo>
                  <a:lnTo>
                    <a:pt x="17373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520700" y="63500"/>
              <a:ext cx="950976" cy="1188720"/>
            </a:xfrm>
            <a:custGeom>
              <a:avLst/>
              <a:gdLst/>
              <a:ahLst/>
              <a:cxnLst/>
              <a:rect r="r" b="b" t="t" l="l"/>
              <a:pathLst>
                <a:path h="1188720" w="950976">
                  <a:moveTo>
                    <a:pt x="0" y="1188720"/>
                  </a:moveTo>
                  <a:lnTo>
                    <a:pt x="950976" y="1188720"/>
                  </a:lnTo>
                  <a:lnTo>
                    <a:pt x="9509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63500" y="1197356"/>
              <a:ext cx="18288000" cy="594360"/>
            </a:xfrm>
            <a:custGeom>
              <a:avLst/>
              <a:gdLst/>
              <a:ahLst/>
              <a:cxnLst/>
              <a:rect r="r" b="b" t="t" l="l"/>
              <a:pathLst>
                <a:path h="594360" w="18288000">
                  <a:moveTo>
                    <a:pt x="0" y="0"/>
                  </a:moveTo>
                  <a:lnTo>
                    <a:pt x="0" y="594360"/>
                  </a:lnTo>
                  <a:lnTo>
                    <a:pt x="18288000" y="594360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37" id="37"/>
          <p:cNvSpPr txBox="true"/>
          <p:nvPr/>
        </p:nvSpPr>
        <p:spPr>
          <a:xfrm rot="0">
            <a:off x="731520" y="205930"/>
            <a:ext cx="2211896" cy="82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9"/>
              </a:lnSpc>
            </a:pPr>
            <a:r>
              <a:rPr lang="en-US" b="true" sz="4399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Zaključak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16769" y="1838306"/>
            <a:ext cx="236363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b="true" sz="3600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816769" y="3228194"/>
            <a:ext cx="236363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b="true" sz="3600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816769" y="4618082"/>
            <a:ext cx="236363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b="true" sz="3600">
                <a:solidFill>
                  <a:srgbClr val="FFD16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816769" y="6007970"/>
            <a:ext cx="236363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b="true" sz="3600">
                <a:solidFill>
                  <a:srgbClr val="00B4D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4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816769" y="7397858"/>
            <a:ext cx="236363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b="true" sz="3600">
                <a:solidFill>
                  <a:srgbClr val="EF476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5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816769" y="8787746"/>
            <a:ext cx="236363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b="true" sz="3600">
                <a:solidFill>
                  <a:srgbClr val="06D6A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6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609344" y="1967865"/>
            <a:ext cx="12445403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Buffer pool eliminiše disk I/O — razlika cold vs warm može biti i 64× (203ms → 3ms na velikoj bazi)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609344" y="3357753"/>
            <a:ext cx="12806696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Indeks smanjuje broj čitanih stranica 11× (5.682 → 510) — direktno smanjujući pritisak na buffer pool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609344" y="7527417"/>
            <a:ext cx="13331942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Veličina baze vs shared_buffers je presudna — 67MB staje u keš, 287MB ne → LRU eviction postaje vidljiv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609344" y="6137529"/>
            <a:ext cx="13321313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Plan ostaje isti pri ponavljanju upita — jedina promena performansi je stanje buffer pool-a (cold vs warm)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609344" y="4747641"/>
            <a:ext cx="13540978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PostgreSQL optimizer dinamički bira plan — Bitmap Scan za srednju selektivnost, Seq Scan za visoku (&gt;80%)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609344" y="8917305"/>
            <a:ext cx="14664185" cy="436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Buffer pool i optimizer su odvojeni ali komplementarni mehanizmi — optimizer bira plan, buffer pool minimizuje I/O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4092835" y="9745142"/>
            <a:ext cx="10304231" cy="37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8BA8BE"/>
                </a:solidFill>
                <a:latin typeface="Calibri (MS)"/>
                <a:ea typeface="Calibri (MS)"/>
                <a:cs typeface="Calibri (MS)"/>
                <a:sym typeface="Calibri (MS)"/>
              </a:rPr>
              <a:t>Buffer Pool and Caching Mechanism | Katarina Adamović | Elektronski fakultet Niš | maj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DAHJc1XBNGo</dc:identifier>
  <dcterms:modified xsi:type="dcterms:W3CDTF">2011-08-01T06:04:30Z</dcterms:modified>
  <cp:revision>1</cp:revision>
  <dc:title>Student: Katarina Adamović | br. ind. 2173 Predmet: Sistemi za upravljanje bazama podataka Modul: Bezbednost računarskih sistema Mentor: Prof. dr Aleksandar Stanimirović</dc:title>
</cp:coreProperties>
</file>