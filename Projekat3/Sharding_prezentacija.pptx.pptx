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libri (MS) Bold" charset="1" panose="020F0702030404030204"/>
      <p:regular r:id="rId28"/>
    </p:embeddedFont>
    <p:embeddedFont>
      <p:font typeface="Cambria Bold" charset="1" panose="02040803050406030204"/>
      <p:regular r:id="rId29"/>
    </p:embeddedFont>
    <p:embeddedFont>
      <p:font typeface="Calibri (MS) Italics" charset="1" panose="020F05020202040A0204"/>
      <p:regular r:id="rId30"/>
    </p:embeddedFont>
    <p:embeddedFont>
      <p:font typeface="Calibri (MS)" charset="1" panose="020F0502020204030204"/>
      <p:regular r:id="rId31"/>
    </p:embeddedFont>
    <p:embeddedFont>
      <p:font typeface="Courier New" charset="1" panose="02070309020205020404"/>
      <p:regular r:id="rId43"/>
    </p:embeddedFont>
    <p:embeddedFont>
      <p:font typeface="Calibri (MS) Bold Italics" charset="1" panose="020F07020304040A0204"/>
      <p:regular r:id="rId49"/>
    </p:embeddedFont>
    <p:embeddedFont>
      <p:font typeface="Cambria Bold Italics" charset="1" panose="020408030504060A0204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13.xml" Type="http://schemas.openxmlformats.org/officeDocument/2006/relationships/notesSlide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notesSlides/notesSlide17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11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64640" y="-205740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41A46">
                <a:alpha val="4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057400" y="7132320"/>
            <a:ext cx="4937760" cy="4937760"/>
            <a:chOff x="0" y="0"/>
            <a:chExt cx="6583680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4C5C96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097280"/>
            <a:ext cx="1165860" cy="1165860"/>
            <a:chOff x="0" y="0"/>
            <a:chExt cx="1554480" cy="1554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4C5C9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7660" y="1260500"/>
            <a:ext cx="839419" cy="839419"/>
            <a:chOff x="0" y="0"/>
            <a:chExt cx="1119226" cy="111922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19251" cy="1119251"/>
            </a:xfrm>
            <a:custGeom>
              <a:avLst/>
              <a:gdLst/>
              <a:ahLst/>
              <a:cxnLst/>
              <a:rect r="r" b="b" t="t" l="l"/>
              <a:pathLst>
                <a:path h="1119251" w="1119251">
                  <a:moveTo>
                    <a:pt x="0" y="0"/>
                  </a:moveTo>
                  <a:lnTo>
                    <a:pt x="1119251" y="0"/>
                  </a:lnTo>
                  <a:lnTo>
                    <a:pt x="1119251" y="1119251"/>
                  </a:lnTo>
                  <a:lnTo>
                    <a:pt x="0" y="1119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606040"/>
            <a:ext cx="13716000" cy="480060"/>
            <a:chOff x="0" y="0"/>
            <a:chExt cx="182880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225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UNIVERZITET U NIŠU — ELEKTRONSKI FAKULTET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154680"/>
            <a:ext cx="15087600" cy="2194560"/>
            <a:chOff x="0" y="0"/>
            <a:chExt cx="20116800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011680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09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Horizontalno particionisanje podataka (Sharding)</a:t>
              </a:r>
            </a:p>
            <a:p>
              <a:pPr algn="l">
                <a:lnSpc>
                  <a:spcPts val="6609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 savremenim DBMS sistemima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5280660"/>
            <a:ext cx="14401800" cy="685800"/>
            <a:chOff x="0" y="0"/>
            <a:chExt cx="192024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202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Seminarski rad — Sistemi za upravljanje bazama podataka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0152" y="6363653"/>
            <a:ext cx="4143375" cy="28575"/>
            <a:chOff x="0" y="0"/>
            <a:chExt cx="5524500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24500" cy="38100"/>
            </a:xfrm>
            <a:custGeom>
              <a:avLst/>
              <a:gdLst/>
              <a:ahLst/>
              <a:cxnLst/>
              <a:rect r="r" b="b" t="t" l="l"/>
              <a:pathLst>
                <a:path h="38100" w="5524500">
                  <a:moveTo>
                    <a:pt x="0" y="0"/>
                  </a:moveTo>
                  <a:lnTo>
                    <a:pt x="5524500" y="381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2775330" r="0" b="-2775330"/>
              </a:stretch>
            </a:blipFill>
            <a:ln w="28575" cap="sq">
              <a:solidFill>
                <a:srgbClr val="4C5C9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6720840"/>
            <a:ext cx="10972800" cy="1234440"/>
            <a:chOff x="0" y="0"/>
            <a:chExt cx="1463040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304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Student: </a:t>
              </a: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Katarina Adamović, br. ind. 2173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Mentor: </a:t>
              </a: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dr Aleksandar Stanimirović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4440" y="9189720"/>
            <a:ext cx="5486400" cy="548640"/>
            <a:chOff x="0" y="0"/>
            <a:chExt cx="73152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Niš,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960120"/>
            <a:chOff x="0" y="0"/>
            <a:chExt cx="14630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Sadržaj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098548"/>
            <a:ext cx="548640" cy="548640"/>
            <a:chOff x="0" y="0"/>
            <a:chExt cx="7315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098548"/>
            <a:ext cx="548640" cy="548640"/>
            <a:chOff x="0" y="0"/>
            <a:chExt cx="7315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77340" y="2029968"/>
            <a:ext cx="7269480" cy="685800"/>
            <a:chOff x="0" y="0"/>
            <a:chExt cx="969264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Uvod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811780"/>
            <a:ext cx="548640" cy="548640"/>
            <a:chOff x="0" y="0"/>
            <a:chExt cx="73152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2811780"/>
            <a:ext cx="548640" cy="548640"/>
            <a:chOff x="0" y="0"/>
            <a:chExt cx="731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77340" y="2743200"/>
            <a:ext cx="7269480" cy="685800"/>
            <a:chOff x="0" y="0"/>
            <a:chExt cx="969264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Skaliranje baza podataka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3525012"/>
            <a:ext cx="548640" cy="548640"/>
            <a:chOff x="0" y="0"/>
            <a:chExt cx="731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3525012"/>
            <a:ext cx="548640" cy="548640"/>
            <a:chOff x="0" y="0"/>
            <a:chExt cx="7315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77340" y="3456432"/>
            <a:ext cx="7269480" cy="685800"/>
            <a:chOff x="0" y="0"/>
            <a:chExt cx="969264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Particionisanje i sharding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4238244"/>
            <a:ext cx="548640" cy="548640"/>
            <a:chOff x="0" y="0"/>
            <a:chExt cx="731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4238244"/>
            <a:ext cx="548640" cy="548640"/>
            <a:chOff x="0" y="0"/>
            <a:chExt cx="731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77340" y="4169664"/>
            <a:ext cx="7269480" cy="685800"/>
            <a:chOff x="0" y="0"/>
            <a:chExt cx="969264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Arhitektura shardovanih sistema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4951476"/>
            <a:ext cx="548640" cy="548640"/>
            <a:chOff x="0" y="0"/>
            <a:chExt cx="73152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4951476"/>
            <a:ext cx="548640" cy="548640"/>
            <a:chOff x="0" y="0"/>
            <a:chExt cx="731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77340" y="4882896"/>
            <a:ext cx="7269480" cy="685800"/>
            <a:chOff x="0" y="0"/>
            <a:chExt cx="969264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Strategije raspodele podataka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64040" y="2098548"/>
            <a:ext cx="548640" cy="548640"/>
            <a:chOff x="0" y="0"/>
            <a:chExt cx="7315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64040" y="2098548"/>
            <a:ext cx="548640" cy="548640"/>
            <a:chOff x="0" y="0"/>
            <a:chExt cx="73152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18420" y="2029968"/>
            <a:ext cx="7269480" cy="685800"/>
            <a:chOff x="0" y="0"/>
            <a:chExt cx="969264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Izazovi horizontalne raspodele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64040" y="2811780"/>
            <a:ext cx="548640" cy="548640"/>
            <a:chOff x="0" y="0"/>
            <a:chExt cx="73152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464040" y="2811780"/>
            <a:ext cx="548640" cy="548640"/>
            <a:chOff x="0" y="0"/>
            <a:chExt cx="73152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218420" y="2743200"/>
            <a:ext cx="7269480" cy="685800"/>
            <a:chOff x="0" y="0"/>
            <a:chExt cx="969264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Sharding u savremenim DBMS sistemima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64040" y="3525012"/>
            <a:ext cx="548640" cy="548640"/>
            <a:chOff x="0" y="0"/>
            <a:chExt cx="7315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464040" y="3525012"/>
            <a:ext cx="548640" cy="548640"/>
            <a:chOff x="0" y="0"/>
            <a:chExt cx="73152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218420" y="3456432"/>
            <a:ext cx="7269480" cy="685800"/>
            <a:chOff x="0" y="0"/>
            <a:chExt cx="969264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Praktična implementacija (PostgreSQL)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464040" y="4238244"/>
            <a:ext cx="548640" cy="548640"/>
            <a:chOff x="0" y="0"/>
            <a:chExt cx="7315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64040" y="4238244"/>
            <a:ext cx="548640" cy="548640"/>
            <a:chOff x="0" y="0"/>
            <a:chExt cx="73152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218420" y="4169664"/>
            <a:ext cx="7269480" cy="685800"/>
            <a:chOff x="0" y="0"/>
            <a:chExt cx="969264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Prednosti, nedostaci i preporuke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64040" y="4951476"/>
            <a:ext cx="548640" cy="548640"/>
            <a:chOff x="0" y="0"/>
            <a:chExt cx="7315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464040" y="4951476"/>
            <a:ext cx="548640" cy="548640"/>
            <a:chOff x="0" y="0"/>
            <a:chExt cx="73152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218420" y="4882896"/>
            <a:ext cx="7269480" cy="685800"/>
            <a:chOff x="0" y="0"/>
            <a:chExt cx="9692640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Zaključak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7487900" y="9669780"/>
            <a:ext cx="548640" cy="411480"/>
            <a:chOff x="0" y="0"/>
            <a:chExt cx="73152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91540"/>
            <a:chOff x="0" y="0"/>
            <a:chExt cx="2194560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Uvod — zašto je sharding neophodan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1644015"/>
            <a:ext cx="1641348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Količina podataka raste eksponencijalno — društvene mreže, e-trgovina, IoT i finansijske platforme svakodnevno generišu terabajte novih zapisa. Baza na jednom serveru brzo dostiže granice kapaciteta, propusnosti diska, memorije i broja upita u jedinici vremena.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3497580"/>
            <a:ext cx="5280660" cy="4526280"/>
            <a:chOff x="0" y="0"/>
            <a:chExt cx="7040880" cy="6035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40880" cy="6035040"/>
            </a:xfrm>
            <a:custGeom>
              <a:avLst/>
              <a:gdLst/>
              <a:ahLst/>
              <a:cxnLst/>
              <a:rect r="r" b="b" t="t" l="l"/>
              <a:pathLst>
                <a:path h="603504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5870448"/>
                  </a:lnTo>
                  <a:cubicBezTo>
                    <a:pt x="7040880" y="5961380"/>
                    <a:pt x="6967220" y="6035040"/>
                    <a:pt x="6876288" y="6035040"/>
                  </a:cubicBezTo>
                  <a:lnTo>
                    <a:pt x="164592" y="6035040"/>
                  </a:lnTo>
                  <a:cubicBezTo>
                    <a:pt x="73660" y="6035040"/>
                    <a:pt x="0" y="5961380"/>
                    <a:pt x="0" y="587044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7008" y="3909060"/>
            <a:ext cx="891540" cy="891540"/>
            <a:chOff x="0" y="0"/>
            <a:chExt cx="1188720" cy="1188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1824" y="4033876"/>
            <a:ext cx="641909" cy="641909"/>
            <a:chOff x="0" y="0"/>
            <a:chExt cx="855878" cy="85587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008" y="5074920"/>
            <a:ext cx="4512564" cy="617220"/>
            <a:chOff x="0" y="0"/>
            <a:chExt cx="6016752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16752" cy="822960"/>
            </a:xfrm>
            <a:custGeom>
              <a:avLst/>
              <a:gdLst/>
              <a:ahLst/>
              <a:cxnLst/>
              <a:rect r="r" b="b" t="t" l="l"/>
              <a:pathLst>
                <a:path h="822960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457" r="0" b="-9245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016752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98448" y="5758815"/>
            <a:ext cx="432968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Jedan server ima fizičke granice kapaciteta i propusnosti.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15100" y="3497580"/>
            <a:ext cx="5280660" cy="4526280"/>
            <a:chOff x="0" y="0"/>
            <a:chExt cx="7040880" cy="6035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0880" cy="6035040"/>
            </a:xfrm>
            <a:custGeom>
              <a:avLst/>
              <a:gdLst/>
              <a:ahLst/>
              <a:cxnLst/>
              <a:rect r="r" b="b" t="t" l="l"/>
              <a:pathLst>
                <a:path h="603504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5870448"/>
                  </a:lnTo>
                  <a:cubicBezTo>
                    <a:pt x="7040880" y="5961380"/>
                    <a:pt x="6967220" y="6035040"/>
                    <a:pt x="6876288" y="6035040"/>
                  </a:cubicBezTo>
                  <a:lnTo>
                    <a:pt x="164592" y="6035040"/>
                  </a:lnTo>
                  <a:cubicBezTo>
                    <a:pt x="73660" y="6035040"/>
                    <a:pt x="0" y="5961380"/>
                    <a:pt x="0" y="587044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99148" y="3909060"/>
            <a:ext cx="891540" cy="891540"/>
            <a:chOff x="0" y="0"/>
            <a:chExt cx="1188720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23964" y="4033876"/>
            <a:ext cx="641909" cy="641909"/>
            <a:chOff x="0" y="0"/>
            <a:chExt cx="855878" cy="855878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99148" y="5074920"/>
            <a:ext cx="4512564" cy="617220"/>
            <a:chOff x="0" y="0"/>
            <a:chExt cx="6016752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16752" cy="822960"/>
            </a:xfrm>
            <a:custGeom>
              <a:avLst/>
              <a:gdLst/>
              <a:ahLst/>
              <a:cxnLst/>
              <a:rect r="r" b="b" t="t" l="l"/>
              <a:pathLst>
                <a:path h="822960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457" r="0" b="-9245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016752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Rešenje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990588" y="5758815"/>
            <a:ext cx="432968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Sharding — deljenje baze na šardove raspoređene na više servera.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207240" y="3497580"/>
            <a:ext cx="5280660" cy="4526280"/>
            <a:chOff x="0" y="0"/>
            <a:chExt cx="7040880" cy="6035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40880" cy="6035040"/>
            </a:xfrm>
            <a:custGeom>
              <a:avLst/>
              <a:gdLst/>
              <a:ahLst/>
              <a:cxnLst/>
              <a:rect r="r" b="b" t="t" l="l"/>
              <a:pathLst>
                <a:path h="603504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5870448"/>
                  </a:lnTo>
                  <a:cubicBezTo>
                    <a:pt x="7040880" y="5961380"/>
                    <a:pt x="6967220" y="6035040"/>
                    <a:pt x="6876288" y="6035040"/>
                  </a:cubicBezTo>
                  <a:lnTo>
                    <a:pt x="164592" y="6035040"/>
                  </a:lnTo>
                  <a:cubicBezTo>
                    <a:pt x="73660" y="6035040"/>
                    <a:pt x="0" y="5961380"/>
                    <a:pt x="0" y="587044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91288" y="3909060"/>
            <a:ext cx="891540" cy="891540"/>
            <a:chOff x="0" y="0"/>
            <a:chExt cx="1188720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716104" y="4033876"/>
            <a:ext cx="641909" cy="641909"/>
            <a:chOff x="0" y="0"/>
            <a:chExt cx="855878" cy="855878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591288" y="5074920"/>
            <a:ext cx="4512564" cy="617220"/>
            <a:chOff x="0" y="0"/>
            <a:chExt cx="6016752" cy="822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16752" cy="822960"/>
            </a:xfrm>
            <a:custGeom>
              <a:avLst/>
              <a:gdLst/>
              <a:ahLst/>
              <a:cxnLst/>
              <a:rect r="r" b="b" t="t" l="l"/>
              <a:pathLst>
                <a:path h="822960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457" r="0" b="-9245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016752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Cilj rada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682728" y="5758815"/>
            <a:ext cx="432968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Sistematski prikaz koncepta, arhitekture i praktične realizacije u PostgreSQL-u.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7487900" y="9669780"/>
            <a:ext cx="548640" cy="411480"/>
            <a:chOff x="0" y="0"/>
            <a:chExt cx="73152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91540"/>
            <a:chOff x="0" y="0"/>
            <a:chExt cx="2194560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Vertikalno vs. horizontalno skaliranje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920240"/>
            <a:ext cx="8023860" cy="6858000"/>
            <a:chOff x="0" y="0"/>
            <a:chExt cx="10698480" cy="914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984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8979408"/>
                  </a:lnTo>
                  <a:cubicBezTo>
                    <a:pt x="10698480" y="9070339"/>
                    <a:pt x="10624820" y="9144000"/>
                    <a:pt x="10533888" y="9144000"/>
                  </a:cubicBezTo>
                  <a:lnTo>
                    <a:pt x="164592" y="9144000"/>
                  </a:lnTo>
                  <a:cubicBezTo>
                    <a:pt x="73660" y="9144000"/>
                    <a:pt x="0" y="9070340"/>
                    <a:pt x="0" y="897940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34440" y="2331720"/>
            <a:ext cx="822960" cy="822960"/>
            <a:chOff x="0" y="0"/>
            <a:chExt cx="10972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4C5C9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49654" y="2446934"/>
            <a:ext cx="592531" cy="592531"/>
            <a:chOff x="0" y="0"/>
            <a:chExt cx="790042" cy="79004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63140" y="2359152"/>
            <a:ext cx="6240780" cy="754380"/>
            <a:chOff x="0" y="0"/>
            <a:chExt cx="832104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210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194" r="0" b="-1111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3210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Vertikalno (scale-up)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25880" y="3436620"/>
            <a:ext cx="7018020" cy="488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Jačanje jednog servera (CPU, RAM, disk)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Jednostavno — baza ostaje jedna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Cena raste nelinearno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Fizičke granice jedne mašine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Jedinstvena tačka otkaza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95460" y="1920240"/>
            <a:ext cx="8023860" cy="6858000"/>
            <a:chOff x="0" y="0"/>
            <a:chExt cx="10698480" cy="914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984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8979408"/>
                  </a:lnTo>
                  <a:cubicBezTo>
                    <a:pt x="10698480" y="9070339"/>
                    <a:pt x="10624820" y="9144000"/>
                    <a:pt x="10533888" y="9144000"/>
                  </a:cubicBezTo>
                  <a:lnTo>
                    <a:pt x="164592" y="9144000"/>
                  </a:lnTo>
                  <a:cubicBezTo>
                    <a:pt x="73660" y="9144000"/>
                    <a:pt x="0" y="9070340"/>
                    <a:pt x="0" y="897940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06940" y="2331720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C85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922154" y="2446934"/>
            <a:ext cx="592531" cy="592531"/>
            <a:chOff x="0" y="0"/>
            <a:chExt cx="790042" cy="79004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835640" y="2359152"/>
            <a:ext cx="6240780" cy="754380"/>
            <a:chOff x="0" y="0"/>
            <a:chExt cx="83210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210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194" r="0" b="-11119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3210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Horizontalno (scale-out)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898380" y="3436620"/>
            <a:ext cx="7018020" cy="488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Dodavanje novih, jeftinijih servera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Kapacitet raste približno linearno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Otkaz čvora je izolovan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Praktično neograničen rast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Cena: veća složenost (rutiranje, distribucija)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487900" y="9669780"/>
            <a:ext cx="548640" cy="411480"/>
            <a:chOff x="0" y="0"/>
            <a:chExt cx="73152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91540"/>
            <a:chOff x="0" y="0"/>
            <a:chExt cx="2194560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Replikacija, particionisanje i sharding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851660"/>
            <a:ext cx="5280660" cy="3497580"/>
            <a:chOff x="0" y="0"/>
            <a:chExt cx="7040880" cy="466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08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4498848"/>
                  </a:lnTo>
                  <a:cubicBezTo>
                    <a:pt x="7040880" y="4589780"/>
                    <a:pt x="6967220" y="4663440"/>
                    <a:pt x="6876288" y="4663440"/>
                  </a:cubicBezTo>
                  <a:lnTo>
                    <a:pt x="164592" y="4663440"/>
                  </a:lnTo>
                  <a:cubicBezTo>
                    <a:pt x="73660" y="4663440"/>
                    <a:pt x="0" y="4589780"/>
                    <a:pt x="0" y="449884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65860" y="219456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1473" y="2300173"/>
            <a:ext cx="543154" cy="543154"/>
            <a:chOff x="0" y="0"/>
            <a:chExt cx="724205" cy="724205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24154" cy="724154"/>
            </a:xfrm>
            <a:custGeom>
              <a:avLst/>
              <a:gdLst/>
              <a:ahLst/>
              <a:cxnLst/>
              <a:rect r="r" b="b" t="t" l="l"/>
              <a:pathLst>
                <a:path h="724154" w="724154">
                  <a:moveTo>
                    <a:pt x="0" y="0"/>
                  </a:moveTo>
                  <a:lnTo>
                    <a:pt x="724154" y="0"/>
                  </a:lnTo>
                  <a:lnTo>
                    <a:pt x="724154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7" b="-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125980" y="2235708"/>
            <a:ext cx="3634740" cy="685800"/>
            <a:chOff x="0" y="0"/>
            <a:chExt cx="484632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46320" cy="914400"/>
            </a:xfrm>
            <a:custGeom>
              <a:avLst/>
              <a:gdLst/>
              <a:ahLst/>
              <a:cxnLst/>
              <a:rect r="r" b="b" t="t" l="l"/>
              <a:pathLst>
                <a:path h="9144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Replikacija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57300" y="3162300"/>
            <a:ext cx="441198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Iste podatke čuva na više čvorova. Rešava dostupnost i čitanje — ne i kapacitet ili pisanje.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5100" y="1851660"/>
            <a:ext cx="5280660" cy="3497580"/>
            <a:chOff x="0" y="0"/>
            <a:chExt cx="7040880" cy="466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08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4498848"/>
                  </a:lnTo>
                  <a:cubicBezTo>
                    <a:pt x="7040880" y="4589780"/>
                    <a:pt x="6967220" y="4663440"/>
                    <a:pt x="6876288" y="4663440"/>
                  </a:cubicBezTo>
                  <a:lnTo>
                    <a:pt x="164592" y="4663440"/>
                  </a:lnTo>
                  <a:cubicBezTo>
                    <a:pt x="73660" y="4663440"/>
                    <a:pt x="0" y="4589780"/>
                    <a:pt x="0" y="449884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0" y="2194560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963613" y="2300173"/>
            <a:ext cx="543154" cy="543154"/>
            <a:chOff x="0" y="0"/>
            <a:chExt cx="724205" cy="724205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24154" cy="724154"/>
            </a:xfrm>
            <a:custGeom>
              <a:avLst/>
              <a:gdLst/>
              <a:ahLst/>
              <a:cxnLst/>
              <a:rect r="r" b="b" t="t" l="l"/>
              <a:pathLst>
                <a:path h="724154" w="724154">
                  <a:moveTo>
                    <a:pt x="0" y="0"/>
                  </a:moveTo>
                  <a:lnTo>
                    <a:pt x="724154" y="0"/>
                  </a:lnTo>
                  <a:lnTo>
                    <a:pt x="724154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7" b="-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818120" y="2235708"/>
            <a:ext cx="3634740" cy="685800"/>
            <a:chOff x="0" y="0"/>
            <a:chExt cx="484632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46320" cy="914400"/>
            </a:xfrm>
            <a:custGeom>
              <a:avLst/>
              <a:gdLst/>
              <a:ahLst/>
              <a:cxnLst/>
              <a:rect r="r" b="b" t="t" l="l"/>
              <a:pathLst>
                <a:path h="9144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Particionisanje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949440" y="3162300"/>
            <a:ext cx="441198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Deli podatke na disjunktne delove. Skalira kapacitet i propusnost pisanja.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207240" y="1851660"/>
            <a:ext cx="5280660" cy="3497580"/>
            <a:chOff x="0" y="0"/>
            <a:chExt cx="7040880" cy="466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408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4498848"/>
                  </a:lnTo>
                  <a:cubicBezTo>
                    <a:pt x="7040880" y="4589780"/>
                    <a:pt x="6967220" y="4663440"/>
                    <a:pt x="6876288" y="4663440"/>
                  </a:cubicBezTo>
                  <a:lnTo>
                    <a:pt x="164592" y="4663440"/>
                  </a:lnTo>
                  <a:cubicBezTo>
                    <a:pt x="73660" y="4663440"/>
                    <a:pt x="0" y="4589780"/>
                    <a:pt x="0" y="449884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550140" y="2194560"/>
            <a:ext cx="754380" cy="754380"/>
            <a:chOff x="0" y="0"/>
            <a:chExt cx="10058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655753" y="2300173"/>
            <a:ext cx="543154" cy="543154"/>
            <a:chOff x="0" y="0"/>
            <a:chExt cx="724205" cy="724205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724154" cy="724154"/>
            </a:xfrm>
            <a:custGeom>
              <a:avLst/>
              <a:gdLst/>
              <a:ahLst/>
              <a:cxnLst/>
              <a:rect r="r" b="b" t="t" l="l"/>
              <a:pathLst>
                <a:path h="724154" w="724154">
                  <a:moveTo>
                    <a:pt x="0" y="0"/>
                  </a:moveTo>
                  <a:lnTo>
                    <a:pt x="724154" y="0"/>
                  </a:lnTo>
                  <a:lnTo>
                    <a:pt x="724154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7" b="-7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510260" y="2235708"/>
            <a:ext cx="3634740" cy="685800"/>
            <a:chOff x="0" y="0"/>
            <a:chExt cx="484632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46320" cy="914400"/>
            </a:xfrm>
            <a:custGeom>
              <a:avLst/>
              <a:gdLst/>
              <a:ahLst/>
              <a:cxnLst/>
              <a:rect r="r" b="b" t="t" l="l"/>
              <a:pathLst>
                <a:path h="9144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8463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Sharding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641580" y="3162300"/>
            <a:ext cx="441198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Particionisanje podignuto na nivo distribuiranog sistema — particije žive na nezavisnim serverima.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22960" y="5692140"/>
            <a:ext cx="16596360" cy="2948940"/>
            <a:chOff x="0" y="0"/>
            <a:chExt cx="22128480" cy="3931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28479" cy="3931920"/>
            </a:xfrm>
            <a:custGeom>
              <a:avLst/>
              <a:gdLst/>
              <a:ahLst/>
              <a:cxnLst/>
              <a:rect r="r" b="b" t="t" l="l"/>
              <a:pathLst>
                <a:path h="393192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3767328"/>
                  </a:lnTo>
                  <a:cubicBezTo>
                    <a:pt x="22128479" y="3858260"/>
                    <a:pt x="22054820" y="3931920"/>
                    <a:pt x="21963887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03020" y="5966460"/>
            <a:ext cx="6858000" cy="548640"/>
            <a:chOff x="0" y="0"/>
            <a:chExt cx="91440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Ključna distinkcija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94460" y="6591300"/>
            <a:ext cx="1545336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Particionisanje </a:t>
            </a:r>
            <a:r>
              <a:rPr lang="en-US" sz="2025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— deljenje tabele na fizičke delove unutar JEDNE instance DBMS-a (bolja organizacija, partition pruning).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Sharding </a:t>
            </a:r>
            <a:r>
              <a:rPr lang="en-US" sz="2025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— raspodela particija preko VIŠE nezavisnih servera, radi skaliranja kapaciteta i propusnosti izvan granica jedne mašine.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7487900" y="9669780"/>
            <a:ext cx="548640" cy="411480"/>
            <a:chOff x="0" y="0"/>
            <a:chExt cx="7315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91540"/>
            <a:chOff x="0" y="0"/>
            <a:chExt cx="2194560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Arhitektura shardovanih sistema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71450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4C5C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Ključ raspodele (shard key)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31720"/>
            <a:ext cx="8229600" cy="3566160"/>
            <a:chOff x="0" y="0"/>
            <a:chExt cx="10972800" cy="4754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t="0" r="-559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4792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Visoka kardinalnost — dovoljno različitih vrednosti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Ravnomerna raspodela — bez „vrućih tačaka”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Usklađenost sa obrascima pristupa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Stabilnost — vrednost se ne menja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64040" y="1714500"/>
            <a:ext cx="8229600" cy="548640"/>
            <a:chOff x="0" y="0"/>
            <a:chExt cx="109728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4C5C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Sloj rutiranja (3 obrasca)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64040" y="2331720"/>
            <a:ext cx="7955280" cy="3017520"/>
            <a:chOff x="0" y="0"/>
            <a:chExt cx="10607040" cy="4023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070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" r="0" b="-13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607040" cy="4061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Rutiranje u aplikaciji — logika u aplikativnom kodu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Posrednički (proxy) sloj — npr. mongos, VTGate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C42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Koordinatorski čvor — npr. Citus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6240780"/>
            <a:ext cx="16596360" cy="2400300"/>
            <a:chOff x="0" y="0"/>
            <a:chExt cx="22128480" cy="3200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79" cy="3200400"/>
            </a:xfrm>
            <a:custGeom>
              <a:avLst/>
              <a:gdLst/>
              <a:ahLst/>
              <a:cxnLst/>
              <a:rect r="r" b="b" t="t" l="l"/>
              <a:pathLst>
                <a:path h="320040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3035808"/>
                  </a:lnTo>
                  <a:cubicBezTo>
                    <a:pt x="22128479" y="3126740"/>
                    <a:pt x="22054820" y="3200400"/>
                    <a:pt x="21963887" y="3200400"/>
                  </a:cubicBezTo>
                  <a:lnTo>
                    <a:pt x="164592" y="3200400"/>
                  </a:lnTo>
                  <a:cubicBezTo>
                    <a:pt x="73660" y="3200400"/>
                    <a:pt x="0" y="3126740"/>
                    <a:pt x="0" y="303580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" y="6652260"/>
            <a:ext cx="822960" cy="822960"/>
            <a:chOff x="0" y="0"/>
            <a:chExt cx="10972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49654" y="6767474"/>
            <a:ext cx="592531" cy="592531"/>
            <a:chOff x="0" y="0"/>
            <a:chExt cx="790042" cy="790042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263140" y="6652260"/>
            <a:ext cx="8229600" cy="548640"/>
            <a:chOff x="0" y="0"/>
            <a:chExt cx="10972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Kolokacija (co-location)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354580" y="7249668"/>
            <a:ext cx="144932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Tabele koje se često spajaju treba shardovati po istom ključu — povezani redovi završe na istom čvoru, pa se spajanja izvršavaju lokalno, bez mrežne komunikacije (npr. tenant_id u multi-tenant sistemima).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7487900" y="9669780"/>
            <a:ext cx="548640" cy="411480"/>
            <a:chOff x="0" y="0"/>
            <a:chExt cx="73152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Strategije horizontalne raspodele podataka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1645920"/>
          <a:ext cx="16573500" cy="6286500"/>
        </p:xfrm>
        <a:graphic>
          <a:graphicData uri="http://schemas.openxmlformats.org/drawingml/2006/table">
            <a:tbl>
              <a:tblPr/>
              <a:tblGrid>
                <a:gridCol w="3565230"/>
                <a:gridCol w="4925572"/>
                <a:gridCol w="4789537"/>
                <a:gridCol w="3293161"/>
              </a:tblGrid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Strategija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Prednost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Nedostatak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Predstavnici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 opsegu (range)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Efikasni opsegovni upiti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Vruće tačke kod monotonih ključeva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Spanner, CockroachDB, HBase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Heširanjem (hash)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Ravnomerna raspodela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Opsegovni upiti pogađaju sve šardove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Citus, MongoDB, YugabyteDB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Konzistentno heširanje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Minimalno premeštanje pri rebalansiranju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Složenija implementacija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Cassandra, DynamoDB, Riak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Preko imenika (directory)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Potpuna fleksibilnost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Dodatni skok; kritična komponenta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Prilagođena rešenja, Vitess (delom)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Geografska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Niska latencija, regulativa (GDPR)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Neravnomerno opterećenje regiona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Spanner, CockroachDB (multi-region)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822960" y="8229600"/>
            <a:ext cx="16596360" cy="685800"/>
            <a:chOff x="0" y="0"/>
            <a:chExt cx="2212848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Sistemi u praksi često kombinuju strategije — npr. Cassandra: heš particioni ključ + sortirane klaster-kolone unutar particije.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87900" y="9669780"/>
            <a:ext cx="548640" cy="411480"/>
            <a:chOff x="0" y="0"/>
            <a:chExt cx="7315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91540"/>
            <a:chOff x="0" y="0"/>
            <a:chExt cx="2194560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1188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Izazovi horizontalne raspodele podataka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851660"/>
            <a:ext cx="8092440" cy="3154680"/>
            <a:chOff x="0" y="0"/>
            <a:chExt cx="10789920" cy="4206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8992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7899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625328" y="0"/>
                  </a:lnTo>
                  <a:cubicBezTo>
                    <a:pt x="10716260" y="0"/>
                    <a:pt x="10789920" y="73660"/>
                    <a:pt x="10789920" y="164592"/>
                  </a:cubicBezTo>
                  <a:lnTo>
                    <a:pt x="10789920" y="4041648"/>
                  </a:lnTo>
                  <a:cubicBezTo>
                    <a:pt x="10789920" y="4132580"/>
                    <a:pt x="10716260" y="4206240"/>
                    <a:pt x="10625328" y="4206240"/>
                  </a:cubicBezTo>
                  <a:lnTo>
                    <a:pt x="164592" y="4206240"/>
                  </a:lnTo>
                  <a:cubicBezTo>
                    <a:pt x="73660" y="4206240"/>
                    <a:pt x="0" y="4132580"/>
                    <a:pt x="0" y="404164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7008" y="2235708"/>
            <a:ext cx="822960" cy="822960"/>
            <a:chOff x="0" y="0"/>
            <a:chExt cx="10972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22222" y="2350922"/>
            <a:ext cx="592531" cy="592531"/>
            <a:chOff x="0" y="0"/>
            <a:chExt cx="790042" cy="79004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63140" y="2194560"/>
            <a:ext cx="6309360" cy="685800"/>
            <a:chOff x="0" y="0"/>
            <a:chExt cx="841248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12480" cy="914400"/>
            </a:xfrm>
            <a:custGeom>
              <a:avLst/>
              <a:gdLst/>
              <a:ahLst/>
              <a:cxnLst/>
              <a:rect r="r" b="b" t="t" l="l"/>
              <a:pathLst>
                <a:path h="9144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4124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Distribuirani upiti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98448" y="3162300"/>
            <a:ext cx="714146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Ciljani upit pogađa jedan šard. Upit bez ključa → scatter-gather na svim šardovima. Cross-shard JOIN zahteva data shuffling.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26880" y="1851660"/>
            <a:ext cx="8092440" cy="3154680"/>
            <a:chOff x="0" y="0"/>
            <a:chExt cx="10789920" cy="4206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992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7899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625328" y="0"/>
                  </a:lnTo>
                  <a:cubicBezTo>
                    <a:pt x="10716260" y="0"/>
                    <a:pt x="10789920" y="73660"/>
                    <a:pt x="10789920" y="164592"/>
                  </a:cubicBezTo>
                  <a:lnTo>
                    <a:pt x="10789920" y="4041648"/>
                  </a:lnTo>
                  <a:cubicBezTo>
                    <a:pt x="10789920" y="4132580"/>
                    <a:pt x="10716260" y="4206240"/>
                    <a:pt x="10625328" y="4206240"/>
                  </a:cubicBezTo>
                  <a:lnTo>
                    <a:pt x="164592" y="4206240"/>
                  </a:lnTo>
                  <a:cubicBezTo>
                    <a:pt x="73660" y="4206240"/>
                    <a:pt x="0" y="4132580"/>
                    <a:pt x="0" y="404164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710928" y="2235708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826142" y="2350922"/>
            <a:ext cx="592531" cy="592531"/>
            <a:chOff x="0" y="0"/>
            <a:chExt cx="790042" cy="79004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767060" y="2194560"/>
            <a:ext cx="6309360" cy="685800"/>
            <a:chOff x="0" y="0"/>
            <a:chExt cx="841248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12480" cy="914400"/>
            </a:xfrm>
            <a:custGeom>
              <a:avLst/>
              <a:gdLst/>
              <a:ahLst/>
              <a:cxnLst/>
              <a:rect r="r" b="b" t="t" l="l"/>
              <a:pathLst>
                <a:path h="9144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4124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Distribuirane transakcije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802368" y="3162300"/>
            <a:ext cx="714146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2PC (two-phase commit) garantuje atomičnost ali unosi dodatne mrežne runde i brave.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2960" y="5417820"/>
            <a:ext cx="8092440" cy="3154680"/>
            <a:chOff x="0" y="0"/>
            <a:chExt cx="10789920" cy="4206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8992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7899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625328" y="0"/>
                  </a:lnTo>
                  <a:cubicBezTo>
                    <a:pt x="10716260" y="0"/>
                    <a:pt x="10789920" y="73660"/>
                    <a:pt x="10789920" y="164592"/>
                  </a:cubicBezTo>
                  <a:lnTo>
                    <a:pt x="10789920" y="4041648"/>
                  </a:lnTo>
                  <a:cubicBezTo>
                    <a:pt x="10789920" y="4132580"/>
                    <a:pt x="10716260" y="4206240"/>
                    <a:pt x="10625328" y="4206240"/>
                  </a:cubicBezTo>
                  <a:lnTo>
                    <a:pt x="164592" y="4206240"/>
                  </a:lnTo>
                  <a:cubicBezTo>
                    <a:pt x="73660" y="4206240"/>
                    <a:pt x="0" y="4132580"/>
                    <a:pt x="0" y="404164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07008" y="5801868"/>
            <a:ext cx="822960" cy="822960"/>
            <a:chOff x="0" y="0"/>
            <a:chExt cx="109728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22222" y="5917082"/>
            <a:ext cx="592531" cy="592531"/>
            <a:chOff x="0" y="0"/>
            <a:chExt cx="790042" cy="790042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263140" y="5760720"/>
            <a:ext cx="6309360" cy="685800"/>
            <a:chOff x="0" y="0"/>
            <a:chExt cx="841248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12480" cy="914400"/>
            </a:xfrm>
            <a:custGeom>
              <a:avLst/>
              <a:gdLst/>
              <a:ahLst/>
              <a:cxnLst/>
              <a:rect r="r" b="b" t="t" l="l"/>
              <a:pathLst>
                <a:path h="9144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84124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 teorema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98448" y="6728460"/>
            <a:ext cx="714146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U prisustvu particije mreže, sistem bira između konzistentnosti (C) i dostupnosti (A).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26880" y="5417820"/>
            <a:ext cx="8092440" cy="3154680"/>
            <a:chOff x="0" y="0"/>
            <a:chExt cx="10789920" cy="4206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8992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7899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625328" y="0"/>
                  </a:lnTo>
                  <a:cubicBezTo>
                    <a:pt x="10716260" y="0"/>
                    <a:pt x="10789920" y="73660"/>
                    <a:pt x="10789920" y="164592"/>
                  </a:cubicBezTo>
                  <a:lnTo>
                    <a:pt x="10789920" y="4041648"/>
                  </a:lnTo>
                  <a:cubicBezTo>
                    <a:pt x="10789920" y="4132580"/>
                    <a:pt x="10716260" y="4206240"/>
                    <a:pt x="10625328" y="4206240"/>
                  </a:cubicBezTo>
                  <a:lnTo>
                    <a:pt x="164592" y="4206240"/>
                  </a:lnTo>
                  <a:cubicBezTo>
                    <a:pt x="73660" y="4206240"/>
                    <a:pt x="0" y="4132580"/>
                    <a:pt x="0" y="4041648"/>
                  </a:cubicBezTo>
                  <a:close/>
                </a:path>
              </a:pathLst>
            </a:custGeom>
            <a:solidFill>
              <a:srgbClr val="F6F7F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710928" y="5801868"/>
            <a:ext cx="822960" cy="822960"/>
            <a:chOff x="0" y="0"/>
            <a:chExt cx="10972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26142" y="5917082"/>
            <a:ext cx="592531" cy="592531"/>
            <a:chOff x="0" y="0"/>
            <a:chExt cx="790042" cy="790042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767060" y="5760720"/>
            <a:ext cx="6309360" cy="685800"/>
            <a:chOff x="0" y="0"/>
            <a:chExt cx="841248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412480" cy="914400"/>
            </a:xfrm>
            <a:custGeom>
              <a:avLst/>
              <a:gdLst/>
              <a:ahLst/>
              <a:cxnLst/>
              <a:rect r="r" b="b" t="t" l="l"/>
              <a:pathLst>
                <a:path h="9144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841248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Globalna jedinstvenost ID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802368" y="6728460"/>
            <a:ext cx="714146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257"/>
                </a:solidFill>
                <a:latin typeface="Calibri (MS)"/>
                <a:ea typeface="Calibri (MS)"/>
                <a:cs typeface="Calibri (MS)"/>
                <a:sym typeface="Calibri (MS)"/>
              </a:rPr>
              <a:t>Auto-increment ne radi preko čvorova — rešenja: UUID, kompozitni ključevi, Snowflake ID.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7487900" y="9669780"/>
            <a:ext cx="548640" cy="411480"/>
            <a:chOff x="0" y="0"/>
            <a:chExt cx="73152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459200" cy="891540"/>
            <a:chOff x="0" y="0"/>
            <a:chExt cx="2194560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Rebalansiranje i operativna složenost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851660"/>
            <a:ext cx="8229600" cy="548640"/>
            <a:chOff x="0" y="0"/>
            <a:chExt cx="10972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Rebalansiranje / resharding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092440" cy="4389120"/>
            <a:chOff x="0" y="0"/>
            <a:chExt cx="10789920" cy="5852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588" t="0" r="-1958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789920" cy="589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Premestiti minimalnu količinu podataka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 ostaje dostupan (online rebalancing)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Kontrolisano opterećenje premeštanja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Promena ključa raspodele je najskuplja operacija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64040" y="1851660"/>
            <a:ext cx="8229600" cy="548640"/>
            <a:chOff x="0" y="0"/>
            <a:chExt cx="109728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FFC8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Operativni teret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64040" y="2537460"/>
            <a:ext cx="7955280" cy="4389120"/>
            <a:chOff x="0" y="0"/>
            <a:chExt cx="10607040" cy="5852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0704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788" t="0" r="-2078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607040" cy="5890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Rezervne kopije preko više čvorova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Koordinisane migracije šeme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Nadzor ravnomernosti raspodele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Složenije testiranje i razvoj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7200900"/>
            <a:ext cx="16596360" cy="1851660"/>
            <a:chOff x="0" y="0"/>
            <a:chExt cx="22128480" cy="2468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79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304288"/>
                  </a:lnTo>
                  <a:cubicBezTo>
                    <a:pt x="22128479" y="2395220"/>
                    <a:pt x="22054820" y="2468880"/>
                    <a:pt x="21963887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141A4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" y="7543800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C85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40053" y="7649413"/>
            <a:ext cx="543154" cy="543154"/>
            <a:chOff x="0" y="0"/>
            <a:chExt cx="724205" cy="724205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724154" cy="724154"/>
            </a:xfrm>
            <a:custGeom>
              <a:avLst/>
              <a:gdLst/>
              <a:ahLst/>
              <a:cxnLst/>
              <a:rect r="r" b="b" t="t" l="l"/>
              <a:pathLst>
                <a:path h="724154" w="724154">
                  <a:moveTo>
                    <a:pt x="0" y="0"/>
                  </a:moveTo>
                  <a:lnTo>
                    <a:pt x="724154" y="0"/>
                  </a:lnTo>
                  <a:lnTo>
                    <a:pt x="724154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7" b="-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194560" y="7543800"/>
            <a:ext cx="14950440" cy="1234440"/>
            <a:chOff x="0" y="0"/>
            <a:chExt cx="19933920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33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85" r="0" b="-18598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93392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Preporuka: sharding uvoditi tek kada su iscrpljene jednostavnije opcije — optimizacija upita, vertikalno skaliranje, keširanje, replike za čitanje.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487900" y="9669780"/>
            <a:ext cx="548640" cy="411480"/>
            <a:chOff x="0" y="0"/>
            <a:chExt cx="73152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Sharding u savremenim DBMS sistemima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1645920"/>
          <a:ext cx="16554450" cy="6286500"/>
        </p:xfrm>
        <a:graphic>
          <a:graphicData uri="http://schemas.openxmlformats.org/drawingml/2006/table">
            <a:tbl>
              <a:tblPr/>
              <a:tblGrid>
                <a:gridCol w="3968765"/>
                <a:gridCol w="3697010"/>
                <a:gridCol w="4512277"/>
                <a:gridCol w="4376399"/>
              </a:tblGrid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Strategija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Transakcije preko šardova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MongoDB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Dokument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Opseg ili heš (chunks)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 (od v4.2, 2PC)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Cassandra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Wide-column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Konzistentno heširanje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 (eventual consistency)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Vitess / MySQL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Relacioni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Heš / opseg (VSchema)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Ograničeno (2PC opciono)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Citus / PostgreSQL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Relacioni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Heš; referentne tabele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 (2PC)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Spanner / CockroachDB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Relacioni (NewSQL)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Dinamički opsezi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 (Paxos/Raft)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822960" y="8229600"/>
            <a:ext cx="16596360" cy="685800"/>
            <a:chOff x="0" y="0"/>
            <a:chExt cx="2212848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Jasna evolutivna putanja: od ručno shardovanih relacionih baza, preko NoSQL sistema, do NewSQL rešenja sa transparentnim shardingom.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87900" y="9669780"/>
            <a:ext cx="548640" cy="411480"/>
            <a:chOff x="0" y="0"/>
            <a:chExt cx="7315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459200" cy="960120"/>
            <a:chOff x="0" y="0"/>
            <a:chExt cx="219456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Tri koraka — od jedne instance do klastera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606040"/>
            <a:ext cx="5074920" cy="6035040"/>
            <a:chOff x="0" y="0"/>
            <a:chExt cx="6766560" cy="8046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66560" cy="8046720"/>
            </a:xfrm>
            <a:custGeom>
              <a:avLst/>
              <a:gdLst/>
              <a:ahLst/>
              <a:cxnLst/>
              <a:rect r="r" b="b" t="t" l="l"/>
              <a:pathLst>
                <a:path h="8046720" w="6766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583680" y="0"/>
                  </a:lnTo>
                  <a:cubicBezTo>
                    <a:pt x="6684645" y="0"/>
                    <a:pt x="6766560" y="81915"/>
                    <a:pt x="6766560" y="182880"/>
                  </a:cubicBezTo>
                  <a:lnTo>
                    <a:pt x="6766560" y="7863840"/>
                  </a:lnTo>
                  <a:cubicBezTo>
                    <a:pt x="6766560" y="7964805"/>
                    <a:pt x="6684645" y="8046720"/>
                    <a:pt x="6583680" y="8046720"/>
                  </a:cubicBezTo>
                  <a:lnTo>
                    <a:pt x="182880" y="8046720"/>
                  </a:lnTo>
                  <a:cubicBezTo>
                    <a:pt x="81915" y="8046720"/>
                    <a:pt x="0" y="7964805"/>
                    <a:pt x="0" y="78638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71600" y="2948940"/>
            <a:ext cx="2057400" cy="1097280"/>
            <a:chOff x="0" y="0"/>
            <a:chExt cx="27432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4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743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C729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63440" y="301752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97857" y="3151937"/>
            <a:ext cx="691286" cy="691286"/>
            <a:chOff x="0" y="0"/>
            <a:chExt cx="921715" cy="921715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5" b="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4320540"/>
            <a:ext cx="4251960" cy="1234440"/>
            <a:chOff x="0" y="0"/>
            <a:chExt cx="5669280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92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15" r="0" b="-171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6692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Deklarativno particionisanje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3040" y="5553075"/>
            <a:ext cx="4069080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Jedna PostgreSQL instanca, 4 heš particije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62075" y="7465695"/>
            <a:ext cx="4271010" cy="19050"/>
            <a:chOff x="0" y="0"/>
            <a:chExt cx="5694680" cy="25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94680" cy="25400"/>
            </a:xfrm>
            <a:custGeom>
              <a:avLst/>
              <a:gdLst/>
              <a:ahLst/>
              <a:cxnLst/>
              <a:rect r="r" b="b" t="t" l="l"/>
              <a:pathLst>
                <a:path h="25400" w="5694680">
                  <a:moveTo>
                    <a:pt x="0" y="0"/>
                  </a:moveTo>
                  <a:lnTo>
                    <a:pt x="569468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318545" r="0" b="-4318545"/>
              </a:stretch>
            </a:blip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71600" y="7612380"/>
            <a:ext cx="4251960" cy="685800"/>
            <a:chOff x="0" y="0"/>
            <a:chExt cx="566928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6692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1.000.000 redova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99632" y="5417820"/>
            <a:ext cx="411480" cy="411480"/>
            <a:chOff x="0" y="0"/>
            <a:chExt cx="54864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720840" y="2606040"/>
            <a:ext cx="5074920" cy="6035040"/>
            <a:chOff x="0" y="0"/>
            <a:chExt cx="6766560" cy="8046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66560" cy="8046720"/>
            </a:xfrm>
            <a:custGeom>
              <a:avLst/>
              <a:gdLst/>
              <a:ahLst/>
              <a:cxnLst/>
              <a:rect r="r" b="b" t="t" l="l"/>
              <a:pathLst>
                <a:path h="8046720" w="6766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583680" y="0"/>
                  </a:lnTo>
                  <a:cubicBezTo>
                    <a:pt x="6684645" y="0"/>
                    <a:pt x="6766560" y="81915"/>
                    <a:pt x="6766560" y="182880"/>
                  </a:cubicBezTo>
                  <a:lnTo>
                    <a:pt x="6766560" y="7863840"/>
                  </a:lnTo>
                  <a:cubicBezTo>
                    <a:pt x="6766560" y="7964805"/>
                    <a:pt x="6684645" y="8046720"/>
                    <a:pt x="6583680" y="8046720"/>
                  </a:cubicBezTo>
                  <a:lnTo>
                    <a:pt x="182880" y="8046720"/>
                  </a:lnTo>
                  <a:cubicBezTo>
                    <a:pt x="81915" y="8046720"/>
                    <a:pt x="0" y="7964805"/>
                    <a:pt x="0" y="78638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132320" y="2948940"/>
            <a:ext cx="2057400" cy="1097280"/>
            <a:chOff x="0" y="0"/>
            <a:chExt cx="274320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4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743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C729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424160" y="3017520"/>
            <a:ext cx="960120" cy="960120"/>
            <a:chOff x="0" y="0"/>
            <a:chExt cx="128016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558577" y="3151937"/>
            <a:ext cx="691286" cy="691286"/>
            <a:chOff x="0" y="0"/>
            <a:chExt cx="921715" cy="921715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5" b="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132320" y="4320540"/>
            <a:ext cx="4251960" cy="1234440"/>
            <a:chOff x="0" y="0"/>
            <a:chExt cx="566928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692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15" r="0" b="-1711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6692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postgres_fdw (2 servera)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223760" y="5553075"/>
            <a:ext cx="4069080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Particije kao strane tabele na udaljenim serverima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122795" y="7465695"/>
            <a:ext cx="4271010" cy="19050"/>
            <a:chOff x="0" y="0"/>
            <a:chExt cx="5694680" cy="25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94680" cy="25400"/>
            </a:xfrm>
            <a:custGeom>
              <a:avLst/>
              <a:gdLst/>
              <a:ahLst/>
              <a:cxnLst/>
              <a:rect r="r" b="b" t="t" l="l"/>
              <a:pathLst>
                <a:path h="25400" w="5694680">
                  <a:moveTo>
                    <a:pt x="0" y="0"/>
                  </a:moveTo>
                  <a:lnTo>
                    <a:pt x="569468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318545" r="0" b="-4318545"/>
              </a:stretch>
            </a:blip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132320" y="7612380"/>
            <a:ext cx="4251960" cy="685800"/>
            <a:chOff x="0" y="0"/>
            <a:chExt cx="566928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6692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1.000.000 redova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960352" y="5417820"/>
            <a:ext cx="411480" cy="411480"/>
            <a:chOff x="0" y="0"/>
            <a:chExt cx="54864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481560" y="2606040"/>
            <a:ext cx="5074920" cy="6035040"/>
            <a:chOff x="0" y="0"/>
            <a:chExt cx="6766560" cy="8046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766560" cy="8046720"/>
            </a:xfrm>
            <a:custGeom>
              <a:avLst/>
              <a:gdLst/>
              <a:ahLst/>
              <a:cxnLst/>
              <a:rect r="r" b="b" t="t" l="l"/>
              <a:pathLst>
                <a:path h="8046720" w="6766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583680" y="0"/>
                  </a:lnTo>
                  <a:cubicBezTo>
                    <a:pt x="6684645" y="0"/>
                    <a:pt x="6766560" y="81915"/>
                    <a:pt x="6766560" y="182880"/>
                  </a:cubicBezTo>
                  <a:lnTo>
                    <a:pt x="6766560" y="7863840"/>
                  </a:lnTo>
                  <a:cubicBezTo>
                    <a:pt x="6766560" y="7964805"/>
                    <a:pt x="6684645" y="8046720"/>
                    <a:pt x="6583680" y="8046720"/>
                  </a:cubicBezTo>
                  <a:lnTo>
                    <a:pt x="182880" y="8046720"/>
                  </a:lnTo>
                  <a:cubicBezTo>
                    <a:pt x="81915" y="8046720"/>
                    <a:pt x="0" y="7964805"/>
                    <a:pt x="0" y="78638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893040" y="2948940"/>
            <a:ext cx="2057400" cy="1097280"/>
            <a:chOff x="0" y="0"/>
            <a:chExt cx="274320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4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743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C729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184880" y="3017520"/>
            <a:ext cx="960120" cy="960120"/>
            <a:chOff x="0" y="0"/>
            <a:chExt cx="1280160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319297" y="3151937"/>
            <a:ext cx="691286" cy="691286"/>
            <a:chOff x="0" y="0"/>
            <a:chExt cx="921715" cy="921715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5" b="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893040" y="4320540"/>
            <a:ext cx="4251960" cy="1234440"/>
            <a:chOff x="0" y="0"/>
            <a:chExt cx="5669280" cy="16459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692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15" r="0" b="-1711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56692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Citus klaster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984480" y="5553075"/>
            <a:ext cx="4069080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Koordinator + 2 radna čvora, 32 šarda po tabeli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883515" y="7465695"/>
            <a:ext cx="4271010" cy="19050"/>
            <a:chOff x="0" y="0"/>
            <a:chExt cx="5694680" cy="2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694680" cy="25400"/>
            </a:xfrm>
            <a:custGeom>
              <a:avLst/>
              <a:gdLst/>
              <a:ahLst/>
              <a:cxnLst/>
              <a:rect r="r" b="b" t="t" l="l"/>
              <a:pathLst>
                <a:path h="25400" w="5694680">
                  <a:moveTo>
                    <a:pt x="0" y="0"/>
                  </a:moveTo>
                  <a:lnTo>
                    <a:pt x="569468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318545" r="0" b="-4318545"/>
              </a:stretch>
            </a:blip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893040" y="7612380"/>
            <a:ext cx="4251960" cy="685800"/>
            <a:chOff x="0" y="0"/>
            <a:chExt cx="566928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56692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10.000.000 redova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91540"/>
            <a:chOff x="0" y="0"/>
            <a:chExt cx="2194560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Korak 1 — particionisanje unutar jedne instance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548640"/>
            <a:ext cx="891540" cy="891540"/>
            <a:chOff x="0" y="0"/>
            <a:chExt cx="1188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35376" y="673456"/>
            <a:ext cx="641909" cy="641909"/>
            <a:chOff x="0" y="0"/>
            <a:chExt cx="855878" cy="85587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1714500"/>
            <a:ext cx="8229600" cy="548640"/>
            <a:chOff x="0" y="0"/>
            <a:chExt cx="109728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Postavka eksperimenta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331720"/>
            <a:ext cx="8641080" cy="4389120"/>
            <a:chOff x="0" y="0"/>
            <a:chExt cx="11521440" cy="5852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2144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170" t="0" r="-1517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521440" cy="5899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Obična tabela porudzbina_obicna — 1.000.000 redova, bez particija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Particionisana tabela porudzbina — PARTITION BY HASH (kupac_id)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particije (p0–p3), MODULUS 4, isti broj redova (1.000.000)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 tipa upita: ciljani (kupac_id=42), bez ključa (status='NOVA'), globalna agregacija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12680" y="1714500"/>
            <a:ext cx="7406640" cy="6035040"/>
            <a:chOff x="0" y="0"/>
            <a:chExt cx="9875520" cy="8046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55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9875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729216" y="0"/>
                  </a:lnTo>
                  <a:cubicBezTo>
                    <a:pt x="9809988" y="0"/>
                    <a:pt x="9875520" y="65532"/>
                    <a:pt x="9875520" y="146304"/>
                  </a:cubicBezTo>
                  <a:lnTo>
                    <a:pt x="9875520" y="7900416"/>
                  </a:lnTo>
                  <a:cubicBezTo>
                    <a:pt x="9875520" y="7981188"/>
                    <a:pt x="9809988" y="8046720"/>
                    <a:pt x="9729216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515600" y="2162175"/>
            <a:ext cx="6537960" cy="526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porudzbina (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id bigint, kupac_id bigint,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datum timestamptz, iznos numeric,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...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) PARTITION BY HASH (kupac_id);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porudzbina_p0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PARTITION OF porudzbina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  FOR VALUES WITH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  (MODULUS 4, REMAINDER 0);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12680" y="8023860"/>
            <a:ext cx="7406640" cy="548640"/>
            <a:chOff x="0" y="0"/>
            <a:chExt cx="98755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875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4 particije ukupno: p0, p1, p2, p3 (MODULUS 4, REMAINDER 0-3)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Korak 1 — rezultati merenja (EXPLAIN ANALYZE)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1714500"/>
          <a:ext cx="16516350" cy="3505200"/>
        </p:xfrm>
        <a:graphic>
          <a:graphicData uri="http://schemas.openxmlformats.org/drawingml/2006/table">
            <a:tbl>
              <a:tblPr/>
              <a:tblGrid>
                <a:gridCol w="4505590"/>
                <a:gridCol w="4003587"/>
                <a:gridCol w="4003587"/>
                <a:gridCol w="4003587"/>
              </a:tblGrid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Upit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Obična tabela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Particionisana (4)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Efekat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Ciljani upit</a:t>
                      </a:r>
                      <a:endParaRPr lang="en-US" sz="1100"/>
                    </a:p>
                    <a:p>
                      <a:pPr algn="l">
                        <a:lnSpc>
                          <a:spcPts val="2250"/>
                        </a:lnSpc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(kupac_id = 42)</a:t>
                      </a:r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104,5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0B7A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38,4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0B7A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≈2,7x brže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Bez ključa</a:t>
                      </a:r>
                      <a:endParaRPr lang="en-US" sz="1100"/>
                    </a:p>
                    <a:p>
                      <a:pPr algn="l">
                        <a:lnSpc>
                          <a:spcPts val="2250"/>
                        </a:lnSpc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(status = 'NOVA')</a:t>
                      </a:r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144,5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E4572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236,9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E4572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sporije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Globalna agregacija</a:t>
                      </a:r>
                      <a:endParaRPr lang="en-US" sz="1100"/>
                    </a:p>
                    <a:p>
                      <a:pPr algn="l">
                        <a:lnSpc>
                          <a:spcPts val="2250"/>
                        </a:lnSpc>
                      </a:pPr>
                      <a:r>
                        <a:rPr lang="en-US" sz="187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(sum nad celom tabelom)</a:t>
                      </a:r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129,8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E4572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139,8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E4572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malo sporije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822960" y="5760720"/>
            <a:ext cx="822960" cy="822960"/>
            <a:chOff x="0" y="0"/>
            <a:chExt cx="109728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8174" y="5875934"/>
            <a:ext cx="592531" cy="592531"/>
            <a:chOff x="0" y="0"/>
            <a:chExt cx="790042" cy="79004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6858000"/>
            <a:ext cx="16596360" cy="2606040"/>
            <a:chOff x="0" y="0"/>
            <a:chExt cx="22128480" cy="347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2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3328416"/>
                  </a:lnTo>
                  <a:cubicBezTo>
                    <a:pt x="22128480" y="3409188"/>
                    <a:pt x="22062948" y="3474720"/>
                    <a:pt x="219821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7063740"/>
            <a:ext cx="5486400" cy="480060"/>
            <a:chOff x="0" y="0"/>
            <a:chExt cx="731520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3152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Zaključak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94460" y="7551420"/>
            <a:ext cx="1545336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D4B5C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Particionisanje unutar jedne instance NIJE opšte ubrzanje čitanja. Pošto sve particije dele isti disk i CPU, ono pomaže isključivo ciljanim upitima (eliminacija particija). Upiti bez ključa raspodele su čak sporiji zbog režijskog troška paralelnog obilaska svih particija.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91540"/>
            <a:chOff x="0" y="0"/>
            <a:chExt cx="2194560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1188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Korak 2 — sharding preko mreže (postgres_fdw)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548640"/>
            <a:ext cx="891540" cy="891540"/>
            <a:chOff x="0" y="0"/>
            <a:chExt cx="1188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35376" y="673456"/>
            <a:ext cx="641909" cy="641909"/>
            <a:chOff x="0" y="0"/>
            <a:chExt cx="855878" cy="85587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063740" y="2606040"/>
            <a:ext cx="4114800" cy="1440180"/>
            <a:chOff x="0" y="0"/>
            <a:chExt cx="5486400" cy="1920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1773936"/>
                  </a:lnTo>
                  <a:cubicBezTo>
                    <a:pt x="5486400" y="1854708"/>
                    <a:pt x="5420868" y="1920240"/>
                    <a:pt x="534009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063740" y="2770632"/>
            <a:ext cx="4114800" cy="548640"/>
            <a:chOff x="0" y="0"/>
            <a:chExt cx="54864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486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Koordinator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63740" y="3360420"/>
            <a:ext cx="4114800" cy="548640"/>
            <a:chOff x="0" y="0"/>
            <a:chExt cx="54864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486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particionisana tabela porudzbina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21091" y="4029551"/>
            <a:ext cx="2845117" cy="1199198"/>
            <a:chOff x="0" y="0"/>
            <a:chExt cx="3793490" cy="15989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93490" cy="1598930"/>
            </a:xfrm>
            <a:custGeom>
              <a:avLst/>
              <a:gdLst/>
              <a:ahLst/>
              <a:cxnLst/>
              <a:rect r="r" b="b" t="t" l="l"/>
              <a:pathLst>
                <a:path h="1598930" w="3793490">
                  <a:moveTo>
                    <a:pt x="0" y="0"/>
                  </a:moveTo>
                  <a:lnTo>
                    <a:pt x="3793490" y="159893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4079" t="0" r="-4079" b="0"/>
              </a:stretch>
            </a:blipFill>
            <a:ln w="33338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161871" y="4029551"/>
            <a:ext cx="2776538" cy="1199198"/>
            <a:chOff x="0" y="0"/>
            <a:chExt cx="3702050" cy="15989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02050" cy="1598930"/>
            </a:xfrm>
            <a:custGeom>
              <a:avLst/>
              <a:gdLst/>
              <a:ahLst/>
              <a:cxnLst/>
              <a:rect r="r" b="b" t="t" l="l"/>
              <a:pathLst>
                <a:path h="1598930" w="3702050">
                  <a:moveTo>
                    <a:pt x="0" y="0"/>
                  </a:moveTo>
                  <a:lnTo>
                    <a:pt x="3702050" y="159893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5414" t="0" r="-5414" b="0"/>
              </a:stretch>
            </a:blipFill>
            <a:ln w="33338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194560" y="5280660"/>
            <a:ext cx="3566160" cy="1371600"/>
            <a:chOff x="0" y="0"/>
            <a:chExt cx="475488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1682496"/>
                  </a:lnTo>
                  <a:cubicBezTo>
                    <a:pt x="4754880" y="1763268"/>
                    <a:pt x="4689348" y="1828800"/>
                    <a:pt x="460857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194560" y="5417820"/>
            <a:ext cx="3566160" cy="480060"/>
            <a:chOff x="0" y="0"/>
            <a:chExt cx="475488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shard1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194560" y="5966460"/>
            <a:ext cx="3566160" cy="480060"/>
            <a:chOff x="0" y="0"/>
            <a:chExt cx="475488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MODULUS 2, REM 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75820" y="5280660"/>
            <a:ext cx="3566160" cy="1371600"/>
            <a:chOff x="0" y="0"/>
            <a:chExt cx="475488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1682496"/>
                  </a:lnTo>
                  <a:cubicBezTo>
                    <a:pt x="4754880" y="1763268"/>
                    <a:pt x="4689348" y="1828800"/>
                    <a:pt x="460857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275820" y="5417820"/>
            <a:ext cx="3566160" cy="480060"/>
            <a:chOff x="0" y="0"/>
            <a:chExt cx="475488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shard2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75820" y="5966460"/>
            <a:ext cx="3566160" cy="480060"/>
            <a:chOff x="0" y="0"/>
            <a:chExt cx="475488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MODULUS 2, REM 1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14400" y="6934200"/>
            <a:ext cx="16413480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3D4B5C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Particije roditeljske tabele su FOREIGN TABLE, koje pokazuju na fizičke tabele na dva udaljena servera (postgres_fdw).</a:t>
            </a:r>
          </a:p>
          <a:p>
            <a:pPr algn="l" marL="366474" indent="-183237" lvl="1">
              <a:lnSpc>
                <a:spcPts val="2430"/>
              </a:lnSpc>
            </a:pPr>
            <a:r>
              <a:rPr lang="en-US" sz="2025">
                <a:solidFill>
                  <a:srgbClr val="3D4B5C"/>
                </a:solidFill>
                <a:latin typeface="Calibri (MS)"/>
                <a:ea typeface="Calibri (MS)"/>
                <a:cs typeface="Calibri (MS)"/>
                <a:sym typeface="Calibri (MS)"/>
              </a:rPr>
              <a:t>Heš raspodela po kupac_id (MODULUS 2) — svaki server nezavisno čuva ~pola podataka.</a:t>
            </a:r>
          </a:p>
          <a:p>
            <a:pPr algn="l" marL="366474" indent="-183237" lvl="1">
              <a:lnSpc>
                <a:spcPts val="2430"/>
              </a:lnSpc>
            </a:pPr>
            <a:r>
              <a:rPr lang="en-US" sz="2025">
                <a:solidFill>
                  <a:srgbClr val="3D4B5C"/>
                </a:solidFill>
                <a:latin typeface="Calibri (MS)"/>
                <a:ea typeface="Calibri (MS)"/>
                <a:cs typeface="Calibri (MS)"/>
                <a:sym typeface="Calibri (MS)"/>
              </a:rPr>
              <a:t>Aplikacija i dalje radi samo sa jednom logičkom tabelom porudzbina na koordinatoru.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Korak 2 — cena mreže: rezultati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851660"/>
            <a:ext cx="5280660" cy="2674620"/>
            <a:chOff x="0" y="0"/>
            <a:chExt cx="7040880" cy="3566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08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401568"/>
                  </a:lnTo>
                  <a:cubicBezTo>
                    <a:pt x="7040880" y="3492500"/>
                    <a:pt x="6967220" y="3566160"/>
                    <a:pt x="6876288" y="3566160"/>
                  </a:cubicBezTo>
                  <a:lnTo>
                    <a:pt x="164592" y="3566160"/>
                  </a:lnTo>
                  <a:cubicBezTo>
                    <a:pt x="73660" y="3566160"/>
                    <a:pt x="0" y="3492500"/>
                    <a:pt x="0" y="3401568"/>
                  </a:cubicBez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125980"/>
            <a:ext cx="4732020" cy="1165860"/>
            <a:chOff x="0" y="0"/>
            <a:chExt cx="6309360" cy="15544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09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630936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499.971 : 500.029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3291840"/>
            <a:ext cx="4732020" cy="1097280"/>
            <a:chOff x="0" y="0"/>
            <a:chExt cx="630936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09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9" r="0" b="-34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093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raspodela redova shard1 : shard2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(razlika 0,006%)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15100" y="1851660"/>
            <a:ext cx="5280660" cy="2674620"/>
            <a:chOff x="0" y="0"/>
            <a:chExt cx="7040880" cy="3566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08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401568"/>
                  </a:lnTo>
                  <a:cubicBezTo>
                    <a:pt x="7040880" y="3492500"/>
                    <a:pt x="6967220" y="3566160"/>
                    <a:pt x="6876288" y="3566160"/>
                  </a:cubicBezTo>
                  <a:lnTo>
                    <a:pt x="164592" y="3566160"/>
                  </a:lnTo>
                  <a:cubicBezTo>
                    <a:pt x="73660" y="3566160"/>
                    <a:pt x="0" y="3492500"/>
                    <a:pt x="0" y="3401568"/>
                  </a:cubicBez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89420" y="2125980"/>
            <a:ext cx="4732020" cy="1165860"/>
            <a:chOff x="0" y="0"/>
            <a:chExt cx="6309360" cy="1554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09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630936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26,1 ms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89420" y="3291840"/>
            <a:ext cx="4732020" cy="1097280"/>
            <a:chOff x="0" y="0"/>
            <a:chExt cx="630936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09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9" r="0" b="-340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3093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ciljani upit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(kupac_id = 42)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07240" y="1851660"/>
            <a:ext cx="5280660" cy="2674620"/>
            <a:chOff x="0" y="0"/>
            <a:chExt cx="7040880" cy="3566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08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401568"/>
                  </a:lnTo>
                  <a:cubicBezTo>
                    <a:pt x="7040880" y="3492500"/>
                    <a:pt x="6967220" y="3566160"/>
                    <a:pt x="6876288" y="3566160"/>
                  </a:cubicBezTo>
                  <a:lnTo>
                    <a:pt x="164592" y="3566160"/>
                  </a:lnTo>
                  <a:cubicBezTo>
                    <a:pt x="73660" y="3566160"/>
                    <a:pt x="0" y="3492500"/>
                    <a:pt x="0" y="3401568"/>
                  </a:cubicBez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81560" y="2125980"/>
            <a:ext cx="4732020" cy="1165860"/>
            <a:chOff x="0" y="0"/>
            <a:chExt cx="6309360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09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630936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E457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1.982 ms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81560" y="3291840"/>
            <a:ext cx="4732020" cy="1097280"/>
            <a:chOff x="0" y="0"/>
            <a:chExt cx="630936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09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9" r="0" b="-340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093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upit bez ključa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(scatter-gather, oba servera)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4937760"/>
            <a:ext cx="16596360" cy="822960"/>
            <a:chOff x="0" y="0"/>
            <a:chExt cx="221284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1284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Vreme umetanja: </a:t>
              </a:r>
              <a:r>
                <a:rPr lang="en-US" sz="2025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min 15 sek za milion redova preko mreže (naspram par sekundi lokalno) — svaki red putuje sa koordinatora do pravog servera.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6172200"/>
            <a:ext cx="822960" cy="822960"/>
            <a:chOff x="0" y="0"/>
            <a:chExt cx="10972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8174" y="6287414"/>
            <a:ext cx="592531" cy="592531"/>
            <a:chOff x="0" y="0"/>
            <a:chExt cx="790042" cy="790042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7269480"/>
            <a:ext cx="16596360" cy="2194560"/>
            <a:chOff x="0" y="0"/>
            <a:chExt cx="22128480" cy="2926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28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779776"/>
                  </a:lnTo>
                  <a:cubicBezTo>
                    <a:pt x="22128480" y="2860548"/>
                    <a:pt x="22062948" y="2926080"/>
                    <a:pt x="2198217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03020" y="7434072"/>
            <a:ext cx="5486400" cy="480060"/>
            <a:chOff x="0" y="0"/>
            <a:chExt cx="731520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73152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Zaključak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94460" y="7925943"/>
            <a:ext cx="15453360" cy="139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postgres_fdw je funkcionalan, ravnomeran sharding (razlika &lt; 0,01%). Cena je vidljiva samo u dva mesta — sporiji upis i veća latencija — i oba potiču isključivo od mrežne komunikacije. Upit bez ključa raspodele je &gt;75x sporiji od ciljanog: direktna potvrda da aplikacija mora znati ključ raspodele.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91540"/>
            <a:chOff x="0" y="0"/>
            <a:chExt cx="2194560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Korak 3 — pravi klaster: Citus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10560" y="548640"/>
            <a:ext cx="891540" cy="891540"/>
            <a:chOff x="0" y="0"/>
            <a:chExt cx="1188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35376" y="673456"/>
            <a:ext cx="641909" cy="641909"/>
            <a:chOff x="0" y="0"/>
            <a:chExt cx="855878" cy="85587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1783080"/>
            <a:ext cx="8229600" cy="548640"/>
            <a:chOff x="0" y="0"/>
            <a:chExt cx="109728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Postavka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400300"/>
            <a:ext cx="8366760" cy="4663440"/>
            <a:chOff x="0" y="0"/>
            <a:chExt cx="11155680" cy="6217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55680" cy="6217920"/>
            </a:xfrm>
            <a:custGeom>
              <a:avLst/>
              <a:gdLst/>
              <a:ahLst/>
              <a:cxnLst/>
              <a:rect r="r" b="b" t="t" l="l"/>
              <a:pathLst>
                <a:path h="62179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6217920"/>
                  </a:lnTo>
                  <a:lnTo>
                    <a:pt x="0" y="621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513" t="0" r="-2151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155680" cy="6256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Compose klaster: master (koordinator) + worker1 + worker2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create_distributed_table('porudzbina', 'kupac_id') — 32 šarda po tabeli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Kolokacija: porudzbina i kupac dele isti ključ → colocate_with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Referentna tabela status_sifra replicirana na oba čvora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100.000 kupaca, 10.000.000 porudžbina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0" y="2194560"/>
            <a:ext cx="3703320" cy="1165860"/>
            <a:chOff x="0" y="0"/>
            <a:chExt cx="4937760" cy="1554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377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937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91456" y="0"/>
                  </a:lnTo>
                  <a:cubicBezTo>
                    <a:pt x="4872228" y="0"/>
                    <a:pt x="4937760" y="65532"/>
                    <a:pt x="4937760" y="146304"/>
                  </a:cubicBezTo>
                  <a:lnTo>
                    <a:pt x="4937760" y="1408176"/>
                  </a:lnTo>
                  <a:cubicBezTo>
                    <a:pt x="4937760" y="1488948"/>
                    <a:pt x="4872228" y="1554480"/>
                    <a:pt x="479145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658600" y="2496312"/>
            <a:ext cx="3703320" cy="617220"/>
            <a:chOff x="0" y="0"/>
            <a:chExt cx="493776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37760" cy="822960"/>
            </a:xfrm>
            <a:custGeom>
              <a:avLst/>
              <a:gdLst/>
              <a:ahLst/>
              <a:cxnLst/>
              <a:rect r="r" b="b" t="t" l="l"/>
              <a:pathLst>
                <a:path h="82296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9377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master (koordinator)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093291" y="3343751"/>
            <a:ext cx="2090738" cy="1267777"/>
            <a:chOff x="0" y="0"/>
            <a:chExt cx="2787650" cy="16903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87650" cy="1690370"/>
            </a:xfrm>
            <a:custGeom>
              <a:avLst/>
              <a:gdLst/>
              <a:ahLst/>
              <a:cxnLst/>
              <a:rect r="r" b="b" t="t" l="l"/>
              <a:pathLst>
                <a:path h="1690370" w="2787650">
                  <a:moveTo>
                    <a:pt x="0" y="0"/>
                  </a:moveTo>
                  <a:lnTo>
                    <a:pt x="2787650" y="16903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7800" t="0" r="-27800" b="0"/>
              </a:stretch>
            </a:blipFill>
            <a:ln w="33338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67911" y="3343751"/>
            <a:ext cx="2090738" cy="1267777"/>
            <a:chOff x="0" y="0"/>
            <a:chExt cx="2787650" cy="16903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87650" cy="1690370"/>
            </a:xfrm>
            <a:custGeom>
              <a:avLst/>
              <a:gdLst/>
              <a:ahLst/>
              <a:cxnLst/>
              <a:rect r="r" b="b" t="t" l="l"/>
              <a:pathLst>
                <a:path h="1690370" w="2787650">
                  <a:moveTo>
                    <a:pt x="0" y="0"/>
                  </a:moveTo>
                  <a:lnTo>
                    <a:pt x="2787650" y="169037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7800" t="0" r="-27800" b="0"/>
              </a:stretch>
            </a:blipFill>
            <a:ln w="33338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875520" y="4800600"/>
            <a:ext cx="3291840" cy="2057400"/>
            <a:chOff x="0" y="0"/>
            <a:chExt cx="4389120" cy="2743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389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242816" y="0"/>
                  </a:lnTo>
                  <a:cubicBezTo>
                    <a:pt x="4323588" y="0"/>
                    <a:pt x="4389120" y="65532"/>
                    <a:pt x="4389120" y="146304"/>
                  </a:cubicBezTo>
                  <a:lnTo>
                    <a:pt x="4389120" y="2596896"/>
                  </a:lnTo>
                  <a:cubicBezTo>
                    <a:pt x="4389120" y="2677668"/>
                    <a:pt x="4323588" y="2743200"/>
                    <a:pt x="42428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75520" y="4965192"/>
            <a:ext cx="3291840" cy="480060"/>
            <a:chOff x="0" y="0"/>
            <a:chExt cx="438912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3891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worker1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75520" y="5554980"/>
            <a:ext cx="3291840" cy="1165860"/>
            <a:chOff x="0" y="0"/>
            <a:chExt cx="438912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6" r="0" b="-501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3891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šardova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441 MB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853160" y="4800600"/>
            <a:ext cx="3291840" cy="2057400"/>
            <a:chOff x="0" y="0"/>
            <a:chExt cx="4389120" cy="2743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389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242816" y="0"/>
                  </a:lnTo>
                  <a:cubicBezTo>
                    <a:pt x="4323588" y="0"/>
                    <a:pt x="4389120" y="65532"/>
                    <a:pt x="4389120" y="146304"/>
                  </a:cubicBezTo>
                  <a:lnTo>
                    <a:pt x="4389120" y="2596896"/>
                  </a:lnTo>
                  <a:cubicBezTo>
                    <a:pt x="4389120" y="2677668"/>
                    <a:pt x="4323588" y="2743200"/>
                    <a:pt x="42428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853160" y="4965192"/>
            <a:ext cx="3291840" cy="480060"/>
            <a:chOff x="0" y="0"/>
            <a:chExt cx="438912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89120" cy="640080"/>
            </a:xfrm>
            <a:custGeom>
              <a:avLst/>
              <a:gdLst/>
              <a:ahLst/>
              <a:cxnLst/>
              <a:rect r="r" b="b" t="t" l="l"/>
              <a:pathLst>
                <a:path h="640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3891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worker2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853160" y="5554980"/>
            <a:ext cx="3291840" cy="1165860"/>
            <a:chOff x="0" y="0"/>
            <a:chExt cx="438912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891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6" r="0" b="-501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3891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šardova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444 MB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7269480"/>
            <a:ext cx="16596360" cy="548640"/>
            <a:chOff x="0" y="0"/>
            <a:chExt cx="2212848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Ravnomerna raspodela: 32 šarda podeljena tačno 16/16 između čvorova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Korak 3 — pravi paralelizam: rezultati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783080"/>
            <a:ext cx="5280660" cy="2537460"/>
            <a:chOff x="0" y="0"/>
            <a:chExt cx="7040880" cy="3383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08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218688"/>
                  </a:lnTo>
                  <a:cubicBezTo>
                    <a:pt x="7040880" y="3309620"/>
                    <a:pt x="6967220" y="3383280"/>
                    <a:pt x="6876288" y="3383280"/>
                  </a:cubicBezTo>
                  <a:lnTo>
                    <a:pt x="164592" y="3383280"/>
                  </a:lnTo>
                  <a:cubicBezTo>
                    <a:pt x="73660" y="3383280"/>
                    <a:pt x="0" y="3309620"/>
                    <a:pt x="0" y="3218688"/>
                  </a:cubicBez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029968"/>
            <a:ext cx="4732020" cy="1097280"/>
            <a:chOff x="0" y="0"/>
            <a:chExt cx="630936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09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9" r="0" b="-3402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630936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21,35 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3154680"/>
            <a:ext cx="4732020" cy="1097280"/>
            <a:chOff x="0" y="0"/>
            <a:chExt cx="630936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09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9" r="0" b="-34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093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JOIN kupac + porudzbina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(kolokacija, lokalno spajanje)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15100" y="1783080"/>
            <a:ext cx="5280660" cy="2537460"/>
            <a:chOff x="0" y="0"/>
            <a:chExt cx="7040880" cy="3383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08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218688"/>
                  </a:lnTo>
                  <a:cubicBezTo>
                    <a:pt x="7040880" y="3309620"/>
                    <a:pt x="6967220" y="3383280"/>
                    <a:pt x="6876288" y="3383280"/>
                  </a:cubicBezTo>
                  <a:lnTo>
                    <a:pt x="164592" y="3383280"/>
                  </a:lnTo>
                  <a:cubicBezTo>
                    <a:pt x="73660" y="3383280"/>
                    <a:pt x="0" y="3309620"/>
                    <a:pt x="0" y="3218688"/>
                  </a:cubicBez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89420" y="2029968"/>
            <a:ext cx="4732020" cy="1097280"/>
            <a:chOff x="0" y="0"/>
            <a:chExt cx="630936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09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9" r="0" b="-3402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30936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 / 16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89420" y="3154680"/>
            <a:ext cx="4732020" cy="1097280"/>
            <a:chOff x="0" y="0"/>
            <a:chExt cx="630936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09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9" r="0" b="-340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3093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šardova po čvoru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(worker1 / worker2)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07240" y="1783080"/>
            <a:ext cx="5280660" cy="2537460"/>
            <a:chOff x="0" y="0"/>
            <a:chExt cx="7040880" cy="3383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0880" cy="3383280"/>
            </a:xfrm>
            <a:custGeom>
              <a:avLst/>
              <a:gdLst/>
              <a:ahLst/>
              <a:cxnLst/>
              <a:rect r="r" b="b" t="t" l="l"/>
              <a:pathLst>
                <a:path h="338328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218688"/>
                  </a:lnTo>
                  <a:cubicBezTo>
                    <a:pt x="7040880" y="3309620"/>
                    <a:pt x="6967220" y="3383280"/>
                    <a:pt x="6876288" y="3383280"/>
                  </a:cubicBezTo>
                  <a:lnTo>
                    <a:pt x="164592" y="3383280"/>
                  </a:lnTo>
                  <a:cubicBezTo>
                    <a:pt x="73660" y="3383280"/>
                    <a:pt x="0" y="3309620"/>
                    <a:pt x="0" y="3218688"/>
                  </a:cubicBez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81560" y="2029968"/>
            <a:ext cx="4732020" cy="1097280"/>
            <a:chOff x="0" y="0"/>
            <a:chExt cx="630936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09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9" r="0" b="-3402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630936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po čvoru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81560" y="3154680"/>
            <a:ext cx="4732020" cy="1097280"/>
            <a:chOff x="0" y="0"/>
            <a:chExt cx="630936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09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29" r="0" b="-340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093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kopija referentne tabele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D4B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status_sifra na svakom radniku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" y="4671060"/>
            <a:ext cx="1641348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Ključna razlika u odnosu na korake 1 i 2: </a:t>
            </a:r>
            <a:r>
              <a:rPr lang="en-US" sz="2025">
                <a:solidFill>
                  <a:srgbClr val="3D4B5C"/>
                </a:solidFill>
                <a:latin typeface="Calibri (MS)"/>
                <a:ea typeface="Calibri (MS)"/>
                <a:cs typeface="Calibri (MS)"/>
                <a:sym typeface="Calibri (MS)"/>
              </a:rPr>
              <a:t>šardovi imaju sopstveni CPU, memoriju i disk. Globalna agregacija bez ključa raspodele se ovde </a:t>
            </a:r>
            <a:r>
              <a:rPr lang="en-US" b="true" sz="2025" i="true">
                <a:solidFill>
                  <a:srgbClr val="3D4B5C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stvarno paralelizuje</a:t>
            </a:r>
            <a:r>
              <a:rPr lang="en-US" sz="2025">
                <a:solidFill>
                  <a:srgbClr val="3D4B5C"/>
                </a:solidFill>
                <a:latin typeface="Calibri (MS)"/>
                <a:ea typeface="Calibri (MS)"/>
                <a:cs typeface="Calibri (MS)"/>
                <a:sym typeface="Calibri (MS)"/>
              </a:rPr>
              <a:t> — koordinator šalje deo upita na worker1 i worker2 istovremeno, umesto da samo trpi režijski trošak kao u koraku 1.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22960" y="6515100"/>
            <a:ext cx="822960" cy="822960"/>
            <a:chOff x="0" y="0"/>
            <a:chExt cx="109728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8174" y="6630314"/>
            <a:ext cx="592531" cy="592531"/>
            <a:chOff x="0" y="0"/>
            <a:chExt cx="790042" cy="790042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7543800"/>
            <a:ext cx="16596360" cy="1988820"/>
            <a:chOff x="0" y="0"/>
            <a:chExt cx="22128480" cy="2651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28480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505456"/>
                  </a:lnTo>
                  <a:cubicBezTo>
                    <a:pt x="22128480" y="2586228"/>
                    <a:pt x="22062948" y="2651760"/>
                    <a:pt x="21982176" y="2651760"/>
                  </a:cubicBezTo>
                  <a:lnTo>
                    <a:pt x="146304" y="2651760"/>
                  </a:lnTo>
                  <a:cubicBezTo>
                    <a:pt x="65532" y="2651760"/>
                    <a:pt x="0" y="2586228"/>
                    <a:pt x="0" y="2505456"/>
                  </a:cubicBez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03020" y="7708392"/>
            <a:ext cx="5486400" cy="480060"/>
            <a:chOff x="0" y="0"/>
            <a:chExt cx="731520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73152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Zaključak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94460" y="8200263"/>
            <a:ext cx="1545336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D4B5C"/>
                </a:solidFill>
                <a:latin typeface="Calibri (MS)"/>
                <a:ea typeface="Calibri (MS)"/>
                <a:cs typeface="Calibri (MS)"/>
                <a:sym typeface="Calibri (MS)"/>
              </a:rPr>
              <a:t>Sharding preko nezavisnih servera pretvara scatter-gather iz mane (korak 1) u prednost: pravi paralelizam. Kolokacija i referentne tabele eliminišu mrežnu komunikaciju za najčešće operacije (spajanja).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891540"/>
            <a:chOff x="0" y="0"/>
            <a:chExt cx="2194560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23" r="0" b="-3097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Šta smo zaključili iz sva tri eksperimenta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1851660"/>
          <a:ext cx="16573500" cy="6096000"/>
        </p:xfrm>
        <a:graphic>
          <a:graphicData uri="http://schemas.openxmlformats.org/drawingml/2006/table">
            <a:tbl>
              <a:tblPr/>
              <a:tblGrid>
                <a:gridCol w="3566545"/>
                <a:gridCol w="4340176"/>
                <a:gridCol w="4340176"/>
                <a:gridCol w="4326603"/>
              </a:tblGrid>
              <a:tr h="1219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2129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1. Particionisanje</a:t>
                      </a:r>
                      <a:endParaRPr lang="en-US" sz="1100"/>
                    </a:p>
                    <a:p>
                      <a:pPr algn="ctr">
                        <a:lnSpc>
                          <a:spcPts val="2250"/>
                        </a:lnSpc>
                      </a:pPr>
                      <a:r>
                        <a:rPr lang="en-US" sz="1875" b="true">
                          <a:solidFill>
                            <a:srgbClr val="2129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(1 instanca)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2129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2. postgres_fdw</a:t>
                      </a:r>
                      <a:endParaRPr lang="en-US" sz="1100"/>
                    </a:p>
                    <a:p>
                      <a:pPr algn="ctr">
                        <a:lnSpc>
                          <a:spcPts val="2250"/>
                        </a:lnSpc>
                      </a:pPr>
                      <a:r>
                        <a:rPr lang="en-US" sz="1875" b="true">
                          <a:solidFill>
                            <a:srgbClr val="2129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(2 servera)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2129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3. Citus</a:t>
                      </a:r>
                      <a:endParaRPr lang="en-US" sz="1100"/>
                    </a:p>
                    <a:p>
                      <a:pPr algn="ctr">
                        <a:lnSpc>
                          <a:spcPts val="2250"/>
                        </a:lnSpc>
                      </a:pPr>
                      <a:r>
                        <a:rPr lang="en-US" sz="1875" b="true">
                          <a:solidFill>
                            <a:srgbClr val="2129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(klaster)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1219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Deljeni resursi?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 — isti disk/CPU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 — nezavisni serveri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 — nezavisni čvorovi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1219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Ciljani upit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2C39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2,7x brže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2C39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26 ms (mreža)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2C39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21 ms + kolokacija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1219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Upit bez ključa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D16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sporije (režija)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D16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1982 ms (75x)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2C39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paralelizovano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1219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Glavna pouka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Korist samo za ciljane upite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Ravnomerno, ali mreža ima cenu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Kolokacija čini spajanja lokalnim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12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822960" y="8298180"/>
            <a:ext cx="16596360" cy="685800"/>
            <a:chOff x="0" y="0"/>
            <a:chExt cx="2212848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1284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Zajednička nit: ključ raspodele u uslovu upita je jedini faktor koji stvarno određuje performanse.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1645920"/>
            <a:ext cx="5760720" cy="5760720"/>
            <a:chOff x="0" y="0"/>
            <a:chExt cx="7680960" cy="7680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41A46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822960"/>
            <a:ext cx="10972800" cy="1097280"/>
            <a:chOff x="0" y="0"/>
            <a:chExt cx="146304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Zaključak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2194560"/>
            <a:ext cx="16184880" cy="5760720"/>
            <a:chOff x="0" y="0"/>
            <a:chExt cx="21579840" cy="768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79839" cy="7680960"/>
            </a:xfrm>
            <a:custGeom>
              <a:avLst/>
              <a:gdLst/>
              <a:ahLst/>
              <a:cxnLst/>
              <a:rect r="r" b="b" t="t" l="l"/>
              <a:pathLst>
                <a:path h="76809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680960"/>
                  </a:lnTo>
                  <a:lnTo>
                    <a:pt x="0" y="7680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3" r="0" b="-47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79840" cy="7719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Sharding nije univerzalno rešenje već inženjerski kompromis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Uspeh presudno zavisi od izbora ključa raspodele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Strategije (opseg, heš, konzistentno heširanje) nude različite kompromise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Praktični eksperimenti potvrđuju teoriju: particionisanje ≠ sharding, kolokacija eliminiše mrežnu komunikaciju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Trend: NewSQL sistemi čine horizontalnu raspodelu sve transparentnijom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08672" y="8283893"/>
            <a:ext cx="4143375" cy="28575"/>
            <a:chOff x="0" y="0"/>
            <a:chExt cx="55245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24500" cy="38100"/>
            </a:xfrm>
            <a:custGeom>
              <a:avLst/>
              <a:gdLst/>
              <a:ahLst/>
              <a:cxnLst/>
              <a:rect r="r" b="b" t="t" l="l"/>
              <a:pathLst>
                <a:path h="38100" w="5524500">
                  <a:moveTo>
                    <a:pt x="0" y="0"/>
                  </a:moveTo>
                  <a:lnTo>
                    <a:pt x="5524500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775330" r="0" b="-2775330"/>
              </a:stretch>
            </a:blipFill>
            <a:ln w="28575" cap="sq">
              <a:solidFill>
                <a:srgbClr val="4C5C9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8503920"/>
            <a:ext cx="8229600" cy="822960"/>
            <a:chOff x="0" y="0"/>
            <a:chExt cx="109728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972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i="true">
                  <a:solidFill>
                    <a:srgbClr val="FFC857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Hvala na pažnji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487900" y="9669780"/>
            <a:ext cx="548640" cy="411480"/>
            <a:chOff x="0" y="0"/>
            <a:chExt cx="7315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DAHOhHQv-gQ</dc:identifier>
  <dcterms:modified xsi:type="dcterms:W3CDTF">2011-08-01T06:04:30Z</dcterms:modified>
  <cp:revision>1</cp:revision>
  <dc:title>Sharding_prezentacija_standardna.pptx</dc:title>
</cp:coreProperties>
</file>