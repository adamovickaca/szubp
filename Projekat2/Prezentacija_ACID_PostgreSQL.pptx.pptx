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Calibri (MS) Italics" charset="1" panose="020F05020202040A0204"/>
      <p:regular r:id="rId30"/>
    </p:embeddedFont>
    <p:embeddedFont>
      <p:font typeface="Consolas Bold" charset="1" panose="020B0709020204030204"/>
      <p:regular r:id="rId31"/>
    </p:embeddedFont>
    <p:embeddedFont>
      <p:font typeface="Consolas" charset="1" panose="020B0609020204030204"/>
      <p:regular r:id="rId32"/>
    </p:embeddedFont>
    <p:embeddedFont>
      <p:font typeface="Calibri (MS) Bold Italics" charset="1" panose="020F07020304040A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939803" cy="10312403"/>
            <a:chOff x="0" y="0"/>
            <a:chExt cx="12530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31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253109">
                  <a:moveTo>
                    <a:pt x="0" y="0"/>
                  </a:moveTo>
                  <a:lnTo>
                    <a:pt x="1253109" y="0"/>
                  </a:lnTo>
                  <a:lnTo>
                    <a:pt x="12531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8765543"/>
            <a:ext cx="18313403" cy="1534163"/>
            <a:chOff x="0" y="0"/>
            <a:chExt cx="24417871" cy="2045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2045589"/>
            </a:xfrm>
            <a:custGeom>
              <a:avLst/>
              <a:gdLst/>
              <a:ahLst/>
              <a:cxnLst/>
              <a:rect r="r" b="b" t="t" l="l"/>
              <a:pathLst>
                <a:path h="20455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589"/>
                  </a:lnTo>
                  <a:lnTo>
                    <a:pt x="0" y="2045589"/>
                  </a:lnTo>
                  <a:close/>
                </a:path>
              </a:pathLst>
            </a:custGeom>
            <a:solidFill>
              <a:srgbClr val="091422"/>
            </a:solidFill>
            <a:ln w="25400" cap="sq">
              <a:solidFill>
                <a:srgbClr val="09142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2194560"/>
            <a:ext cx="15544800" cy="1645920"/>
            <a:chOff x="0" y="0"/>
            <a:chExt cx="207264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2072640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Obrada transakcija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3749040"/>
            <a:ext cx="15544800" cy="1645920"/>
            <a:chOff x="0" y="0"/>
            <a:chExt cx="207264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2072640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ACID izolacija u PostgreSQL-u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5669280"/>
            <a:ext cx="15544800" cy="731520"/>
            <a:chOff x="0" y="0"/>
            <a:chExt cx="207264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72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Seminarski rad — Sistemi za upravljanje bazama podataka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" y="8924544"/>
            <a:ext cx="15544800" cy="640080"/>
            <a:chOff x="0" y="0"/>
            <a:chExt cx="207264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7264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Katarina Adamović  |  Elektronski fakultet Niš  |  2025.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8047" y="2005327"/>
            <a:ext cx="8242297" cy="2207257"/>
            <a:chOff x="0" y="0"/>
            <a:chExt cx="10989729" cy="29430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2194560"/>
            <a:ext cx="1005840" cy="1005840"/>
            <a:chOff x="0" y="0"/>
            <a:chExt cx="134112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31136" y="2194560"/>
            <a:ext cx="6583680" cy="694944"/>
            <a:chOff x="0" y="0"/>
            <a:chExt cx="877824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Šta je transakcija?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1136" y="2926080"/>
            <a:ext cx="6583680" cy="1005840"/>
            <a:chOff x="0" y="0"/>
            <a:chExt cx="877824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Osnove i životni ciklus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8047" y="4565647"/>
            <a:ext cx="8242297" cy="2207257"/>
            <a:chOff x="0" y="0"/>
            <a:chExt cx="10989729" cy="29430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754880"/>
            <a:ext cx="1005840" cy="1005840"/>
            <a:chOff x="0" y="0"/>
            <a:chExt cx="1341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31136" y="4754880"/>
            <a:ext cx="6583680" cy="694944"/>
            <a:chOff x="0" y="0"/>
            <a:chExt cx="87782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ACID svojstva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31136" y="5486400"/>
            <a:ext cx="6583680" cy="1005840"/>
            <a:chOff x="0" y="0"/>
            <a:chExt cx="8778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Atomičnost, Konzistentnost, Izolacija, Trajnost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8047" y="7125967"/>
            <a:ext cx="8242297" cy="2207257"/>
            <a:chOff x="0" y="0"/>
            <a:chExt cx="10989729" cy="29430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7315200"/>
            <a:ext cx="1005840" cy="1005840"/>
            <a:chOff x="0" y="0"/>
            <a:chExt cx="13411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31136" y="7315200"/>
            <a:ext cx="6583680" cy="694944"/>
            <a:chOff x="0" y="0"/>
            <a:chExt cx="877824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Fenomeni konkurentnog izvršavanja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31136" y="8046720"/>
            <a:ext cx="6583680" cy="1005840"/>
            <a:chOff x="0" y="0"/>
            <a:chExt cx="877824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Dirty Read, Non-Repeatable, Phantom Read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86287" y="2005327"/>
            <a:ext cx="8242297" cy="2207257"/>
            <a:chOff x="0" y="0"/>
            <a:chExt cx="10989729" cy="294300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0" y="2194560"/>
            <a:ext cx="1005840" cy="1005840"/>
            <a:chOff x="0" y="0"/>
            <a:chExt cx="134112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009376" y="2194560"/>
            <a:ext cx="6583680" cy="694944"/>
            <a:chOff x="0" y="0"/>
            <a:chExt cx="877824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Nivoi izolacije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009376" y="2926080"/>
            <a:ext cx="6583680" cy="1005840"/>
            <a:chOff x="0" y="0"/>
            <a:chExt cx="877824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Committed, Repeatable Read, Serializable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86287" y="4565647"/>
            <a:ext cx="8242297" cy="2207257"/>
            <a:chOff x="0" y="0"/>
            <a:chExt cx="10989729" cy="294300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875520" y="4754880"/>
            <a:ext cx="1005840" cy="1005840"/>
            <a:chOff x="0" y="0"/>
            <a:chExt cx="13411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09376" y="4754880"/>
            <a:ext cx="6583680" cy="694944"/>
            <a:chOff x="0" y="0"/>
            <a:chExt cx="877824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MVCC mehanizam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009376" y="5486400"/>
            <a:ext cx="6583680" cy="1005840"/>
            <a:chOff x="0" y="0"/>
            <a:chExt cx="877824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Kako PostgreSQL interno funkcioniše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86287" y="7125967"/>
            <a:ext cx="8242297" cy="2207257"/>
            <a:chOff x="0" y="0"/>
            <a:chExt cx="10989729" cy="29430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8969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E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875520" y="7315200"/>
            <a:ext cx="1005840" cy="1005840"/>
            <a:chOff x="0" y="0"/>
            <a:chExt cx="1341120" cy="13411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F71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09376" y="7315200"/>
            <a:ext cx="6583680" cy="694944"/>
            <a:chOff x="0" y="0"/>
            <a:chExt cx="877824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Praktični primeri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009376" y="8046720"/>
            <a:ext cx="6583680" cy="1005840"/>
            <a:chOff x="0" y="0"/>
            <a:chExt cx="8778240" cy="1341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778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demonstracija u pgAdmin-u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Šta je transakcija?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731520"/>
            <a:chOff x="0" y="0"/>
            <a:chExt cx="21945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0F717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Logička jedinica rada — sve operacije uspevaju zajedno ili nijedna.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3004823"/>
            <a:ext cx="2951483" cy="1397003"/>
            <a:chOff x="0" y="0"/>
            <a:chExt cx="393531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353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2196A6"/>
            </a:solidFill>
            <a:ln w="25400" cap="sq">
              <a:solidFill>
                <a:srgbClr val="2196A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017520"/>
            <a:ext cx="2926080" cy="1371600"/>
            <a:chOff x="0" y="0"/>
            <a:chExt cx="39014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9014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BEGIN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0080" y="4488180"/>
            <a:ext cx="31089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Pokretanje transakcije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632197" y="3668773"/>
            <a:ext cx="507997" cy="50797"/>
            <a:chOff x="0" y="0"/>
            <a:chExt cx="677329" cy="67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291" cy="67691"/>
            </a:xfrm>
            <a:custGeom>
              <a:avLst/>
              <a:gdLst/>
              <a:ahLst/>
              <a:cxnLst/>
              <a:rect r="r" b="b" t="t" l="l"/>
              <a:pathLst>
                <a:path h="67691" w="677291">
                  <a:moveTo>
                    <a:pt x="0" y="0"/>
                  </a:moveTo>
                  <a:lnTo>
                    <a:pt x="677291" y="67691"/>
                  </a:lnTo>
                </a:path>
              </a:pathLst>
            </a:custGeom>
            <a:solidFill>
              <a:srgbClr val="1A9B9E">
                <a:alpha val="0"/>
              </a:srgbClr>
            </a:solidFill>
            <a:ln w="508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02103" y="3004823"/>
            <a:ext cx="2951483" cy="1397003"/>
            <a:chOff x="0" y="0"/>
            <a:chExt cx="3935311" cy="1862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53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114800" y="3017520"/>
            <a:ext cx="2926080" cy="1371600"/>
            <a:chOff x="0" y="0"/>
            <a:chExt cx="390144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9014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OPERACIJE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102103" y="4382776"/>
            <a:ext cx="31089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/ INSERT / UPDATE / DELETE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015477" y="3668773"/>
            <a:ext cx="507997" cy="50797"/>
            <a:chOff x="0" y="0"/>
            <a:chExt cx="677329" cy="677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7291" cy="67691"/>
            </a:xfrm>
            <a:custGeom>
              <a:avLst/>
              <a:gdLst/>
              <a:ahLst/>
              <a:cxnLst/>
              <a:rect r="r" b="b" t="t" l="l"/>
              <a:pathLst>
                <a:path h="67691" w="677291">
                  <a:moveTo>
                    <a:pt x="0" y="0"/>
                  </a:moveTo>
                  <a:lnTo>
                    <a:pt x="6772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44942" r="-5" b="-144999"/>
              </a:stretch>
            </a:blipFill>
            <a:ln w="508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485383" y="3004823"/>
            <a:ext cx="2951483" cy="1397003"/>
            <a:chOff x="0" y="0"/>
            <a:chExt cx="3935311" cy="1862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353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A9B9E"/>
            </a:solidFill>
            <a:ln w="25400" cap="sq">
              <a:solidFill>
                <a:srgbClr val="1A9B9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498080" y="3017520"/>
            <a:ext cx="2926080" cy="1371600"/>
            <a:chOff x="0" y="0"/>
            <a:chExt cx="390144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9014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SAVEPOINT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406640" y="4488180"/>
            <a:ext cx="31089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Opciona tačka čuvanja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398757" y="3668773"/>
            <a:ext cx="507997" cy="50797"/>
            <a:chOff x="0" y="0"/>
            <a:chExt cx="677329" cy="677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7291" cy="67691"/>
            </a:xfrm>
            <a:custGeom>
              <a:avLst/>
              <a:gdLst/>
              <a:ahLst/>
              <a:cxnLst/>
              <a:rect r="r" b="b" t="t" l="l"/>
              <a:pathLst>
                <a:path h="67691" w="677291">
                  <a:moveTo>
                    <a:pt x="0" y="0"/>
                  </a:moveTo>
                  <a:lnTo>
                    <a:pt x="6772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44942" r="-5" b="-144999"/>
              </a:stretch>
            </a:blipFill>
            <a:ln w="508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868663" y="3004823"/>
            <a:ext cx="2951483" cy="1397003"/>
            <a:chOff x="0" y="0"/>
            <a:chExt cx="3935311" cy="18626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353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D6E70"/>
            </a:solidFill>
            <a:ln w="25400" cap="sq">
              <a:solidFill>
                <a:srgbClr val="0D6E7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881360" y="3017520"/>
            <a:ext cx="2926080" cy="1371600"/>
            <a:chOff x="0" y="0"/>
            <a:chExt cx="390144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39014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COMMIT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789920" y="4488180"/>
            <a:ext cx="31089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Trajno čuvanje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82037" y="3668773"/>
            <a:ext cx="507997" cy="50797"/>
            <a:chOff x="0" y="0"/>
            <a:chExt cx="677329" cy="677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7291" cy="67691"/>
            </a:xfrm>
            <a:custGeom>
              <a:avLst/>
              <a:gdLst/>
              <a:ahLst/>
              <a:cxnLst/>
              <a:rect r="r" b="b" t="t" l="l"/>
              <a:pathLst>
                <a:path h="67691" w="677291">
                  <a:moveTo>
                    <a:pt x="0" y="0"/>
                  </a:moveTo>
                  <a:lnTo>
                    <a:pt x="6772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44942" r="-5" b="-144999"/>
              </a:stretch>
            </a:blipFill>
            <a:ln w="508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251943" y="3004823"/>
            <a:ext cx="2951483" cy="1397003"/>
            <a:chOff x="0" y="0"/>
            <a:chExt cx="3935311" cy="18626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53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B85042"/>
            </a:solidFill>
            <a:ln w="25400" cap="sq">
              <a:solidFill>
                <a:srgbClr val="B8504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264640" y="3017520"/>
            <a:ext cx="2926080" cy="1371600"/>
            <a:chOff x="0" y="0"/>
            <a:chExt cx="390144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39014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ROLLBACK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173200" y="4488180"/>
            <a:ext cx="31089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Poništavanje svih promena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95350" y="5741670"/>
            <a:ext cx="16497300" cy="2781300"/>
            <a:chOff x="0" y="0"/>
            <a:chExt cx="21996400" cy="3708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964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3708400"/>
                  </a:lnTo>
                  <a:lnTo>
                    <a:pt x="0" y="370840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225296" y="5905119"/>
            <a:ext cx="1583740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- 1000 WHERE id = 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SAVEPOINT tacka1;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+ 1000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COMMIT;  - ili ROLLBACK TO SAVEPOINT tacka1;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" y="8595360"/>
            <a:ext cx="16459200" cy="548640"/>
            <a:chOff x="0" y="0"/>
            <a:chExt cx="219456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Primer: transfer novca između dva računa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3704759" y="3703320"/>
            <a:ext cx="4100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7064455" y="3649723"/>
            <a:ext cx="4100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0400024" y="3675121"/>
            <a:ext cx="4100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13841903" y="3700520"/>
            <a:ext cx="4100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ACID svojstva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33727" y="1913887"/>
            <a:ext cx="4036057" cy="6962137"/>
            <a:chOff x="0" y="0"/>
            <a:chExt cx="5381409" cy="92828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1371" cy="9282811"/>
            </a:xfrm>
            <a:custGeom>
              <a:avLst/>
              <a:gdLst/>
              <a:ahLst/>
              <a:cxnLst/>
              <a:rect r="r" b="b" t="t" l="l"/>
              <a:pathLst>
                <a:path h="9282811" w="5381371">
                  <a:moveTo>
                    <a:pt x="0" y="0"/>
                  </a:moveTo>
                  <a:lnTo>
                    <a:pt x="5381371" y="0"/>
                  </a:lnTo>
                  <a:lnTo>
                    <a:pt x="53813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27383" y="1907543"/>
            <a:ext cx="4048763" cy="1671323"/>
            <a:chOff x="0" y="0"/>
            <a:chExt cx="5398351" cy="2228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0D6E70"/>
            </a:solidFill>
            <a:ln w="25400" cap="sq">
              <a:solidFill>
                <a:srgbClr val="0D6E7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920240"/>
            <a:ext cx="1371600" cy="1645920"/>
            <a:chOff x="0" y="0"/>
            <a:chExt cx="18288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182880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03120" y="2103120"/>
            <a:ext cx="2468880" cy="1280160"/>
            <a:chOff x="0" y="0"/>
            <a:chExt cx="329184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918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527" t="0" r="-1652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9184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Atomičnost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59536" y="3802380"/>
            <a:ext cx="3584448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Sve ili ništa — nema delimičnih transakcija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6839" y="6388103"/>
            <a:ext cx="3609851" cy="98555"/>
            <a:chOff x="0" y="0"/>
            <a:chExt cx="4813135" cy="131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3173" cy="131445"/>
            </a:xfrm>
            <a:custGeom>
              <a:avLst/>
              <a:gdLst/>
              <a:ahLst/>
              <a:cxnLst/>
              <a:rect r="r" b="b" t="t" l="l"/>
              <a:pathLst>
                <a:path h="131445" w="4813173">
                  <a:moveTo>
                    <a:pt x="0" y="0"/>
                  </a:moveTo>
                  <a:lnTo>
                    <a:pt x="4813173" y="0"/>
                  </a:lnTo>
                  <a:lnTo>
                    <a:pt x="4813173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0EEF0"/>
            </a:solidFill>
            <a:ln w="254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59536" y="6583680"/>
            <a:ext cx="3584448" cy="402336"/>
            <a:chOff x="0" y="0"/>
            <a:chExt cx="4779264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79264" cy="536448"/>
            </a:xfrm>
            <a:custGeom>
              <a:avLst/>
              <a:gdLst/>
              <a:ahLst/>
              <a:cxnLst/>
              <a:rect r="r" b="b" t="t" l="l"/>
              <a:pathLst>
                <a:path h="536448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779264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536" y="6986016"/>
            <a:ext cx="3584448" cy="914400"/>
            <a:chOff x="0" y="0"/>
            <a:chExt cx="4779264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79264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77926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6E70"/>
                  </a:solidFill>
                  <a:latin typeface="Consolas"/>
                  <a:ea typeface="Consolas"/>
                  <a:cs typeface="Consolas"/>
                  <a:sym typeface="Consolas"/>
                </a:rPr>
                <a:t>Write-Ahead Log (WAL)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31407" y="1913887"/>
            <a:ext cx="4036057" cy="6962137"/>
            <a:chOff x="0" y="0"/>
            <a:chExt cx="5381409" cy="92828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81371" cy="9282811"/>
            </a:xfrm>
            <a:custGeom>
              <a:avLst/>
              <a:gdLst/>
              <a:ahLst/>
              <a:cxnLst/>
              <a:rect r="r" b="b" t="t" l="l"/>
              <a:pathLst>
                <a:path h="9282811" w="5381371">
                  <a:moveTo>
                    <a:pt x="0" y="0"/>
                  </a:moveTo>
                  <a:lnTo>
                    <a:pt x="5381371" y="0"/>
                  </a:lnTo>
                  <a:lnTo>
                    <a:pt x="53813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925063" y="1907543"/>
            <a:ext cx="4048763" cy="1671323"/>
            <a:chOff x="0" y="0"/>
            <a:chExt cx="5398351" cy="22284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98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937760" y="1920240"/>
            <a:ext cx="1371600" cy="1645920"/>
            <a:chOff x="0" y="0"/>
            <a:chExt cx="182880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42875"/>
              <a:ext cx="182880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0" y="2103120"/>
            <a:ext cx="2468880" cy="1280160"/>
            <a:chOff x="0" y="0"/>
            <a:chExt cx="329184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527" t="0" r="-1652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329184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Konzistentnost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157216" y="3802380"/>
            <a:ext cx="3584448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Validno stanje podataka pre i posle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144519" y="6388103"/>
            <a:ext cx="3609851" cy="98555"/>
            <a:chOff x="0" y="0"/>
            <a:chExt cx="4813135" cy="13140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13173" cy="131445"/>
            </a:xfrm>
            <a:custGeom>
              <a:avLst/>
              <a:gdLst/>
              <a:ahLst/>
              <a:cxnLst/>
              <a:rect r="r" b="b" t="t" l="l"/>
              <a:pathLst>
                <a:path h="131445" w="4813173">
                  <a:moveTo>
                    <a:pt x="0" y="0"/>
                  </a:moveTo>
                  <a:lnTo>
                    <a:pt x="4813173" y="0"/>
                  </a:lnTo>
                  <a:lnTo>
                    <a:pt x="4813173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0EEF0"/>
            </a:solidFill>
            <a:ln w="254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157216" y="6583680"/>
            <a:ext cx="3584448" cy="402336"/>
            <a:chOff x="0" y="0"/>
            <a:chExt cx="4779264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79264" cy="536448"/>
            </a:xfrm>
            <a:custGeom>
              <a:avLst/>
              <a:gdLst/>
              <a:ahLst/>
              <a:cxnLst/>
              <a:rect r="r" b="b" t="t" l="l"/>
              <a:pathLst>
                <a:path h="536448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779264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PostgreSQL: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157216" y="6986016"/>
            <a:ext cx="3584448" cy="914400"/>
            <a:chOff x="0" y="0"/>
            <a:chExt cx="4779264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79264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77926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7173"/>
                  </a:solidFill>
                  <a:latin typeface="Consolas"/>
                  <a:ea typeface="Consolas"/>
                  <a:cs typeface="Consolas"/>
                  <a:sym typeface="Consolas"/>
                </a:rPr>
                <a:t>Constraints + Triggers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29087" y="1913887"/>
            <a:ext cx="4036057" cy="6962137"/>
            <a:chOff x="0" y="0"/>
            <a:chExt cx="5381409" cy="928284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81371" cy="9282811"/>
            </a:xfrm>
            <a:custGeom>
              <a:avLst/>
              <a:gdLst/>
              <a:ahLst/>
              <a:cxnLst/>
              <a:rect r="r" b="b" t="t" l="l"/>
              <a:pathLst>
                <a:path h="9282811" w="5381371">
                  <a:moveTo>
                    <a:pt x="0" y="0"/>
                  </a:moveTo>
                  <a:lnTo>
                    <a:pt x="5381371" y="0"/>
                  </a:lnTo>
                  <a:lnTo>
                    <a:pt x="53813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222743" y="1907543"/>
            <a:ext cx="4048763" cy="1671323"/>
            <a:chOff x="0" y="0"/>
            <a:chExt cx="5398351" cy="22284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98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A9B9E"/>
            </a:solidFill>
            <a:ln w="25400" cap="sq">
              <a:solidFill>
                <a:srgbClr val="1A9B9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235440" y="1920240"/>
            <a:ext cx="1371600" cy="1645920"/>
            <a:chOff x="0" y="0"/>
            <a:chExt cx="182880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42875"/>
              <a:ext cx="182880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698480" y="2103120"/>
            <a:ext cx="2468880" cy="1280160"/>
            <a:chOff x="0" y="0"/>
            <a:chExt cx="3291840" cy="17068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18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527" t="0" r="-165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329184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Izolacija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454896" y="3802380"/>
            <a:ext cx="3584448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Transakcije se ne ometaju međusobno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442199" y="6388103"/>
            <a:ext cx="3609851" cy="98555"/>
            <a:chOff x="0" y="0"/>
            <a:chExt cx="4813135" cy="13140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13173" cy="131445"/>
            </a:xfrm>
            <a:custGeom>
              <a:avLst/>
              <a:gdLst/>
              <a:ahLst/>
              <a:cxnLst/>
              <a:rect r="r" b="b" t="t" l="l"/>
              <a:pathLst>
                <a:path h="131445" w="4813173">
                  <a:moveTo>
                    <a:pt x="0" y="0"/>
                  </a:moveTo>
                  <a:lnTo>
                    <a:pt x="4813173" y="0"/>
                  </a:lnTo>
                  <a:lnTo>
                    <a:pt x="4813173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0EEF0"/>
            </a:solidFill>
            <a:ln w="254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54896" y="6583680"/>
            <a:ext cx="3584448" cy="402336"/>
            <a:chOff x="0" y="0"/>
            <a:chExt cx="4779264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79264" cy="536448"/>
            </a:xfrm>
            <a:custGeom>
              <a:avLst/>
              <a:gdLst/>
              <a:ahLst/>
              <a:cxnLst/>
              <a:rect r="r" b="b" t="t" l="l"/>
              <a:pathLst>
                <a:path h="536448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779264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PostgreSQL: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54896" y="6986016"/>
            <a:ext cx="3584448" cy="914400"/>
            <a:chOff x="0" y="0"/>
            <a:chExt cx="4779264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79264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77926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9B9E"/>
                  </a:solidFill>
                  <a:latin typeface="Consolas"/>
                  <a:ea typeface="Consolas"/>
                  <a:cs typeface="Consolas"/>
                  <a:sym typeface="Consolas"/>
                </a:rPr>
                <a:t>MVCC mehanizam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526767" y="1913887"/>
            <a:ext cx="4036057" cy="6962137"/>
            <a:chOff x="0" y="0"/>
            <a:chExt cx="5381409" cy="928284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81371" cy="9282811"/>
            </a:xfrm>
            <a:custGeom>
              <a:avLst/>
              <a:gdLst/>
              <a:ahLst/>
              <a:cxnLst/>
              <a:rect r="r" b="b" t="t" l="l"/>
              <a:pathLst>
                <a:path h="9282811" w="5381371">
                  <a:moveTo>
                    <a:pt x="0" y="0"/>
                  </a:moveTo>
                  <a:lnTo>
                    <a:pt x="5381371" y="0"/>
                  </a:lnTo>
                  <a:lnTo>
                    <a:pt x="53813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423" y="1907543"/>
            <a:ext cx="4048763" cy="1671323"/>
            <a:chOff x="0" y="0"/>
            <a:chExt cx="5398351" cy="22284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98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2196A6"/>
            </a:solidFill>
            <a:ln w="25400" cap="sq">
              <a:solidFill>
                <a:srgbClr val="2196A6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3533120" y="1920240"/>
            <a:ext cx="1371600" cy="1645920"/>
            <a:chOff x="0" y="0"/>
            <a:chExt cx="1828800" cy="21945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2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42875"/>
              <a:ext cx="182880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996160" y="2103120"/>
            <a:ext cx="2468880" cy="1280160"/>
            <a:chOff x="0" y="0"/>
            <a:chExt cx="3291840" cy="17068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918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527" t="0" r="-1652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329184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Trajnost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3752576" y="3802380"/>
            <a:ext cx="3584448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D1B2A"/>
                </a:solidFill>
                <a:latin typeface="Calibri (MS)"/>
                <a:ea typeface="Calibri (MS)"/>
                <a:cs typeface="Calibri (MS)"/>
                <a:sym typeface="Calibri (MS)"/>
              </a:rPr>
              <a:t>Commit je permanentan čak i pri padu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3739879" y="6388103"/>
            <a:ext cx="3609851" cy="98555"/>
            <a:chOff x="0" y="0"/>
            <a:chExt cx="4813135" cy="13140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13173" cy="131445"/>
            </a:xfrm>
            <a:custGeom>
              <a:avLst/>
              <a:gdLst/>
              <a:ahLst/>
              <a:cxnLst/>
              <a:rect r="r" b="b" t="t" l="l"/>
              <a:pathLst>
                <a:path h="131445" w="4813173">
                  <a:moveTo>
                    <a:pt x="0" y="0"/>
                  </a:moveTo>
                  <a:lnTo>
                    <a:pt x="4813173" y="0"/>
                  </a:lnTo>
                  <a:lnTo>
                    <a:pt x="4813173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0EEF0"/>
            </a:solidFill>
            <a:ln w="254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752576" y="6583680"/>
            <a:ext cx="3584448" cy="402336"/>
            <a:chOff x="0" y="0"/>
            <a:chExt cx="4779264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79264" cy="536448"/>
            </a:xfrm>
            <a:custGeom>
              <a:avLst/>
              <a:gdLst/>
              <a:ahLst/>
              <a:cxnLst/>
              <a:rect r="r" b="b" t="t" l="l"/>
              <a:pathLst>
                <a:path h="536448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779264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PostgreSQL: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52576" y="6986016"/>
            <a:ext cx="3584448" cy="914400"/>
            <a:chOff x="0" y="0"/>
            <a:chExt cx="4779264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79264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779264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196A6"/>
                  </a:solidFill>
                  <a:latin typeface="Consolas"/>
                  <a:ea typeface="Consolas"/>
                  <a:cs typeface="Consolas"/>
                  <a:sym typeface="Consolas"/>
                </a:rPr>
                <a:t>WAL + fsync + Checkpoint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Fenomeni konkurentnog izvršavanja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25167" y="2005327"/>
            <a:ext cx="16837657" cy="1750057"/>
            <a:chOff x="0" y="0"/>
            <a:chExt cx="22450209" cy="2333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0171" cy="2333371"/>
            </a:xfrm>
            <a:custGeom>
              <a:avLst/>
              <a:gdLst/>
              <a:ahLst/>
              <a:cxnLst/>
              <a:rect r="r" b="b" t="t" l="l"/>
              <a:pathLst>
                <a:path h="233337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1998983"/>
            <a:ext cx="135131" cy="1762763"/>
            <a:chOff x="0" y="0"/>
            <a:chExt cx="180175" cy="2350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2157984"/>
            <a:ext cx="4572000" cy="548640"/>
            <a:chOff x="0" y="0"/>
            <a:chExt cx="60960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096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17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Dirty Read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2779776"/>
            <a:ext cx="4572000" cy="640080"/>
            <a:chOff x="0" y="0"/>
            <a:chExt cx="60960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Prljavo čitanje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52160" y="2157984"/>
            <a:ext cx="8229600" cy="1463040"/>
            <a:chOff x="0" y="0"/>
            <a:chExt cx="1097280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9728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T2 čita uncommitted podatke od T1. Ako T1 uradi ROLLBACK, T2 je radila sa nepostojećim podacima.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58287" y="2279647"/>
            <a:ext cx="3121657" cy="1109977"/>
            <a:chOff x="0" y="0"/>
            <a:chExt cx="4162209" cy="14799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62171" cy="1479931"/>
            </a:xfrm>
            <a:custGeom>
              <a:avLst/>
              <a:gdLst/>
              <a:ahLst/>
              <a:cxnLst/>
              <a:rect r="r" b="b" t="t" l="l"/>
              <a:pathLst>
                <a:path h="1479931" w="4162171">
                  <a:moveTo>
                    <a:pt x="0" y="0"/>
                  </a:moveTo>
                  <a:lnTo>
                    <a:pt x="4162171" y="0"/>
                  </a:lnTo>
                  <a:lnTo>
                    <a:pt x="4162171" y="1479931"/>
                  </a:lnTo>
                  <a:lnTo>
                    <a:pt x="0" y="1479931"/>
                  </a:lnTo>
                  <a:close/>
                </a:path>
              </a:pathLst>
            </a:custGeom>
            <a:solidFill>
              <a:srgbClr val="E8F4F4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301216" y="2286000"/>
            <a:ext cx="3035808" cy="1097280"/>
            <a:chOff x="0" y="0"/>
            <a:chExt cx="4047744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7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47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Sprečava: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Committed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5167" y="4017007"/>
            <a:ext cx="16837657" cy="1750057"/>
            <a:chOff x="0" y="0"/>
            <a:chExt cx="22450209" cy="23334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450171" cy="2333371"/>
            </a:xfrm>
            <a:custGeom>
              <a:avLst/>
              <a:gdLst/>
              <a:ahLst/>
              <a:cxnLst/>
              <a:rect r="r" b="b" t="t" l="l"/>
              <a:pathLst>
                <a:path h="233337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18823" y="4010663"/>
            <a:ext cx="135131" cy="1762763"/>
            <a:chOff x="0" y="0"/>
            <a:chExt cx="180175" cy="23503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2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4169664"/>
            <a:ext cx="4572000" cy="548640"/>
            <a:chOff x="0" y="0"/>
            <a:chExt cx="60960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096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17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Non-Repeatable Read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4791456"/>
            <a:ext cx="4572000" cy="640080"/>
            <a:chOff x="0" y="0"/>
            <a:chExt cx="60960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Neponovljivo čitanje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852160" y="4169664"/>
            <a:ext cx="8229600" cy="1463040"/>
            <a:chOff x="0" y="0"/>
            <a:chExt cx="10972800" cy="195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Isti SELECT vraća različite vrednosti jer je druga transakcija izmenila i potvrdila red između dva upita.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258287" y="4291327"/>
            <a:ext cx="3121657" cy="1109977"/>
            <a:chOff x="0" y="0"/>
            <a:chExt cx="4162209" cy="14799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62171" cy="1479931"/>
            </a:xfrm>
            <a:custGeom>
              <a:avLst/>
              <a:gdLst/>
              <a:ahLst/>
              <a:cxnLst/>
              <a:rect r="r" b="b" t="t" l="l"/>
              <a:pathLst>
                <a:path h="1479931" w="4162171">
                  <a:moveTo>
                    <a:pt x="0" y="0"/>
                  </a:moveTo>
                  <a:lnTo>
                    <a:pt x="4162171" y="0"/>
                  </a:lnTo>
                  <a:lnTo>
                    <a:pt x="4162171" y="1479931"/>
                  </a:lnTo>
                  <a:lnTo>
                    <a:pt x="0" y="1479931"/>
                  </a:lnTo>
                  <a:close/>
                </a:path>
              </a:pathLst>
            </a:custGeom>
            <a:solidFill>
              <a:srgbClr val="E8F4F4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301216" y="4297680"/>
            <a:ext cx="3035808" cy="1097280"/>
            <a:chOff x="0" y="0"/>
            <a:chExt cx="4047744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47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047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Sprečava: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Repeatable Read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25167" y="6028687"/>
            <a:ext cx="16837657" cy="1750057"/>
            <a:chOff x="0" y="0"/>
            <a:chExt cx="22450209" cy="23334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450171" cy="2333371"/>
            </a:xfrm>
            <a:custGeom>
              <a:avLst/>
              <a:gdLst/>
              <a:ahLst/>
              <a:cxnLst/>
              <a:rect r="r" b="b" t="t" l="l"/>
              <a:pathLst>
                <a:path h="233337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18823" y="6022343"/>
            <a:ext cx="135131" cy="1762763"/>
            <a:chOff x="0" y="0"/>
            <a:chExt cx="180175" cy="23503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2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181344"/>
            <a:ext cx="4572000" cy="548640"/>
            <a:chOff x="0" y="0"/>
            <a:chExt cx="60960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096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17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Phantom Read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6803136"/>
            <a:ext cx="4572000" cy="640080"/>
            <a:chOff x="0" y="0"/>
            <a:chExt cx="60960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Fantomsko čitanje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852160" y="6181344"/>
            <a:ext cx="8229600" cy="1463040"/>
            <a:chOff x="0" y="0"/>
            <a:chExt cx="10972800" cy="1950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9728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Isti upit vraća različit broj redova — druga transakcija je ubacila ili obrisala redove koji odgovaraju uslovu.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258287" y="6303007"/>
            <a:ext cx="3121657" cy="1109977"/>
            <a:chOff x="0" y="0"/>
            <a:chExt cx="4162209" cy="147996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62171" cy="1479931"/>
            </a:xfrm>
            <a:custGeom>
              <a:avLst/>
              <a:gdLst/>
              <a:ahLst/>
              <a:cxnLst/>
              <a:rect r="r" b="b" t="t" l="l"/>
              <a:pathLst>
                <a:path h="1479931" w="4162171">
                  <a:moveTo>
                    <a:pt x="0" y="0"/>
                  </a:moveTo>
                  <a:lnTo>
                    <a:pt x="4162171" y="0"/>
                  </a:lnTo>
                  <a:lnTo>
                    <a:pt x="4162171" y="1479931"/>
                  </a:lnTo>
                  <a:lnTo>
                    <a:pt x="0" y="1479931"/>
                  </a:lnTo>
                  <a:close/>
                </a:path>
              </a:pathLst>
            </a:custGeom>
            <a:solidFill>
              <a:srgbClr val="E8F4F4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301216" y="6309360"/>
            <a:ext cx="3035808" cy="1097280"/>
            <a:chOff x="0" y="0"/>
            <a:chExt cx="4047744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47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047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Sprečava: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Serializable (+ Rep. Read u PG)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25167" y="8040367"/>
            <a:ext cx="16837657" cy="1750057"/>
            <a:chOff x="0" y="0"/>
            <a:chExt cx="22450209" cy="23334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450171" cy="2333371"/>
            </a:xfrm>
            <a:custGeom>
              <a:avLst/>
              <a:gdLst/>
              <a:ahLst/>
              <a:cxnLst/>
              <a:rect r="r" b="b" t="t" l="l"/>
              <a:pathLst>
                <a:path h="233337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EE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18823" y="8034023"/>
            <a:ext cx="135131" cy="1762763"/>
            <a:chOff x="0" y="0"/>
            <a:chExt cx="180175" cy="23503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2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97280" y="8193024"/>
            <a:ext cx="4572000" cy="548640"/>
            <a:chOff x="0" y="0"/>
            <a:chExt cx="60960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096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17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Serialization Anomaly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280" y="8814816"/>
            <a:ext cx="4572000" cy="640080"/>
            <a:chOff x="0" y="0"/>
            <a:chExt cx="609600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Serializaciona anomalija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852160" y="8193024"/>
            <a:ext cx="8229600" cy="1463040"/>
            <a:chOff x="0" y="0"/>
            <a:chExt cx="10972800" cy="1950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9728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Rezultat paralelnih transakcija nije ekvivalentan nijednom mogućem serijskom redosledu izvršavanja.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258287" y="8314687"/>
            <a:ext cx="3121657" cy="1109977"/>
            <a:chOff x="0" y="0"/>
            <a:chExt cx="4162209" cy="14799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62171" cy="1479931"/>
            </a:xfrm>
            <a:custGeom>
              <a:avLst/>
              <a:gdLst/>
              <a:ahLst/>
              <a:cxnLst/>
              <a:rect r="r" b="b" t="t" l="l"/>
              <a:pathLst>
                <a:path h="1479931" w="4162171">
                  <a:moveTo>
                    <a:pt x="0" y="0"/>
                  </a:moveTo>
                  <a:lnTo>
                    <a:pt x="4162171" y="0"/>
                  </a:lnTo>
                  <a:lnTo>
                    <a:pt x="4162171" y="1479931"/>
                  </a:lnTo>
                  <a:lnTo>
                    <a:pt x="0" y="1479931"/>
                  </a:lnTo>
                  <a:close/>
                </a:path>
              </a:pathLst>
            </a:custGeom>
            <a:solidFill>
              <a:srgbClr val="E8F4F4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301216" y="8321040"/>
            <a:ext cx="3035808" cy="1097280"/>
            <a:chOff x="0" y="0"/>
            <a:chExt cx="4047744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47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047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Sprečava: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Serializable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Nivoi izolacije u PostgreSQL-u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31520" y="1920240"/>
          <a:ext cx="16764000" cy="58420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  <a:gridCol w="3352800"/>
                <a:gridCol w="3352800"/>
              </a:tblGrid>
              <a:tr h="1168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Nivo izolacije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Prljavo čitanje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Neponovljivo čitanje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Fantomsko čitanje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Serijalizaciona anomalija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Read Uncommitted*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Read Committed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Repeatable Read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C039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Moguće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Serializable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7A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Sprečeno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731520" y="886968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 PostgreSQL tretira Read Uncommitted kao Read Committed. Repeatable Read u PG-u sprečava i fantomska čitanja.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MVCC — Multi-Version Concurrency Control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0F7173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Čitanje ne blokira pisanje. Pisanje ne blokira čitanje.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2821943"/>
            <a:ext cx="5146043" cy="2037083"/>
            <a:chOff x="0" y="0"/>
            <a:chExt cx="6861391" cy="2716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14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D6E70"/>
            </a:solidFill>
            <a:ln w="25400" cap="sq">
              <a:solidFill>
                <a:srgbClr val="0D6E7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834640"/>
            <a:ext cx="5120640" cy="2011680"/>
            <a:chOff x="0" y="0"/>
            <a:chExt cx="682752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275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Transakcija T1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čita: stanje = 1.000 din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70983" y="2730503"/>
            <a:ext cx="5146043" cy="1122683"/>
            <a:chOff x="0" y="0"/>
            <a:chExt cx="6861391" cy="14969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429" cy="1496949"/>
            </a:xfrm>
            <a:custGeom>
              <a:avLst/>
              <a:gdLst/>
              <a:ahLst/>
              <a:cxnLst/>
              <a:rect r="r" b="b" t="t" l="l"/>
              <a:pathLst>
                <a:path h="14969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8F5F5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83680" y="2743200"/>
            <a:ext cx="5120640" cy="1097280"/>
            <a:chOff x="0" y="0"/>
            <a:chExt cx="682752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D1B2A"/>
                  </a:solidFill>
                  <a:latin typeface="Consolas"/>
                  <a:ea typeface="Consolas"/>
                  <a:cs typeface="Consolas"/>
                  <a:sym typeface="Consolas"/>
                </a:rPr>
                <a:t>xmin=100  xmax=200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D1B2A"/>
                  </a:solidFill>
                  <a:latin typeface="Consolas"/>
                  <a:ea typeface="Consolas"/>
                  <a:cs typeface="Consolas"/>
                  <a:sym typeface="Consolas"/>
                </a:rPr>
                <a:t>stanje = 1.000 din  (stara verzija)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70983" y="4102103"/>
            <a:ext cx="5146043" cy="1122683"/>
            <a:chOff x="0" y="0"/>
            <a:chExt cx="6861391" cy="1496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1429" cy="1496949"/>
            </a:xfrm>
            <a:custGeom>
              <a:avLst/>
              <a:gdLst/>
              <a:ahLst/>
              <a:cxnLst/>
              <a:rect r="r" b="b" t="t" l="l"/>
              <a:pathLst>
                <a:path h="14969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8F4F4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83680" y="4114800"/>
            <a:ext cx="5120640" cy="1097280"/>
            <a:chOff x="0" y="0"/>
            <a:chExt cx="682752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D1B2A"/>
                  </a:solidFill>
                  <a:latin typeface="Consolas"/>
                  <a:ea typeface="Consolas"/>
                  <a:cs typeface="Consolas"/>
                  <a:sym typeface="Consolas"/>
                </a:rPr>
                <a:t>xmin=200  xmax=0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D1B2A"/>
                  </a:solidFill>
                  <a:latin typeface="Consolas"/>
                  <a:ea typeface="Consolas"/>
                  <a:cs typeface="Consolas"/>
                  <a:sym typeface="Consolas"/>
                </a:rPr>
                <a:t>stanje = 2.000 din  (nova verzija)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23143" y="3644903"/>
            <a:ext cx="5146043" cy="2037083"/>
            <a:chOff x="0" y="0"/>
            <a:chExt cx="6861391" cy="2716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614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A9B9E"/>
            </a:solidFill>
            <a:ln w="25400" cap="sq">
              <a:solidFill>
                <a:srgbClr val="1A9B9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435840" y="3657600"/>
            <a:ext cx="5120640" cy="2011680"/>
            <a:chOff x="0" y="0"/>
            <a:chExt cx="6827520" cy="2682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275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Transakcija T2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piše: stanje = 2.000 din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33110" y="3272790"/>
            <a:ext cx="769620" cy="38100"/>
            <a:chOff x="0" y="0"/>
            <a:chExt cx="1026160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6160" cy="50800"/>
            </a:xfrm>
            <a:custGeom>
              <a:avLst/>
              <a:gdLst/>
              <a:ahLst/>
              <a:cxnLst/>
              <a:rect r="r" b="b" t="t" l="l"/>
              <a:pathLst>
                <a:path h="50800" w="1026160">
                  <a:moveTo>
                    <a:pt x="0" y="0"/>
                  </a:moveTo>
                  <a:lnTo>
                    <a:pt x="10261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43597" r="0" b="-343597"/>
              </a:stretch>
            </a:blip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685270" y="4644390"/>
            <a:ext cx="769620" cy="38100"/>
            <a:chOff x="0" y="0"/>
            <a:chExt cx="102616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6160" cy="50800"/>
            </a:xfrm>
            <a:custGeom>
              <a:avLst/>
              <a:gdLst/>
              <a:ahLst/>
              <a:cxnLst/>
              <a:rect r="r" b="b" t="t" l="l"/>
              <a:pathLst>
                <a:path h="50800" w="1026160">
                  <a:moveTo>
                    <a:pt x="0" y="0"/>
                  </a:moveTo>
                  <a:lnTo>
                    <a:pt x="10261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43597" r="0" b="-343597"/>
              </a:stretch>
            </a:blip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12470" y="6015990"/>
            <a:ext cx="16863060" cy="2781300"/>
            <a:chOff x="0" y="0"/>
            <a:chExt cx="22484080" cy="3708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84080" cy="3708400"/>
            </a:xfrm>
            <a:custGeom>
              <a:avLst/>
              <a:gdLst/>
              <a:ahLst/>
              <a:cxnLst/>
              <a:rect r="r" b="b" t="t" l="l"/>
              <a:pathLst>
                <a:path h="3708400" w="22484080">
                  <a:moveTo>
                    <a:pt x="0" y="0"/>
                  </a:moveTo>
                  <a:lnTo>
                    <a:pt x="22484080" y="0"/>
                  </a:lnTo>
                  <a:lnTo>
                    <a:pt x="22484080" y="3708400"/>
                  </a:lnTo>
                  <a:lnTo>
                    <a:pt x="0" y="370840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042416" y="6179439"/>
            <a:ext cx="16203168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Prikaz MVCC sistemskih kolona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xmin, xmax, ctid, id, vlasnik, stanje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racuni;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xmin = ID transakcije koja je kreirala verziju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xmax = ID transakcije koja je obrisala/ažurirala (0 = aktivan red)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31520" y="8906256"/>
            <a:ext cx="16824960" cy="548640"/>
            <a:chOff x="0" y="0"/>
            <a:chExt cx="224332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VACUUM automatski uklanja stare verzije koje nijedna transakcija više ne vidi.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Praktični primeri — Priprema testnog okruženja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9B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Bankarski sistem: 4 tabele, 3 korisnika, 3 artikla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470" y="2724150"/>
            <a:ext cx="16863060" cy="5158740"/>
            <a:chOff x="0" y="0"/>
            <a:chExt cx="22484080" cy="687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840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22484080">
                  <a:moveTo>
                    <a:pt x="0" y="0"/>
                  </a:moveTo>
                  <a:lnTo>
                    <a:pt x="22484080" y="0"/>
                  </a:lnTo>
                  <a:lnTo>
                    <a:pt x="22484080" y="6878320"/>
                  </a:lnTo>
                  <a:lnTo>
                    <a:pt x="0" y="68783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2416" y="2887599"/>
            <a:ext cx="16203168" cy="478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CREATE TABLE racuni (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id SERIAL PRIMARY KEY,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vlasnik VARCHAR(100) NOT NULL,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stanje NUMERIC(12,2) NOT NULL,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CONSTRAINT pozitivno_stanje CHECK (stanje &gt;= 0)  -- konzistentnost!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INSERT INTO racuni (vlasnik, stanje) VALUES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('Ana', 10000.00), ('Bojan', 5000.00), ('Carla', 2000.00);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8046720"/>
            <a:ext cx="5120640" cy="731520"/>
            <a:chOff x="0" y="0"/>
            <a:chExt cx="68275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Ana: 10.000 din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83680" y="8046720"/>
            <a:ext cx="5120640" cy="731520"/>
            <a:chOff x="0" y="0"/>
            <a:chExt cx="682752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Bojan: 5.000 din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52960" y="8046720"/>
            <a:ext cx="5120640" cy="731520"/>
            <a:chOff x="0" y="0"/>
            <a:chExt cx="682752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Carla: 2.000 din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1703" y="7942583"/>
            <a:ext cx="5146043" cy="116843"/>
            <a:chOff x="0" y="0"/>
            <a:chExt cx="6861391" cy="155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61429" cy="155829"/>
            </a:xfrm>
            <a:custGeom>
              <a:avLst/>
              <a:gdLst/>
              <a:ahLst/>
              <a:cxnLst/>
              <a:rect r="r" b="b" t="t" l="l"/>
              <a:pathLst>
                <a:path h="1558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570983" y="7942583"/>
            <a:ext cx="5146043" cy="116843"/>
            <a:chOff x="0" y="0"/>
            <a:chExt cx="6861391" cy="1557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61429" cy="155829"/>
            </a:xfrm>
            <a:custGeom>
              <a:avLst/>
              <a:gdLst/>
              <a:ahLst/>
              <a:cxnLst/>
              <a:rect r="r" b="b" t="t" l="l"/>
              <a:pathLst>
                <a:path h="1558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0263" y="7942583"/>
            <a:ext cx="5146043" cy="116843"/>
            <a:chOff x="0" y="0"/>
            <a:chExt cx="6861391" cy="155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61429" cy="155829"/>
            </a:xfrm>
            <a:custGeom>
              <a:avLst/>
              <a:gdLst/>
              <a:ahLst/>
              <a:cxnLst/>
              <a:rect r="r" b="b" t="t" l="l"/>
              <a:pathLst>
                <a:path h="1558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1 — COMMIT i ROLLBACK (Atomičnost)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Scenarij: prenos 1.000 din od Ane ka Bojanu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470" y="2632710"/>
            <a:ext cx="8084820" cy="4610100"/>
            <a:chOff x="0" y="0"/>
            <a:chExt cx="10779760" cy="614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79760" cy="6146800"/>
            </a:xfrm>
            <a:custGeom>
              <a:avLst/>
              <a:gdLst/>
              <a:ahLst/>
              <a:cxnLst/>
              <a:rect r="r" b="b" t="t" l="l"/>
              <a:pathLst>
                <a:path h="614680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6146800"/>
                  </a:lnTo>
                  <a:lnTo>
                    <a:pt x="0" y="614680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2416" y="2796159"/>
            <a:ext cx="742492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- 1000 WHERE id = 1;  - Ana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+ 1000 WHERE id = 2;  - Bojan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SELECT id, vlasnik, stanje FROM racuni;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COMMIT;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Ana = 9.000, Bojan = 6.000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90710" y="2632710"/>
            <a:ext cx="8084820" cy="4610100"/>
            <a:chOff x="0" y="0"/>
            <a:chExt cx="10779760" cy="614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9760" cy="6146800"/>
            </a:xfrm>
            <a:custGeom>
              <a:avLst/>
              <a:gdLst/>
              <a:ahLst/>
              <a:cxnLst/>
              <a:rect r="r" b="b" t="t" l="l"/>
              <a:pathLst>
                <a:path h="614680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6146800"/>
                  </a:lnTo>
                  <a:lnTo>
                    <a:pt x="0" y="614680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20656" y="2796159"/>
            <a:ext cx="742492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- 5000 WHERE id = 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UPDATE racuni SET stanje = stanje + 5000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ROLLBACK;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stanja ostaju nepromenjena!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Ana = 9.000, Bojan = 6.000 (kao pre)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31520" y="2596896"/>
            <a:ext cx="8046720" cy="548640"/>
            <a:chOff x="0" y="0"/>
            <a:chExt cx="107289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5FD9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COMMIT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2596896"/>
            <a:ext cx="8046720" cy="548640"/>
            <a:chOff x="0" y="0"/>
            <a:chExt cx="1072896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28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70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ROLLBACK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167" y="7491727"/>
            <a:ext cx="16837657" cy="1292857"/>
            <a:chOff x="0" y="0"/>
            <a:chExt cx="22450209" cy="17238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50171" cy="1723771"/>
            </a:xfrm>
            <a:custGeom>
              <a:avLst/>
              <a:gdLst/>
              <a:ahLst/>
              <a:cxnLst/>
              <a:rect r="r" b="b" t="t" l="l"/>
              <a:pathLst>
                <a:path h="172377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723771"/>
                  </a:lnTo>
                  <a:lnTo>
                    <a:pt x="0" y="1723771"/>
                  </a:lnTo>
                  <a:close/>
                </a:path>
              </a:pathLst>
            </a:custGeom>
            <a:solidFill>
              <a:srgbClr val="0A2030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7498080"/>
            <a:ext cx="16093440" cy="1280160"/>
            <a:chOff x="0" y="0"/>
            <a:chExt cx="21457920" cy="1706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145792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9B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Ključna poruka: transakcija koja nije potvrđena ne ostavlja nikakav trag u bazi podataka.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2 — Dirty Read (Izolacija)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Tab 1 menja podatak ali NE potvrđuje. Tab 2 pokušava da čita.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596896"/>
            <a:ext cx="8046720" cy="512064"/>
            <a:chOff x="0" y="0"/>
            <a:chExt cx="1072896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 1 — Sesija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470" y="3126486"/>
            <a:ext cx="8084820" cy="3329940"/>
            <a:chOff x="0" y="0"/>
            <a:chExt cx="10779760" cy="4439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9760" cy="4439920"/>
            </a:xfrm>
            <a:custGeom>
              <a:avLst/>
              <a:gdLst/>
              <a:ahLst/>
              <a:cxnLst/>
              <a:rect r="r" b="b" t="t" l="l"/>
              <a:pathLst>
                <a:path h="443992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4439920"/>
                  </a:lnTo>
                  <a:lnTo>
                    <a:pt x="0" y="44399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42416" y="3289935"/>
            <a:ext cx="742492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UPDATE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SET stanje = 99999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JOŠ NIJE COMMIT!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09760" y="2596896"/>
            <a:ext cx="8046720" cy="512064"/>
            <a:chOff x="0" y="0"/>
            <a:chExt cx="10728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 2 — Sesija 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90710" y="3126486"/>
            <a:ext cx="8084820" cy="3329940"/>
            <a:chOff x="0" y="0"/>
            <a:chExt cx="10779760" cy="4439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79760" cy="4439920"/>
            </a:xfrm>
            <a:custGeom>
              <a:avLst/>
              <a:gdLst/>
              <a:ahLst/>
              <a:cxnLst/>
              <a:rect r="r" b="b" t="t" l="l"/>
              <a:pathLst>
                <a:path h="443992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4439920"/>
                  </a:lnTo>
                  <a:lnTo>
                    <a:pt x="0" y="44399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20656" y="3289935"/>
            <a:ext cx="742492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id, vlasnik, stanje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racuni WHERE id = 1;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Ana | 9.000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(staro, potvrđeno stanje!)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25167" y="6668767"/>
            <a:ext cx="16837657" cy="2024377"/>
            <a:chOff x="0" y="0"/>
            <a:chExt cx="22450209" cy="26991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5017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0A2030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6675120"/>
            <a:ext cx="16093440" cy="2011680"/>
            <a:chOff x="0" y="0"/>
            <a:chExt cx="21457920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57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4579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Zaključak: </a:t>
              </a: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na nivou Read Committed (podrazumevanom) NIKADA ne dozvoljava čitanje nepotvrđenih podataka. Čak ni na Read Uncommitted nivou — PostgreSQL ga tretira identično kao Read Committed.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3 — Non-Repeatable Read vs Repeatable Read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8823" y="1907543"/>
            <a:ext cx="354587" cy="7340603"/>
            <a:chOff x="0" y="0"/>
            <a:chExt cx="472783" cy="9787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2821" cy="9787509"/>
            </a:xfrm>
            <a:custGeom>
              <a:avLst/>
              <a:gdLst/>
              <a:ahLst/>
              <a:cxnLst/>
              <a:rect r="r" b="b" t="t" l="l"/>
              <a:pathLst>
                <a:path h="9787509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9787509"/>
                  </a:lnTo>
                  <a:lnTo>
                    <a:pt x="0" y="9787509"/>
                  </a:lnTo>
                  <a:close/>
                </a:path>
              </a:pathLst>
            </a:custGeom>
            <a:solidFill>
              <a:srgbClr val="C0392B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1920240"/>
            <a:ext cx="7498080" cy="548640"/>
            <a:chOff x="0" y="0"/>
            <a:chExt cx="999744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70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 Committed — fenomen moguć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9670" y="2541270"/>
            <a:ext cx="7536180" cy="6713220"/>
            <a:chOff x="0" y="0"/>
            <a:chExt cx="10048240" cy="8950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8240" cy="8950960"/>
            </a:xfrm>
            <a:custGeom>
              <a:avLst/>
              <a:gdLst/>
              <a:ahLst/>
              <a:cxnLst/>
              <a:rect r="r" b="b" t="t" l="l"/>
              <a:pathLst>
                <a:path h="8950960" w="10048240">
                  <a:moveTo>
                    <a:pt x="0" y="0"/>
                  </a:moveTo>
                  <a:lnTo>
                    <a:pt x="10048240" y="0"/>
                  </a:lnTo>
                  <a:lnTo>
                    <a:pt x="10048240" y="8950960"/>
                  </a:lnTo>
                  <a:lnTo>
                    <a:pt x="0" y="895096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99616" y="2704719"/>
            <a:ext cx="6876288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1 (Read Committed)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stanje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6.000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2: UPDATE stanje=7000; COMMIT;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stanje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7.000 ← RAZLIČITO!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4183" y="1907543"/>
            <a:ext cx="354587" cy="7340603"/>
            <a:chOff x="0" y="0"/>
            <a:chExt cx="472783" cy="9787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821" cy="9787509"/>
            </a:xfrm>
            <a:custGeom>
              <a:avLst/>
              <a:gdLst/>
              <a:ahLst/>
              <a:cxnLst/>
              <a:rect r="r" b="b" t="t" l="l"/>
              <a:pathLst>
                <a:path h="9787509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9787509"/>
                  </a:lnTo>
                  <a:lnTo>
                    <a:pt x="0" y="9787509"/>
                  </a:lnTo>
                  <a:close/>
                </a:path>
              </a:pathLst>
            </a:custGeom>
            <a:solidFill>
              <a:srgbClr val="0A7A50"/>
            </a:solidFill>
            <a:ln w="25400" cap="sq">
              <a:solidFill>
                <a:srgbClr val="0A7A5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784080" y="1920240"/>
            <a:ext cx="7680960" cy="548640"/>
            <a:chOff x="0" y="0"/>
            <a:chExt cx="102412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FD9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Repeatable Read — zaštita aktivna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5030" y="2541270"/>
            <a:ext cx="7719060" cy="6713220"/>
            <a:chOff x="0" y="0"/>
            <a:chExt cx="10292080" cy="8950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92080" cy="8950960"/>
            </a:xfrm>
            <a:custGeom>
              <a:avLst/>
              <a:gdLst/>
              <a:ahLst/>
              <a:cxnLst/>
              <a:rect r="r" b="b" t="t" l="l"/>
              <a:pathLst>
                <a:path h="8950960" w="10292080">
                  <a:moveTo>
                    <a:pt x="0" y="0"/>
                  </a:moveTo>
                  <a:lnTo>
                    <a:pt x="10292080" y="0"/>
                  </a:lnTo>
                  <a:lnTo>
                    <a:pt x="10292080" y="8950960"/>
                  </a:lnTo>
                  <a:lnTo>
                    <a:pt x="0" y="895096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094976" y="2704719"/>
            <a:ext cx="7059168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1 (Repeatable Read)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 ISOLATION LEVEL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REPEATABLE READ;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stanje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5.000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2: UPDATE stanje=8000; COMMIT;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stanje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5.000 ← ISTO!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4 — Phantom Read i zaštita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Tab 1 broji redove; Tab 2 ubacuje novi; Tab 1 ponovo broji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596896"/>
            <a:ext cx="8046720" cy="512064"/>
            <a:chOff x="0" y="0"/>
            <a:chExt cx="1072896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70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 Committed — fantom se pojavljuje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470" y="3126486"/>
            <a:ext cx="8084820" cy="5158740"/>
            <a:chOff x="0" y="0"/>
            <a:chExt cx="10779760" cy="6878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9760" cy="6878320"/>
            </a:xfrm>
            <a:custGeom>
              <a:avLst/>
              <a:gdLst/>
              <a:ahLst/>
              <a:cxnLst/>
              <a:rect r="r" b="b" t="t" l="l"/>
              <a:pathLst>
                <a:path h="687832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6878320"/>
                  </a:lnTo>
                  <a:lnTo>
                    <a:pt x="0" y="68783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42416" y="3289935"/>
            <a:ext cx="7424928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COUNT(*) AS broj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artikli;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3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 ubacuje 'Tastatura'; COMMIT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COUNT(*) AS broj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artikli;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4 ← FANTOM!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09760" y="2596896"/>
            <a:ext cx="8046720" cy="512064"/>
            <a:chOff x="0" y="0"/>
            <a:chExt cx="10728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D9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Repeatable Read — PostgreSQL blokira fantom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90710" y="3126486"/>
            <a:ext cx="8084820" cy="5158740"/>
            <a:chOff x="0" y="0"/>
            <a:chExt cx="10779760" cy="6878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79760" cy="6878320"/>
            </a:xfrm>
            <a:custGeom>
              <a:avLst/>
              <a:gdLst/>
              <a:ahLst/>
              <a:cxnLst/>
              <a:rect r="r" b="b" t="t" l="l"/>
              <a:pathLst>
                <a:path h="687832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6878320"/>
                  </a:lnTo>
                  <a:lnTo>
                    <a:pt x="0" y="68783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20656" y="3289935"/>
            <a:ext cx="7424928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 ISOLATION LEVEL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REPEATABLE READ;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COUNT(*) AS broj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artikli;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3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 ubacuje 'Slušalice'; COMMIT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COUNT(*) AS broj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artikli;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Rezultat: 3 ← ZAŠTIĆENO!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25167" y="8497567"/>
            <a:ext cx="16837657" cy="1018537"/>
            <a:chOff x="0" y="0"/>
            <a:chExt cx="22450209" cy="13580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50171" cy="1358011"/>
            </a:xfrm>
            <a:custGeom>
              <a:avLst/>
              <a:gdLst/>
              <a:ahLst/>
              <a:cxnLst/>
              <a:rect r="r" b="b" t="t" l="l"/>
              <a:pathLst>
                <a:path h="135801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0A2030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8503920"/>
            <a:ext cx="16093440" cy="1005840"/>
            <a:chOff x="0" y="0"/>
            <a:chExt cx="214579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9B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je strožiji od SQL standarda — Repeatable Read sprečava i fantomska čitanja zahvaljujući MVCC arhitekturi.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5 — SELECT FOR UPDATE i NOWAIT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Tab 1 zaključava red; Tab 2 čeka ili odmah dobija grešku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596896"/>
            <a:ext cx="8046720" cy="512064"/>
            <a:chOff x="0" y="0"/>
            <a:chExt cx="1072896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UPDATE — čekanje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470" y="3126486"/>
            <a:ext cx="8084820" cy="5890260"/>
            <a:chOff x="0" y="0"/>
            <a:chExt cx="10779760" cy="7853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9760" cy="7853680"/>
            </a:xfrm>
            <a:custGeom>
              <a:avLst/>
              <a:gdLst/>
              <a:ahLst/>
              <a:cxnLst/>
              <a:rect r="r" b="b" t="t" l="l"/>
              <a:pathLst>
                <a:path h="785368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7853680"/>
                  </a:lnTo>
                  <a:lnTo>
                    <a:pt x="0" y="785368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42416" y="3289935"/>
            <a:ext cx="7424928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1: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*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1 FOR UPDATE;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Red je zaključan!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 čeka...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UPDATE racuni SET stanje = stanje - 100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Waiting for the query to complete...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(čekao 54 sekunde!)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09760" y="2596896"/>
            <a:ext cx="8046720" cy="512064"/>
            <a:chOff x="0" y="0"/>
            <a:chExt cx="10728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UPDATE NOWAIT — odmah greška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90710" y="3126486"/>
            <a:ext cx="8084820" cy="5890260"/>
            <a:chOff x="0" y="0"/>
            <a:chExt cx="10779760" cy="7853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79760" cy="7853680"/>
            </a:xfrm>
            <a:custGeom>
              <a:avLst/>
              <a:gdLst/>
              <a:ahLst/>
              <a:cxnLst/>
              <a:rect r="r" b="b" t="t" l="l"/>
              <a:pathLst>
                <a:path h="785368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7853680"/>
                  </a:lnTo>
                  <a:lnTo>
                    <a:pt x="0" y="785368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20656" y="3289935"/>
            <a:ext cx="7424928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2 (dok Tab 1 drži lock):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 * FROM racuni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WHERE id = 1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FOR UPDATE NOWAIT;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ERROR: could not obtain lock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on row in relation "racuni"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SQL state: 55P03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Aplikacija reaguje odmah!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25167" y="9137647"/>
            <a:ext cx="16837657" cy="561337"/>
            <a:chOff x="0" y="0"/>
            <a:chExt cx="2245020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50171" cy="748411"/>
            </a:xfrm>
            <a:custGeom>
              <a:avLst/>
              <a:gdLst/>
              <a:ahLst/>
              <a:cxnLst/>
              <a:rect r="r" b="b" t="t" l="l"/>
              <a:pathLst>
                <a:path h="74841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0A2030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9144000"/>
            <a:ext cx="16093440" cy="548640"/>
            <a:chOff x="0" y="0"/>
            <a:chExt cx="214579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9B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Koristi NOWAIT kada aplikacija ne može da čeka i mora odmah da reaguje na nedostupnost resursa.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6 — Deadlock detekcija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2470" y="1956054"/>
            <a:ext cx="16863060" cy="5158740"/>
            <a:chOff x="0" y="0"/>
            <a:chExt cx="22484080" cy="6878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840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22484080">
                  <a:moveTo>
                    <a:pt x="0" y="0"/>
                  </a:moveTo>
                  <a:lnTo>
                    <a:pt x="22484080" y="0"/>
                  </a:lnTo>
                  <a:lnTo>
                    <a:pt x="22484080" y="6878320"/>
                  </a:lnTo>
                  <a:lnTo>
                    <a:pt x="0" y="687832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2416" y="2119503"/>
            <a:ext cx="16203168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Tab 1:                            - Tab 2 (paralelno):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BEGIN;                               BEGIN;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UPDATE racuni SET stanje =           UPDATE racuni SET stanje =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stanje - 100 WHERE id = 1;          stanje - 100 WHERE id = 2;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zaključava red 1 ✓                - zaključava red 2 ✓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UPDATE racuni SET stanje =           UPDATE racuni SET stanje =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stanje + 100 WHERE id = 2;          stanje + 100 WHERE id = 1;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- čeka na red 2...                   - čeka na red 1...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- DEADLOCK!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8823" y="7302503"/>
            <a:ext cx="16850363" cy="1854203"/>
            <a:chOff x="0" y="0"/>
            <a:chExt cx="22467151" cy="2472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67188" cy="2472309"/>
            </a:xfrm>
            <a:custGeom>
              <a:avLst/>
              <a:gdLst/>
              <a:ahLst/>
              <a:cxnLst/>
              <a:rect r="r" b="b" t="t" l="l"/>
              <a:pathLst>
                <a:path h="2472309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1A0A0A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7315200"/>
            <a:ext cx="16093440" cy="1828800"/>
            <a:chOff x="0" y="0"/>
            <a:chExt cx="2145792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45792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707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ERROR: deadlock detected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onsolas"/>
                  <a:ea typeface="Consolas"/>
                  <a:cs typeface="Consolas"/>
                  <a:sym typeface="Consolas"/>
                </a:rPr>
                <a:t>Process 13180 waits for ShareLock on transaction 830; blocked by process 21960.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F4F8"/>
                  </a:solidFill>
                  <a:latin typeface="Consolas"/>
                  <a:ea typeface="Consolas"/>
                  <a:cs typeface="Consolas"/>
                  <a:sym typeface="Consolas"/>
                </a:rPr>
                <a:t>Process 21960 waits for ShareLock on transaction 831; blocked by process 13180.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9326880"/>
            <a:ext cx="16824960" cy="548640"/>
            <a:chOff x="0" y="0"/>
            <a:chExt cx="224332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PostgreSQL automatski detektuje deadlock i poništava jednu od transakcija. Rešenje: uvek pristupati resursima u istom redosledu.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Primer 7 — Dijagnostika blokiranih transakcija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Alat za praćenje blokiranih transakcija u realnom vremenu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470" y="2632710"/>
            <a:ext cx="16863060" cy="4610100"/>
            <a:chOff x="0" y="0"/>
            <a:chExt cx="22484080" cy="614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84080" cy="6146800"/>
            </a:xfrm>
            <a:custGeom>
              <a:avLst/>
              <a:gdLst/>
              <a:ahLst/>
              <a:cxnLst/>
              <a:rect r="r" b="b" t="t" l="l"/>
              <a:pathLst>
                <a:path h="6146800" w="22484080">
                  <a:moveTo>
                    <a:pt x="0" y="0"/>
                  </a:moveTo>
                  <a:lnTo>
                    <a:pt x="22484080" y="0"/>
                  </a:lnTo>
                  <a:lnTo>
                    <a:pt x="22484080" y="6146800"/>
                  </a:lnTo>
                  <a:lnTo>
                    <a:pt x="0" y="6146800"/>
                  </a:lnTo>
                  <a:close/>
                </a:path>
              </a:pathLst>
            </a:custGeom>
            <a:solidFill>
              <a:srgbClr val="1A2535"/>
            </a:solidFill>
            <a:ln w="38100" cap="sq">
              <a:solidFill>
                <a:srgbClr val="0F717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2416" y="2796159"/>
            <a:ext cx="16203168" cy="423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blocked.pid          AS blokirani_pid,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blocking.pid         AS blokator_pid,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blocked.query        AS blokirani_upit,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blocking.query       AS blokator_upit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FROM pg_stat_activity blocked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JOIN pg_stat_activity blocking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  ON blocking.pid = ANY(pg_blocking_pids(blocked.pid))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7FDBCA"/>
                </a:solidFill>
                <a:latin typeface="Consolas"/>
                <a:ea typeface="Consolas"/>
                <a:cs typeface="Consolas"/>
                <a:sym typeface="Consolas"/>
              </a:rPr>
              <a:t>WHERE blocked.wait_event_type = 'Lock';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31520" y="7498080"/>
          <a:ext cx="16764000" cy="1625600"/>
        </p:xfrm>
        <a:graphic>
          <a:graphicData uri="http://schemas.openxmlformats.org/drawingml/2006/table">
            <a:tbl>
              <a:tblPr/>
              <a:tblGrid>
                <a:gridCol w="5588000"/>
                <a:gridCol w="5588000"/>
                <a:gridCol w="5588000"/>
              </a:tblGrid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blokirani_pid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blokator_pid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blokirani_upit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0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13180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0F4F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21960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A9B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BEGIN;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A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731520" y="9363456"/>
            <a:ext cx="16824960" cy="512064"/>
            <a:chOff x="0" y="0"/>
            <a:chExt cx="22433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433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Administrator odmah vidi koji proces blokira koji — i može prekinuti problematičnu transakciju.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Zaključak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25167" y="2005327"/>
            <a:ext cx="16837657" cy="1658617"/>
            <a:chOff x="0" y="0"/>
            <a:chExt cx="22450209" cy="22114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0171" cy="2211451"/>
            </a:xfrm>
            <a:custGeom>
              <a:avLst/>
              <a:gdLst/>
              <a:ahLst/>
              <a:cxnLst/>
              <a:rect r="r" b="b" t="t" l="l"/>
              <a:pathLst>
                <a:path h="221145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0A1A2A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011680"/>
            <a:ext cx="914400" cy="1645920"/>
            <a:chOff x="0" y="0"/>
            <a:chExt cx="12192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192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11680" y="2194560"/>
            <a:ext cx="15179040" cy="512064"/>
            <a:chOff x="0" y="0"/>
            <a:chExt cx="2023872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3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592" r="0" b="-5275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2387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ACID garantuje pouzdanost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11680" y="2779776"/>
            <a:ext cx="15179040" cy="731520"/>
            <a:chOff x="0" y="0"/>
            <a:chExt cx="2023872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3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38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Atomičnost, konzistentnost, izolacija i trajnost su temelj svake transakcione baze podataka.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5167" y="3925567"/>
            <a:ext cx="16837657" cy="1658617"/>
            <a:chOff x="0" y="0"/>
            <a:chExt cx="22450209" cy="22114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50171" cy="2211451"/>
            </a:xfrm>
            <a:custGeom>
              <a:avLst/>
              <a:gdLst/>
              <a:ahLst/>
              <a:cxnLst/>
              <a:rect r="r" b="b" t="t" l="l"/>
              <a:pathLst>
                <a:path h="221145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0A1A2A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3931920"/>
            <a:ext cx="914400" cy="1645920"/>
            <a:chOff x="0" y="0"/>
            <a:chExt cx="1219200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2192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4114800"/>
            <a:ext cx="15179040" cy="512064"/>
            <a:chOff x="0" y="0"/>
            <a:chExt cx="202387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3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592" r="0" b="-5275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02387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MVCC = konkurentnost bez blokiranja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11680" y="4700016"/>
            <a:ext cx="15179040" cy="731520"/>
            <a:chOff x="0" y="0"/>
            <a:chExt cx="2023872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23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238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Čitanje i pisanje mogu se odvijati istovremeno zahvaljujući višestrukim verzijama redova.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5167" y="5845807"/>
            <a:ext cx="16837657" cy="1658617"/>
            <a:chOff x="0" y="0"/>
            <a:chExt cx="22450209" cy="22114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450171" cy="2211451"/>
            </a:xfrm>
            <a:custGeom>
              <a:avLst/>
              <a:gdLst/>
              <a:ahLst/>
              <a:cxnLst/>
              <a:rect r="r" b="b" t="t" l="l"/>
              <a:pathLst>
                <a:path h="221145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0A1A2A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05840" y="5852160"/>
            <a:ext cx="914400" cy="1645920"/>
            <a:chOff x="0" y="0"/>
            <a:chExt cx="1219200" cy="2194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2192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11680" y="6035040"/>
            <a:ext cx="15179040" cy="512064"/>
            <a:chOff x="0" y="0"/>
            <a:chExt cx="2023872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23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592" r="0" b="-5275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02387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je strožiji od standarda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11680" y="6620256"/>
            <a:ext cx="15179040" cy="731520"/>
            <a:chOff x="0" y="0"/>
            <a:chExt cx="2023872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23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238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Repeatable Read sprečava i fantomska čitanja — bolje od minimalnih zahteva SQL standarda.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5167" y="7766047"/>
            <a:ext cx="16837657" cy="1658617"/>
            <a:chOff x="0" y="0"/>
            <a:chExt cx="22450209" cy="22114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450171" cy="2211451"/>
            </a:xfrm>
            <a:custGeom>
              <a:avLst/>
              <a:gdLst/>
              <a:ahLst/>
              <a:cxnLst/>
              <a:rect r="r" b="b" t="t" l="l"/>
              <a:pathLst>
                <a:path h="221145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0A1A2A"/>
            </a:solidFill>
            <a:ln w="127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5840" y="7772400"/>
            <a:ext cx="914400" cy="1645920"/>
            <a:chOff x="0" y="0"/>
            <a:chExt cx="121920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2192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F71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11680" y="7955280"/>
            <a:ext cx="15179040" cy="512064"/>
            <a:chOff x="0" y="0"/>
            <a:chExt cx="2023872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23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592" r="0" b="-52759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202387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9B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Izbor nivoa izolacije je kompromis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11680" y="8540496"/>
            <a:ext cx="15179040" cy="731520"/>
            <a:chOff x="0" y="0"/>
            <a:chExt cx="2023872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23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0238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Committed za OLTP, Repeatable Read za izveštaje, Serializable za kritične transakcije.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1520" y="9326880"/>
            <a:ext cx="16824960" cy="643533"/>
            <a:chOff x="0" y="0"/>
            <a:chExt cx="22433280" cy="8580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33280" cy="858044"/>
            </a:xfrm>
            <a:custGeom>
              <a:avLst/>
              <a:gdLst/>
              <a:ahLst/>
              <a:cxnLst/>
              <a:rect r="r" b="b" t="t" l="l"/>
              <a:pathLst>
                <a:path h="85804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8044"/>
                  </a:lnTo>
                  <a:lnTo>
                    <a:pt x="0" y="858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98" r="0" b="-45916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2433280" cy="915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36136" y="3724685"/>
            <a:ext cx="11628325" cy="2420392"/>
            <a:chOff x="0" y="0"/>
            <a:chExt cx="15504433" cy="3227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04433" cy="3227189"/>
            </a:xfrm>
            <a:custGeom>
              <a:avLst/>
              <a:gdLst/>
              <a:ahLst/>
              <a:cxnLst/>
              <a:rect r="r" b="b" t="t" l="l"/>
              <a:pathLst>
                <a:path h="3227189" w="15504433">
                  <a:moveTo>
                    <a:pt x="0" y="0"/>
                  </a:moveTo>
                  <a:lnTo>
                    <a:pt x="15504433" y="0"/>
                  </a:lnTo>
                  <a:lnTo>
                    <a:pt x="15504433" y="3227189"/>
                  </a:lnTo>
                  <a:lnTo>
                    <a:pt x="0" y="32271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057" r="-41544" b="-589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47650"/>
              <a:ext cx="15504433" cy="347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Hv</a:t>
              </a:r>
              <a:r>
                <a:rPr lang="en-US" sz="1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 na pažnji!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F7173"/>
            </a:solidFill>
            <a:ln w="25400" cap="sq">
              <a:solidFill>
                <a:srgbClr val="0F717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9326880"/>
            <a:ext cx="16824960" cy="643533"/>
            <a:chOff x="0" y="0"/>
            <a:chExt cx="22433280" cy="858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858044"/>
            </a:xfrm>
            <a:custGeom>
              <a:avLst/>
              <a:gdLst/>
              <a:ahLst/>
              <a:cxnLst/>
              <a:rect r="r" b="b" t="t" l="l"/>
              <a:pathLst>
                <a:path h="85804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8044"/>
                  </a:lnTo>
                  <a:lnTo>
                    <a:pt x="0" y="858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98" r="0" b="-4591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433280" cy="915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DAHL6KhuwgI</dc:identifier>
  <dcterms:modified xsi:type="dcterms:W3CDTF">2011-08-01T06:04:30Z</dcterms:modified>
  <cp:revision>1</cp:revision>
  <dc:title>Prezentacija_ACID_PostgreSQL.pptx</dc:title>
</cp:coreProperties>
</file>